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פתיחה מוצעת: ביקשתם כלי שיעזור לילדים שחוו פגיעה חברתית. בלב FeelIt נמצאים ילדים שפועלים זה כלפי זה: משתתפים בשאלות, שולחים מחוות ומקבלים אכפתיות מילדים אחרים. הביטוי הרגשי והצמח האישי מחברים את הילד לחוויה החברתית הזו. מרחב חברתי מוגן הוא יעד התכנון; אין זו הבטחה להיעדר סיכון. זו הצעת מוצר, והמוקאפים אינם עדות למוצר פעיל או ליעילות מוכחת. תזמון מוצע לכל המצגת: 28 דקות הצגה ועוד עד 10 דקות דיון.</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הדגישו את הפעולה בין שני צדדים: ילד בוחר שאלה מתוך תוכן מאושר וילדים אחרים מצביעים; ילד שולח מחווה וילד אחר מקבל אותה. זהו הערך החברתי המרכזי. התבניות והבקרה מגדירות איך האינטראקציה מתרחשת. אין כאן הבטחה לחברויות מתמשכות, קשר אישי מזוהה או מענה של עמית לכל פעולה. אישור מהמערכת ומחווה מילד אחר חייבים להיות מובחנים. הפירות הם פריטים דיגיטליים ייחודיים; כללי הצמיחה והחלוקה עדיין לדיון.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זהו מבט על ארבעת תחומי המוצר, ולא רצף של שלבי פתיחה. הפרופיל מבוסס הצמח נותן מקום אישי והמשכיות; הצ׳ק־אין מאפשר שיתוף רגשות יומי; הסקרים והמחוות מאפשרים בניית קהילה ואינטראקציה בטוחה; שיתוף האירועים האנונימי מאפשר לספר ולקבל תמיכה. חיבוקים ומתנות זמינים בכמה מסכים. שיתוף סיפורים ותגובות כפוף למעטפת התוכן והבקרה שתוגדר עם העמותה.</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חמשת המחוונים מופיעים במקור. אין להציגם כשאלון מתוקף. במיוחד יש לדייק את קוטבי מחוון הגוף ולבחון התאמה לרמת הקריאה.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זהו הפער המהותי במודל הנוכחי: הצעת סוף לסיפור של ילד עלולה להיות טקסט שמכוון אליו. ההצעה למצגת שומרת על הרעיון אך מציגה מסלול מוגבל כהמלצה בלבד. אפשר להציע לבחון את שם המסך, למשל מקום לתקווה.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כפתורי הדיווח מוצגים בכל סקר ובכל סיפור ותגובה. נדרש אותו מנגנון בכל משטח עתידי עם תוכן משתמשים. הגנת זהות המדווח היא דרישת מוצר שיש לממש. אישור קבלה אינו אישור שהתוכן הוסר או שהאירוע טופל.</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מספרים נבדקו ב-1 באוקטובר 2026: 100 משטרה, 105 הגנה על ילדים ברשת, 118 מוקד הרווחה, 1201 ער״ן. מקורות: https://www.gov.il/he/Departments/Units/105_call_center ; https://www.gov.il/he/pages/molsa-domestic-violence-protection?chapterIndex=1 ; https://www.eran.org.il/services/ . אין בכך הצהרה על שותפות עם המוקדים. כפתור העזרה מופיע בכל ששת מסכי התוכן ובגרסאות ההערות המעודכנות.</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מקורות: https://github.com/zalmen/backendFeelIt/blob/main/README.md</a:t>
            </a:r>
          </a:p>
          <a:p>
            <a:r>
              <a:t>https://github.com/zalmen/backendFeelIt/blob/main/OPEN-QUESTIONS.md</a:t>
            </a:r>
          </a:p>
          <a:p>
            <a:r>
              <a:t>https://github.com/zalmen/backendFeelIt/tree/main/mocks</a:t>
            </a:r>
          </a:p>
          <a:p>
            <a:r>
              <a:t>Base source revision: cf70ef5ca8a0a93ba9dc3c976acc5fee96f07dee</a:t>
            </a:r>
          </a:p>
          <a:p>
            <a:r>
              <a:t>עדכון מוצר: מסך ״אתה לא לבד״ הוא מסך סיום הצ׳ק־אין, ללא כפתור ״המשך״ וללא מעבר אוטומטי. המוקאפ ותיאור הזרימה עודכנו בהתאם להחלטה זו.</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ounded Rectangle 1"/>
          <p:cNvSpPr/>
          <p:nvPr/>
        </p:nvSpPr>
        <p:spPr>
          <a:xfrm>
            <a:off x="11567160" y="472440"/>
            <a:ext cx="76200" cy="350520"/>
          </a:xfrm>
          <a:prstGeom prst="roundRect">
            <a:avLst>
              <a:gd name="adj" fmla="val 12000"/>
            </a:avLst>
          </a:prstGeom>
          <a:solidFill>
            <a:srgbClr val="765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62600" y="502920"/>
            <a:ext cx="5753100" cy="274320"/>
          </a:xfrm>
          <a:prstGeom prst="rect">
            <a:avLst/>
          </a:prstGeom>
          <a:noFill/>
        </p:spPr>
        <p:txBody>
          <a:bodyPr wrap="square" lIns="0" rIns="0" tIns="0" bIns="0">
            <a:spAutoFit/>
          </a:bodyPr>
          <a:lstStyle/>
          <a:p>
            <a:pPr algn="r" rtl="1">
              <a:lnSpc>
                <a:spcPct val="118000"/>
              </a:lnSpc>
              <a:spcAft>
                <a:spcPts val="500"/>
              </a:spcAft>
            </a:pPr>
            <a:r>
              <a:rPr sz="1439" b="1" lang="he-IL">
                <a:solidFill>
                  <a:srgbClr val="167E76"/>
                </a:solidFill>
                <a:latin typeface="Arial"/>
              </a:rPr>
              <a:t>חזון המוצר</a:t>
            </a:r>
          </a:p>
        </p:txBody>
      </p:sp>
      <p:sp>
        <p:nvSpPr>
          <p:cNvPr id="4" name="TextBox 3"/>
          <p:cNvSpPr txBox="1"/>
          <p:nvPr/>
        </p:nvSpPr>
        <p:spPr>
          <a:xfrm>
            <a:off x="548640" y="472440"/>
            <a:ext cx="1524000" cy="342900"/>
          </a:xfrm>
          <a:prstGeom prst="rect">
            <a:avLst/>
          </a:prstGeom>
          <a:noFill/>
        </p:spPr>
        <p:txBody>
          <a:bodyPr wrap="square" lIns="0" rIns="0" tIns="0" bIns="0">
            <a:spAutoFit/>
          </a:bodyPr>
          <a:lstStyle/>
          <a:p>
            <a:pPr algn="l" rtl="1">
              <a:lnSpc>
                <a:spcPct val="118000"/>
              </a:lnSpc>
              <a:spcAft>
                <a:spcPts val="500"/>
              </a:spcAft>
            </a:pPr>
            <a:r>
              <a:rPr sz="1920" b="1" lang="he-IL">
                <a:solidFill>
                  <a:srgbClr val="7650D5"/>
                </a:solidFill>
                <a:latin typeface="Arial"/>
              </a:rPr>
              <a:t>FeelIt</a:t>
            </a:r>
          </a:p>
        </p:txBody>
      </p:sp>
      <p:sp>
        <p:nvSpPr>
          <p:cNvPr id="5" name="TextBox 4"/>
          <p:cNvSpPr txBox="1"/>
          <p:nvPr/>
        </p:nvSpPr>
        <p:spPr>
          <a:xfrm>
            <a:off x="548640" y="1043940"/>
            <a:ext cx="11094720" cy="716280"/>
          </a:xfrm>
          <a:prstGeom prst="rect">
            <a:avLst/>
          </a:prstGeom>
          <a:noFill/>
        </p:spPr>
        <p:txBody>
          <a:bodyPr wrap="square" lIns="0" rIns="0" tIns="0" bIns="0">
            <a:spAutoFit/>
          </a:bodyPr>
          <a:lstStyle/>
          <a:p>
            <a:pPr algn="r" rtl="1">
              <a:lnSpc>
                <a:spcPct val="118000"/>
              </a:lnSpc>
              <a:spcAft>
                <a:spcPts val="500"/>
              </a:spcAft>
            </a:pPr>
            <a:r>
              <a:rPr sz="3660" b="1" lang="he-IL">
                <a:solidFill>
                  <a:srgbClr val="242139"/>
                </a:solidFill>
                <a:latin typeface="Arial"/>
              </a:rPr>
              <a:t>מקום להרגיש שייכים. מרחב להיות בו יחד.</a:t>
            </a:r>
          </a:p>
        </p:txBody>
      </p:sp>
      <p:sp>
        <p:nvSpPr>
          <p:cNvPr id="6" name="TextBox 5"/>
          <p:cNvSpPr txBox="1"/>
          <p:nvPr/>
        </p:nvSpPr>
        <p:spPr>
          <a:xfrm>
            <a:off x="609600" y="1844040"/>
            <a:ext cx="10972800" cy="647700"/>
          </a:xfrm>
          <a:prstGeom prst="rect">
            <a:avLst/>
          </a:prstGeom>
          <a:noFill/>
        </p:spPr>
        <p:txBody>
          <a:bodyPr wrap="square" lIns="0" rIns="0" tIns="0" bIns="0">
            <a:spAutoFit/>
          </a:bodyPr>
          <a:lstStyle/>
          <a:p>
            <a:pPr algn="r" rtl="1">
              <a:lnSpc>
                <a:spcPct val="118000"/>
              </a:lnSpc>
              <a:spcAft>
                <a:spcPts val="500"/>
              </a:spcAft>
            </a:pPr>
            <a:r>
              <a:rPr sz="1800" b="0" lang="he-IL">
                <a:solidFill>
                  <a:srgbClr val="6B6879"/>
                </a:solidFill>
                <a:latin typeface="Arial"/>
              </a:rPr>
              <a:t>מרחב חברתי מוגן לילדים שחוו בריונות ופגיעה חברתית</a:t>
            </a:r>
          </a:p>
        </p:txBody>
      </p:sp>
      <p:sp>
        <p:nvSpPr>
          <p:cNvPr id="7" name="Rectangle 6"/>
          <p:cNvSpPr/>
          <p:nvPr/>
        </p:nvSpPr>
        <p:spPr>
          <a:xfrm>
            <a:off x="548640" y="6332220"/>
            <a:ext cx="11094720" cy="15240"/>
          </a:xfrm>
          <a:prstGeom prst="rect">
            <a:avLst/>
          </a:prstGeom>
          <a:solidFill>
            <a:srgbClr val="E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15000" y="6492240"/>
            <a:ext cx="5905500" cy="198120"/>
          </a:xfrm>
          <a:prstGeom prst="rect">
            <a:avLst/>
          </a:prstGeom>
          <a:noFill/>
        </p:spPr>
        <p:txBody>
          <a:bodyPr wrap="square" lIns="0" rIns="0" tIns="0" bIns="0">
            <a:spAutoFit/>
          </a:bodyPr>
          <a:lstStyle/>
          <a:p>
            <a:pPr algn="r" rtl="1">
              <a:lnSpc>
                <a:spcPct val="118000"/>
              </a:lnSpc>
              <a:spcAft>
                <a:spcPts val="500"/>
              </a:spcAft>
            </a:pPr>
            <a:r>
              <a:rPr sz="1140" b="0" lang="he-IL">
                <a:solidFill>
                  <a:srgbClr val="6B6879"/>
                </a:solidFill>
                <a:latin typeface="Arial"/>
              </a:rPr>
              <a:t>הצעת מוצר לשיחה עם העמותה  ·  אוקטובר 2026</a:t>
            </a:r>
          </a:p>
        </p:txBody>
      </p:sp>
      <p:sp>
        <p:nvSpPr>
          <p:cNvPr id="9" name="TextBox 8"/>
          <p:cNvSpPr txBox="1"/>
          <p:nvPr/>
        </p:nvSpPr>
        <p:spPr>
          <a:xfrm>
            <a:off x="571500" y="6469380"/>
            <a:ext cx="571500" cy="228600"/>
          </a:xfrm>
          <a:prstGeom prst="rect">
            <a:avLst/>
          </a:prstGeom>
          <a:noFill/>
        </p:spPr>
        <p:txBody>
          <a:bodyPr wrap="square" lIns="0" rIns="0" tIns="0" bIns="0">
            <a:spAutoFit/>
          </a:bodyPr>
          <a:lstStyle/>
          <a:p>
            <a:pPr algn="l" rtl="1">
              <a:lnSpc>
                <a:spcPct val="118000"/>
              </a:lnSpc>
              <a:spcAft>
                <a:spcPts val="500"/>
              </a:spcAft>
            </a:pPr>
            <a:r>
              <a:rPr sz="1320" b="1" lang="he-IL">
                <a:solidFill>
                  <a:srgbClr val="7650D5"/>
                </a:solidFill>
                <a:latin typeface="Arial"/>
              </a:rPr>
              <a:t>01</a:t>
            </a:r>
          </a:p>
        </p:txBody>
      </p:sp>
      <p:sp>
        <p:nvSpPr>
          <p:cNvPr id="10" name="TextBox 9"/>
          <p:cNvSpPr txBox="1"/>
          <p:nvPr/>
        </p:nvSpPr>
        <p:spPr>
          <a:xfrm>
            <a:off x="5486400" y="2819400"/>
            <a:ext cx="5791200" cy="1790700"/>
          </a:xfrm>
          <a:prstGeom prst="rect">
            <a:avLst/>
          </a:prstGeom>
          <a:noFill/>
        </p:spPr>
        <p:txBody>
          <a:bodyPr wrap="square" lIns="0" rIns="0" tIns="0" bIns="0">
            <a:spAutoFit/>
          </a:bodyPr>
          <a:lstStyle/>
          <a:p>
            <a:pPr algn="r" rtl="1">
              <a:lnSpc>
                <a:spcPct val="118000"/>
              </a:lnSpc>
              <a:spcAft>
                <a:spcPts val="500"/>
              </a:spcAft>
            </a:pPr>
            <a:r>
              <a:rPr sz="3900" b="1" lang="he-IL">
                <a:solidFill>
                  <a:srgbClr val="242139"/>
                </a:solidFill>
                <a:latin typeface="Arial"/>
              </a:rPr>
              <a:t>להשתתף עם אחרים.</a:t>
            </a:r>
          </a:p>
          <a:p>
            <a:pPr algn="r" rtl="1">
              <a:lnSpc>
                <a:spcPct val="118000"/>
              </a:lnSpc>
              <a:spcAft>
                <a:spcPts val="500"/>
              </a:spcAft>
            </a:pPr>
            <a:r>
              <a:rPr sz="3900" b="1" lang="he-IL">
                <a:solidFill>
                  <a:srgbClr val="242139"/>
                </a:solidFill>
                <a:latin typeface="Arial"/>
              </a:rPr>
              <a:t>לתת ולקבל אכפתיות.</a:t>
            </a:r>
          </a:p>
          <a:p>
            <a:pPr algn="r" rtl="1">
              <a:lnSpc>
                <a:spcPct val="118000"/>
              </a:lnSpc>
              <a:spcAft>
                <a:spcPts val="500"/>
              </a:spcAft>
            </a:pPr>
            <a:r>
              <a:rPr sz="3900" b="1" lang="he-IL">
                <a:solidFill>
                  <a:srgbClr val="242139"/>
                </a:solidFill>
                <a:latin typeface="Arial"/>
              </a:rPr>
              <a:t>לצמוח בקצב שלי.</a:t>
            </a:r>
          </a:p>
        </p:txBody>
      </p:sp>
      <p:sp>
        <p:nvSpPr>
          <p:cNvPr id="11" name="Rounded Rectangle 10"/>
          <p:cNvSpPr/>
          <p:nvPr/>
        </p:nvSpPr>
        <p:spPr>
          <a:xfrm>
            <a:off x="876300" y="2667000"/>
            <a:ext cx="3695700" cy="2971800"/>
          </a:xfrm>
          <a:prstGeom prst="roundRect">
            <a:avLst>
              <a:gd name="adj" fmla="val 12000"/>
            </a:avLst>
          </a:prstGeom>
          <a:solidFill>
            <a:srgbClr val="EDE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19200" y="3086100"/>
            <a:ext cx="3009900" cy="838200"/>
          </a:xfrm>
          <a:prstGeom prst="rect">
            <a:avLst/>
          </a:prstGeom>
          <a:noFill/>
        </p:spPr>
        <p:txBody>
          <a:bodyPr wrap="square" lIns="0" rIns="0" tIns="0" bIns="0">
            <a:spAutoFit/>
          </a:bodyPr>
          <a:lstStyle/>
          <a:p>
            <a:pPr algn="ctr" rtl="1">
              <a:lnSpc>
                <a:spcPct val="118000"/>
              </a:lnSpc>
              <a:spcAft>
                <a:spcPts val="500"/>
              </a:spcAft>
            </a:pPr>
            <a:r>
              <a:rPr sz="5340" b="1" lang="he-IL">
                <a:solidFill>
                  <a:srgbClr val="7650D5"/>
                </a:solidFill>
                <a:latin typeface="Arial"/>
              </a:rPr>
              <a:t>FeelIt</a:t>
            </a:r>
          </a:p>
        </p:txBody>
      </p:sp>
      <p:sp>
        <p:nvSpPr>
          <p:cNvPr id="13" name="TextBox 12"/>
          <p:cNvSpPr txBox="1"/>
          <p:nvPr/>
        </p:nvSpPr>
        <p:spPr>
          <a:xfrm>
            <a:off x="1104900" y="4160520"/>
            <a:ext cx="3238500" cy="655320"/>
          </a:xfrm>
          <a:prstGeom prst="rect">
            <a:avLst/>
          </a:prstGeom>
          <a:noFill/>
        </p:spPr>
        <p:txBody>
          <a:bodyPr wrap="square" lIns="0" rIns="0" tIns="0" bIns="0">
            <a:spAutoFit/>
          </a:bodyPr>
          <a:lstStyle/>
          <a:p>
            <a:pPr algn="ctr" rtl="1">
              <a:lnSpc>
                <a:spcPct val="118000"/>
              </a:lnSpc>
              <a:spcAft>
                <a:spcPts val="500"/>
              </a:spcAft>
            </a:pPr>
            <a:r>
              <a:rPr sz="1800" b="1" lang="he-IL">
                <a:solidFill>
                  <a:srgbClr val="167E76"/>
                </a:solidFill>
                <a:latin typeface="Arial"/>
              </a:rPr>
              <a:t>מבטאים  ·  מתחברים  ·  צומחים</a:t>
            </a:r>
          </a:p>
        </p:txBody>
      </p:sp>
      <p:sp>
        <p:nvSpPr>
          <p:cNvPr id="14" name="TextBox 13"/>
          <p:cNvSpPr txBox="1"/>
          <p:nvPr/>
        </p:nvSpPr>
        <p:spPr>
          <a:xfrm>
            <a:off x="5600700" y="5212080"/>
            <a:ext cx="5676900" cy="685800"/>
          </a:xfrm>
          <a:prstGeom prst="rect">
            <a:avLst/>
          </a:prstGeom>
          <a:noFill/>
        </p:spPr>
        <p:txBody>
          <a:bodyPr wrap="square" lIns="0" rIns="0" tIns="0" bIns="0">
            <a:spAutoFit/>
          </a:bodyPr>
          <a:lstStyle/>
          <a:p>
            <a:pPr algn="r" rtl="1">
              <a:lnSpc>
                <a:spcPct val="118000"/>
              </a:lnSpc>
              <a:spcAft>
                <a:spcPts val="500"/>
              </a:spcAft>
            </a:pPr>
            <a:r>
              <a:rPr sz="1800" b="0" lang="he-IL">
                <a:solidFill>
                  <a:srgbClr val="6B6879"/>
                </a:solidFill>
                <a:latin typeface="Arial"/>
              </a:rPr>
              <a:t>חזון וחוויית מוצר</a:t>
            </a:r>
          </a:p>
          <a:p>
            <a:pPr algn="r" rtl="1">
              <a:lnSpc>
                <a:spcPct val="118000"/>
              </a:lnSpc>
              <a:spcAft>
                <a:spcPts val="500"/>
              </a:spcAft>
            </a:pPr>
            <a:r>
              <a:rPr sz="1800" b="0" lang="he-IL">
                <a:solidFill>
                  <a:srgbClr val="6B6879"/>
                </a:solidFill>
                <a:latin typeface="Arial"/>
              </a:rPr>
              <a:t>בסיס לתכנון משותף עם העמותה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ounded Rectangle 1"/>
          <p:cNvSpPr/>
          <p:nvPr/>
        </p:nvSpPr>
        <p:spPr>
          <a:xfrm>
            <a:off x="11567160" y="472440"/>
            <a:ext cx="76200" cy="350520"/>
          </a:xfrm>
          <a:prstGeom prst="roundRect">
            <a:avLst>
              <a:gd name="adj" fmla="val 12000"/>
            </a:avLst>
          </a:prstGeom>
          <a:solidFill>
            <a:srgbClr val="765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62600" y="502920"/>
            <a:ext cx="5753100" cy="274320"/>
          </a:xfrm>
          <a:prstGeom prst="rect">
            <a:avLst/>
          </a:prstGeom>
          <a:noFill/>
        </p:spPr>
        <p:txBody>
          <a:bodyPr wrap="square" lIns="0" rIns="0" tIns="0" bIns="0">
            <a:spAutoFit/>
          </a:bodyPr>
          <a:lstStyle/>
          <a:p>
            <a:pPr algn="r" rtl="1">
              <a:lnSpc>
                <a:spcPct val="118000"/>
              </a:lnSpc>
              <a:spcAft>
                <a:spcPts val="500"/>
              </a:spcAft>
            </a:pPr>
            <a:r>
              <a:rPr sz="1439" b="1" lang="he-IL">
                <a:solidFill>
                  <a:srgbClr val="167E76"/>
                </a:solidFill>
                <a:latin typeface="Arial"/>
              </a:rPr>
              <a:t>ההזדמנות</a:t>
            </a:r>
          </a:p>
        </p:txBody>
      </p:sp>
      <p:sp>
        <p:nvSpPr>
          <p:cNvPr id="4" name="TextBox 3"/>
          <p:cNvSpPr txBox="1"/>
          <p:nvPr/>
        </p:nvSpPr>
        <p:spPr>
          <a:xfrm>
            <a:off x="548640" y="472440"/>
            <a:ext cx="1524000" cy="342900"/>
          </a:xfrm>
          <a:prstGeom prst="rect">
            <a:avLst/>
          </a:prstGeom>
          <a:noFill/>
        </p:spPr>
        <p:txBody>
          <a:bodyPr wrap="square" lIns="0" rIns="0" tIns="0" bIns="0">
            <a:spAutoFit/>
          </a:bodyPr>
          <a:lstStyle/>
          <a:p>
            <a:pPr algn="l" rtl="1">
              <a:lnSpc>
                <a:spcPct val="118000"/>
              </a:lnSpc>
              <a:spcAft>
                <a:spcPts val="500"/>
              </a:spcAft>
            </a:pPr>
            <a:r>
              <a:rPr sz="1920" b="1" lang="he-IL">
                <a:solidFill>
                  <a:srgbClr val="7650D5"/>
                </a:solidFill>
                <a:latin typeface="Arial"/>
              </a:rPr>
              <a:t>FeelIt</a:t>
            </a:r>
          </a:p>
        </p:txBody>
      </p:sp>
      <p:sp>
        <p:nvSpPr>
          <p:cNvPr id="5" name="TextBox 4"/>
          <p:cNvSpPr txBox="1"/>
          <p:nvPr/>
        </p:nvSpPr>
        <p:spPr>
          <a:xfrm>
            <a:off x="548640" y="1043940"/>
            <a:ext cx="11094720" cy="1143000"/>
          </a:xfrm>
          <a:prstGeom prst="rect">
            <a:avLst/>
          </a:prstGeom>
          <a:noFill/>
        </p:spPr>
        <p:txBody>
          <a:bodyPr wrap="square" lIns="0" rIns="0" tIns="0" bIns="0">
            <a:spAutoFit/>
          </a:bodyPr>
          <a:lstStyle/>
          <a:p>
            <a:pPr algn="r" rtl="1">
              <a:lnSpc>
                <a:spcPct val="118000"/>
              </a:lnSpc>
              <a:spcAft>
                <a:spcPts val="500"/>
              </a:spcAft>
            </a:pPr>
            <a:r>
              <a:rPr sz="3240" b="1" lang="he-IL">
                <a:solidFill>
                  <a:srgbClr val="242139"/>
                </a:solidFill>
                <a:latin typeface="Arial"/>
              </a:rPr>
              <a:t>בעולם מאתגר, חיבור עם קהילה</a:t>
            </a:r>
          </a:p>
          <a:p>
            <a:pPr algn="r" rtl="1">
              <a:lnSpc>
                <a:spcPct val="118000"/>
              </a:lnSpc>
              <a:spcAft>
                <a:spcPts val="500"/>
              </a:spcAft>
            </a:pPr>
            <a:r>
              <a:rPr sz="3240" b="1" lang="he-IL">
                <a:solidFill>
                  <a:srgbClr val="242139"/>
                </a:solidFill>
                <a:latin typeface="Arial"/>
              </a:rPr>
              <a:t>דרך אפליקציה יכול להיות משמעותי</a:t>
            </a:r>
          </a:p>
        </p:txBody>
      </p:sp>
      <p:sp>
        <p:nvSpPr>
          <p:cNvPr id="6" name="Rectangle 5"/>
          <p:cNvSpPr/>
          <p:nvPr/>
        </p:nvSpPr>
        <p:spPr>
          <a:xfrm>
            <a:off x="548640" y="6332220"/>
            <a:ext cx="11094720" cy="15240"/>
          </a:xfrm>
          <a:prstGeom prst="rect">
            <a:avLst/>
          </a:prstGeom>
          <a:solidFill>
            <a:srgbClr val="E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15000" y="6492240"/>
            <a:ext cx="5905500" cy="198120"/>
          </a:xfrm>
          <a:prstGeom prst="rect">
            <a:avLst/>
          </a:prstGeom>
          <a:noFill/>
        </p:spPr>
        <p:txBody>
          <a:bodyPr wrap="square" lIns="0" rIns="0" tIns="0" bIns="0">
            <a:spAutoFit/>
          </a:bodyPr>
          <a:lstStyle/>
          <a:p>
            <a:pPr algn="r" rtl="1">
              <a:lnSpc>
                <a:spcPct val="118000"/>
              </a:lnSpc>
              <a:spcAft>
                <a:spcPts val="500"/>
              </a:spcAft>
            </a:pPr>
            <a:r>
              <a:rPr sz="1140" b="0" lang="he-IL">
                <a:solidFill>
                  <a:srgbClr val="6B6879"/>
                </a:solidFill>
                <a:latin typeface="Arial"/>
              </a:rPr>
              <a:t>הצעת מוצר לשיחה עם העמותה  ·  אוקטובר 2026</a:t>
            </a:r>
          </a:p>
        </p:txBody>
      </p:sp>
      <p:sp>
        <p:nvSpPr>
          <p:cNvPr id="8" name="TextBox 7"/>
          <p:cNvSpPr txBox="1"/>
          <p:nvPr/>
        </p:nvSpPr>
        <p:spPr>
          <a:xfrm>
            <a:off x="571500" y="6469380"/>
            <a:ext cx="571500" cy="228600"/>
          </a:xfrm>
          <a:prstGeom prst="rect">
            <a:avLst/>
          </a:prstGeom>
          <a:noFill/>
        </p:spPr>
        <p:txBody>
          <a:bodyPr wrap="square" lIns="0" rIns="0" tIns="0" bIns="0">
            <a:spAutoFit/>
          </a:bodyPr>
          <a:lstStyle/>
          <a:p>
            <a:pPr algn="l" rtl="1">
              <a:lnSpc>
                <a:spcPct val="118000"/>
              </a:lnSpc>
              <a:spcAft>
                <a:spcPts val="500"/>
              </a:spcAft>
            </a:pPr>
            <a:r>
              <a:rPr sz="1320" b="1" lang="he-IL">
                <a:solidFill>
                  <a:srgbClr val="7650D5"/>
                </a:solidFill>
                <a:latin typeface="Arial"/>
              </a:rPr>
              <a:t>02</a:t>
            </a:r>
          </a:p>
        </p:txBody>
      </p:sp>
      <p:sp>
        <p:nvSpPr>
          <p:cNvPr id="9" name="Rounded Rectangle 8"/>
          <p:cNvSpPr/>
          <p:nvPr/>
        </p:nvSpPr>
        <p:spPr>
          <a:xfrm>
            <a:off x="8077200" y="2667000"/>
            <a:ext cx="3505200" cy="2514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60080" y="2842260"/>
            <a:ext cx="3139440" cy="320040"/>
          </a:xfrm>
          <a:prstGeom prst="rect">
            <a:avLst/>
          </a:prstGeom>
          <a:noFill/>
        </p:spPr>
        <p:txBody>
          <a:bodyPr wrap="square" lIns="0" rIns="0" tIns="0" bIns="0">
            <a:spAutoFit/>
          </a:bodyPr>
          <a:lstStyle/>
          <a:p>
            <a:pPr algn="r" rtl="1">
              <a:lnSpc>
                <a:spcPct val="118000"/>
              </a:lnSpc>
              <a:spcAft>
                <a:spcPts val="500"/>
              </a:spcAft>
            </a:pPr>
            <a:r>
              <a:rPr sz="1739" b="1" lang="he-IL">
                <a:solidFill>
                  <a:srgbClr val="167E76"/>
                </a:solidFill>
                <a:latin typeface="Arial"/>
              </a:rPr>
              <a:t>01</a:t>
            </a:r>
          </a:p>
        </p:txBody>
      </p:sp>
      <p:sp>
        <p:nvSpPr>
          <p:cNvPr id="11" name="TextBox 10"/>
          <p:cNvSpPr txBox="1"/>
          <p:nvPr/>
        </p:nvSpPr>
        <p:spPr>
          <a:xfrm>
            <a:off x="8260080" y="3299460"/>
            <a:ext cx="3139440" cy="701040"/>
          </a:xfrm>
          <a:prstGeom prst="rect">
            <a:avLst/>
          </a:prstGeom>
          <a:noFill/>
        </p:spPr>
        <p:txBody>
          <a:bodyPr wrap="square" lIns="0" rIns="0" tIns="0" bIns="0">
            <a:spAutoFit/>
          </a:bodyPr>
          <a:lstStyle/>
          <a:p>
            <a:pPr algn="r" rtl="1">
              <a:lnSpc>
                <a:spcPct val="118000"/>
              </a:lnSpc>
              <a:spcAft>
                <a:spcPts val="500"/>
              </a:spcAft>
            </a:pPr>
            <a:r>
              <a:rPr sz="2220" b="1" lang="he-IL">
                <a:solidFill>
                  <a:srgbClr val="242139"/>
                </a:solidFill>
                <a:latin typeface="Arial"/>
              </a:rPr>
              <a:t>קשה להסביר</a:t>
            </a:r>
          </a:p>
        </p:txBody>
      </p:sp>
      <p:sp>
        <p:nvSpPr>
          <p:cNvPr id="12" name="TextBox 11"/>
          <p:cNvSpPr txBox="1"/>
          <p:nvPr/>
        </p:nvSpPr>
        <p:spPr>
          <a:xfrm>
            <a:off x="8260080" y="4099560"/>
            <a:ext cx="3139440" cy="990599"/>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ילד חוזר מבית הספר עם תחושה קשה, ולא תמיד מוצא את המילים.</a:t>
            </a:r>
          </a:p>
        </p:txBody>
      </p:sp>
      <p:sp>
        <p:nvSpPr>
          <p:cNvPr id="13" name="Rounded Rectangle 12"/>
          <p:cNvSpPr/>
          <p:nvPr/>
        </p:nvSpPr>
        <p:spPr>
          <a:xfrm>
            <a:off x="4343400" y="2667000"/>
            <a:ext cx="3505200" cy="2514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2842260"/>
            <a:ext cx="3139440" cy="320040"/>
          </a:xfrm>
          <a:prstGeom prst="rect">
            <a:avLst/>
          </a:prstGeom>
          <a:noFill/>
        </p:spPr>
        <p:txBody>
          <a:bodyPr wrap="square" lIns="0" rIns="0" tIns="0" bIns="0">
            <a:spAutoFit/>
          </a:bodyPr>
          <a:lstStyle/>
          <a:p>
            <a:pPr algn="r" rtl="1">
              <a:lnSpc>
                <a:spcPct val="118000"/>
              </a:lnSpc>
              <a:spcAft>
                <a:spcPts val="500"/>
              </a:spcAft>
            </a:pPr>
            <a:r>
              <a:rPr sz="1739" b="1" lang="he-IL">
                <a:solidFill>
                  <a:srgbClr val="167E76"/>
                </a:solidFill>
                <a:latin typeface="Arial"/>
              </a:rPr>
              <a:t>02</a:t>
            </a:r>
          </a:p>
        </p:txBody>
      </p:sp>
      <p:sp>
        <p:nvSpPr>
          <p:cNvPr id="15" name="TextBox 14"/>
          <p:cNvSpPr txBox="1"/>
          <p:nvPr/>
        </p:nvSpPr>
        <p:spPr>
          <a:xfrm>
            <a:off x="4526280" y="3299460"/>
            <a:ext cx="3139440" cy="701040"/>
          </a:xfrm>
          <a:prstGeom prst="rect">
            <a:avLst/>
          </a:prstGeom>
          <a:noFill/>
        </p:spPr>
        <p:txBody>
          <a:bodyPr wrap="square" lIns="0" rIns="0" tIns="0" bIns="0">
            <a:spAutoFit/>
          </a:bodyPr>
          <a:lstStyle/>
          <a:p>
            <a:pPr algn="r" rtl="1">
              <a:lnSpc>
                <a:spcPct val="118000"/>
              </a:lnSpc>
              <a:spcAft>
                <a:spcPts val="500"/>
              </a:spcAft>
            </a:pPr>
            <a:r>
              <a:rPr sz="2220" b="1" lang="he-IL">
                <a:solidFill>
                  <a:srgbClr val="242139"/>
                </a:solidFill>
                <a:latin typeface="Arial"/>
              </a:rPr>
              <a:t>רוצה מקום בין ילדים</a:t>
            </a:r>
          </a:p>
        </p:txBody>
      </p:sp>
      <p:sp>
        <p:nvSpPr>
          <p:cNvPr id="16" name="TextBox 15"/>
          <p:cNvSpPr txBox="1"/>
          <p:nvPr/>
        </p:nvSpPr>
        <p:spPr>
          <a:xfrm>
            <a:off x="4526280" y="4099560"/>
            <a:ext cx="3139440" cy="990599"/>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הוא רוצה להשתתף, להביע דעה ולפגוש ילדים עם תחושות ותחומי עניין משותפים.</a:t>
            </a:r>
          </a:p>
        </p:txBody>
      </p:sp>
      <p:sp>
        <p:nvSpPr>
          <p:cNvPr id="17" name="Rounded Rectangle 16"/>
          <p:cNvSpPr/>
          <p:nvPr/>
        </p:nvSpPr>
        <p:spPr>
          <a:xfrm>
            <a:off x="609600" y="2667000"/>
            <a:ext cx="3505200" cy="2514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2480" y="2842260"/>
            <a:ext cx="3139440" cy="320040"/>
          </a:xfrm>
          <a:prstGeom prst="rect">
            <a:avLst/>
          </a:prstGeom>
          <a:noFill/>
        </p:spPr>
        <p:txBody>
          <a:bodyPr wrap="square" lIns="0" rIns="0" tIns="0" bIns="0">
            <a:spAutoFit/>
          </a:bodyPr>
          <a:lstStyle/>
          <a:p>
            <a:pPr algn="r" rtl="1">
              <a:lnSpc>
                <a:spcPct val="118000"/>
              </a:lnSpc>
              <a:spcAft>
                <a:spcPts val="500"/>
              </a:spcAft>
            </a:pPr>
            <a:r>
              <a:rPr sz="1739" b="1" lang="he-IL">
                <a:solidFill>
                  <a:srgbClr val="167E76"/>
                </a:solidFill>
                <a:latin typeface="Arial"/>
              </a:rPr>
              <a:t>03</a:t>
            </a:r>
          </a:p>
        </p:txBody>
      </p:sp>
      <p:sp>
        <p:nvSpPr>
          <p:cNvPr id="19" name="TextBox 18"/>
          <p:cNvSpPr txBox="1"/>
          <p:nvPr/>
        </p:nvSpPr>
        <p:spPr>
          <a:xfrm>
            <a:off x="792480" y="3299460"/>
            <a:ext cx="3139440" cy="701040"/>
          </a:xfrm>
          <a:prstGeom prst="rect">
            <a:avLst/>
          </a:prstGeom>
          <a:noFill/>
        </p:spPr>
        <p:txBody>
          <a:bodyPr wrap="square" lIns="0" rIns="0" tIns="0" bIns="0">
            <a:spAutoFit/>
          </a:bodyPr>
          <a:lstStyle/>
          <a:p>
            <a:pPr algn="r" rtl="1">
              <a:lnSpc>
                <a:spcPct val="118000"/>
              </a:lnSpc>
              <a:spcAft>
                <a:spcPts val="500"/>
              </a:spcAft>
            </a:pPr>
            <a:r>
              <a:rPr sz="2220" b="1" lang="he-IL">
                <a:solidFill>
                  <a:srgbClr val="242139"/>
                </a:solidFill>
                <a:latin typeface="Arial"/>
              </a:rPr>
              <a:t>לתת וגם לקבל</a:t>
            </a:r>
          </a:p>
        </p:txBody>
      </p:sp>
      <p:sp>
        <p:nvSpPr>
          <p:cNvPr id="20" name="TextBox 19"/>
          <p:cNvSpPr txBox="1"/>
          <p:nvPr/>
        </p:nvSpPr>
        <p:spPr>
          <a:xfrm>
            <a:off x="792480" y="4099560"/>
            <a:ext cx="3139440" cy="990599"/>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השתתפות ותגובה לתוכן של ילדים אחרים מאפשרות לו להביע אכפתיות — וגם לקבל אותה.</a:t>
            </a:r>
          </a:p>
        </p:txBody>
      </p:sp>
      <p:sp>
        <p:nvSpPr>
          <p:cNvPr id="21" name="Rounded Rectangle 20"/>
          <p:cNvSpPr/>
          <p:nvPr/>
        </p:nvSpPr>
        <p:spPr>
          <a:xfrm>
            <a:off x="609600" y="5707380"/>
            <a:ext cx="10972800" cy="464820"/>
          </a:xfrm>
          <a:prstGeom prst="roundRect">
            <a:avLst>
              <a:gd name="adj" fmla="val 12000"/>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2480" y="5806440"/>
            <a:ext cx="10607040" cy="304800"/>
          </a:xfrm>
          <a:prstGeom prst="rect">
            <a:avLst/>
          </a:prstGeom>
          <a:noFill/>
        </p:spPr>
        <p:txBody>
          <a:bodyPr wrap="square" lIns="0" rIns="0" tIns="0" bIns="0">
            <a:spAutoFit/>
          </a:bodyPr>
          <a:lstStyle/>
          <a:p>
            <a:pPr algn="r" rtl="1">
              <a:lnSpc>
                <a:spcPct val="118000"/>
              </a:lnSpc>
              <a:spcAft>
                <a:spcPts val="500"/>
              </a:spcAft>
            </a:pPr>
            <a:r>
              <a:rPr sz="1620" b="1" lang="he-IL">
                <a:solidFill>
                  <a:srgbClr val="167E76"/>
                </a:solidFill>
                <a:latin typeface="Arial"/>
              </a:rPr>
              <a:t>ההזדמנות: לאפשר חוויות חברתיות חיוביות בין ילדים, עם גבולות שמגנים על ההשתתפות.</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ounded Rectangle 1"/>
          <p:cNvSpPr/>
          <p:nvPr/>
        </p:nvSpPr>
        <p:spPr>
          <a:xfrm>
            <a:off x="11567160" y="472440"/>
            <a:ext cx="76200" cy="350520"/>
          </a:xfrm>
          <a:prstGeom prst="roundRect">
            <a:avLst>
              <a:gd name="adj" fmla="val 12000"/>
            </a:avLst>
          </a:prstGeom>
          <a:solidFill>
            <a:srgbClr val="765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62600" y="502920"/>
            <a:ext cx="5753100" cy="274320"/>
          </a:xfrm>
          <a:prstGeom prst="rect">
            <a:avLst/>
          </a:prstGeom>
          <a:noFill/>
        </p:spPr>
        <p:txBody>
          <a:bodyPr wrap="square" lIns="0" rIns="0" tIns="0" bIns="0">
            <a:spAutoFit/>
          </a:bodyPr>
          <a:lstStyle/>
          <a:p>
            <a:pPr algn="r" rtl="1">
              <a:lnSpc>
                <a:spcPct val="118000"/>
              </a:lnSpc>
              <a:spcAft>
                <a:spcPts val="500"/>
              </a:spcAft>
            </a:pPr>
            <a:r>
              <a:rPr sz="1439" b="1" lang="he-IL">
                <a:solidFill>
                  <a:srgbClr val="167E76"/>
                </a:solidFill>
                <a:latin typeface="Arial"/>
              </a:rPr>
              <a:t>למי אנחנו מתכננים</a:t>
            </a:r>
          </a:p>
        </p:txBody>
      </p:sp>
      <p:sp>
        <p:nvSpPr>
          <p:cNvPr id="4" name="TextBox 3"/>
          <p:cNvSpPr txBox="1"/>
          <p:nvPr/>
        </p:nvSpPr>
        <p:spPr>
          <a:xfrm>
            <a:off x="548640" y="472440"/>
            <a:ext cx="1524000" cy="342900"/>
          </a:xfrm>
          <a:prstGeom prst="rect">
            <a:avLst/>
          </a:prstGeom>
          <a:noFill/>
        </p:spPr>
        <p:txBody>
          <a:bodyPr wrap="square" lIns="0" rIns="0" tIns="0" bIns="0">
            <a:spAutoFit/>
          </a:bodyPr>
          <a:lstStyle/>
          <a:p>
            <a:pPr algn="l" rtl="1">
              <a:lnSpc>
                <a:spcPct val="118000"/>
              </a:lnSpc>
              <a:spcAft>
                <a:spcPts val="500"/>
              </a:spcAft>
            </a:pPr>
            <a:r>
              <a:rPr sz="1920" b="1" lang="he-IL">
                <a:solidFill>
                  <a:srgbClr val="7650D5"/>
                </a:solidFill>
                <a:latin typeface="Arial"/>
              </a:rPr>
              <a:t>FeelIt</a:t>
            </a:r>
          </a:p>
        </p:txBody>
      </p:sp>
      <p:sp>
        <p:nvSpPr>
          <p:cNvPr id="5" name="TextBox 4"/>
          <p:cNvSpPr txBox="1"/>
          <p:nvPr/>
        </p:nvSpPr>
        <p:spPr>
          <a:xfrm>
            <a:off x="548640" y="1043940"/>
            <a:ext cx="11094720" cy="716280"/>
          </a:xfrm>
          <a:prstGeom prst="rect">
            <a:avLst/>
          </a:prstGeom>
          <a:noFill/>
        </p:spPr>
        <p:txBody>
          <a:bodyPr wrap="square" lIns="0" rIns="0" tIns="0" bIns="0">
            <a:spAutoFit/>
          </a:bodyPr>
          <a:lstStyle/>
          <a:p>
            <a:pPr algn="r" rtl="1">
              <a:lnSpc>
                <a:spcPct val="118000"/>
              </a:lnSpc>
              <a:spcAft>
                <a:spcPts val="500"/>
              </a:spcAft>
            </a:pPr>
            <a:r>
              <a:rPr sz="3660" b="1" lang="he-IL">
                <a:solidFill>
                  <a:srgbClr val="242139"/>
                </a:solidFill>
                <a:latin typeface="Arial"/>
              </a:rPr>
              <a:t>הילד במרכז. העמותה שותפה לתכנון.</a:t>
            </a:r>
          </a:p>
        </p:txBody>
      </p:sp>
      <p:sp>
        <p:nvSpPr>
          <p:cNvPr id="6" name="TextBox 5"/>
          <p:cNvSpPr txBox="1"/>
          <p:nvPr/>
        </p:nvSpPr>
        <p:spPr>
          <a:xfrm>
            <a:off x="609600" y="1844040"/>
            <a:ext cx="10972800" cy="647700"/>
          </a:xfrm>
          <a:prstGeom prst="rect">
            <a:avLst/>
          </a:prstGeom>
          <a:noFill/>
        </p:spPr>
        <p:txBody>
          <a:bodyPr wrap="square" lIns="0" rIns="0" tIns="0" bIns="0">
            <a:spAutoFit/>
          </a:bodyPr>
          <a:lstStyle/>
          <a:p>
            <a:pPr algn="r" rtl="1">
              <a:lnSpc>
                <a:spcPct val="118000"/>
              </a:lnSpc>
              <a:spcAft>
                <a:spcPts val="500"/>
              </a:spcAft>
            </a:pPr>
            <a:r>
              <a:rPr sz="1800" b="0" lang="he-IL">
                <a:solidFill>
                  <a:srgbClr val="6B6879"/>
                </a:solidFill>
                <a:latin typeface="Arial"/>
              </a:rPr>
              <a:t>קהל הליבה: תלמידות ותלמידי בית ספר יסודי שחוו בריונות, דחייה או פגיעה חברתית</a:t>
            </a:r>
          </a:p>
        </p:txBody>
      </p:sp>
      <p:sp>
        <p:nvSpPr>
          <p:cNvPr id="7" name="Rectangle 6"/>
          <p:cNvSpPr/>
          <p:nvPr/>
        </p:nvSpPr>
        <p:spPr>
          <a:xfrm>
            <a:off x="548640" y="6332220"/>
            <a:ext cx="11094720" cy="15240"/>
          </a:xfrm>
          <a:prstGeom prst="rect">
            <a:avLst/>
          </a:prstGeom>
          <a:solidFill>
            <a:srgbClr val="E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15000" y="6492240"/>
            <a:ext cx="5905500" cy="198120"/>
          </a:xfrm>
          <a:prstGeom prst="rect">
            <a:avLst/>
          </a:prstGeom>
          <a:noFill/>
        </p:spPr>
        <p:txBody>
          <a:bodyPr wrap="square" lIns="0" rIns="0" tIns="0" bIns="0">
            <a:spAutoFit/>
          </a:bodyPr>
          <a:lstStyle/>
          <a:p>
            <a:pPr algn="r" rtl="1">
              <a:lnSpc>
                <a:spcPct val="118000"/>
              </a:lnSpc>
              <a:spcAft>
                <a:spcPts val="500"/>
              </a:spcAft>
            </a:pPr>
            <a:r>
              <a:rPr sz="1140" b="0" lang="he-IL">
                <a:solidFill>
                  <a:srgbClr val="6B6879"/>
                </a:solidFill>
                <a:latin typeface="Arial"/>
              </a:rPr>
              <a:t>הצעת מוצר לשיחה עם העמותה  ·  אוקטובר 2026</a:t>
            </a:r>
          </a:p>
        </p:txBody>
      </p:sp>
      <p:sp>
        <p:nvSpPr>
          <p:cNvPr id="9" name="TextBox 8"/>
          <p:cNvSpPr txBox="1"/>
          <p:nvPr/>
        </p:nvSpPr>
        <p:spPr>
          <a:xfrm>
            <a:off x="571500" y="6469380"/>
            <a:ext cx="571500" cy="228600"/>
          </a:xfrm>
          <a:prstGeom prst="rect">
            <a:avLst/>
          </a:prstGeom>
          <a:noFill/>
        </p:spPr>
        <p:txBody>
          <a:bodyPr wrap="square" lIns="0" rIns="0" tIns="0" bIns="0">
            <a:spAutoFit/>
          </a:bodyPr>
          <a:lstStyle/>
          <a:p>
            <a:pPr algn="l" rtl="1">
              <a:lnSpc>
                <a:spcPct val="118000"/>
              </a:lnSpc>
              <a:spcAft>
                <a:spcPts val="500"/>
              </a:spcAft>
            </a:pPr>
            <a:r>
              <a:rPr sz="1320" b="1" lang="he-IL">
                <a:solidFill>
                  <a:srgbClr val="7650D5"/>
                </a:solidFill>
                <a:latin typeface="Arial"/>
              </a:rPr>
              <a:t>03</a:t>
            </a:r>
          </a:p>
        </p:txBody>
      </p:sp>
      <p:sp>
        <p:nvSpPr>
          <p:cNvPr id="10" name="Rounded Rectangle 9"/>
          <p:cNvSpPr/>
          <p:nvPr/>
        </p:nvSpPr>
        <p:spPr>
          <a:xfrm>
            <a:off x="8001000" y="2667000"/>
            <a:ext cx="3581400" cy="2895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2842260"/>
            <a:ext cx="3215640" cy="320040"/>
          </a:xfrm>
          <a:prstGeom prst="rect">
            <a:avLst/>
          </a:prstGeom>
          <a:noFill/>
        </p:spPr>
        <p:txBody>
          <a:bodyPr wrap="square" lIns="0" rIns="0" tIns="0" bIns="0">
            <a:spAutoFit/>
          </a:bodyPr>
          <a:lstStyle/>
          <a:p>
            <a:pPr algn="r" rtl="1">
              <a:lnSpc>
                <a:spcPct val="118000"/>
              </a:lnSpc>
              <a:spcAft>
                <a:spcPts val="500"/>
              </a:spcAft>
            </a:pPr>
            <a:r>
              <a:rPr sz="1739" b="1" lang="he-IL">
                <a:solidFill>
                  <a:srgbClr val="167E76"/>
                </a:solidFill>
                <a:latin typeface="Arial"/>
              </a:rPr>
              <a:t>המשתמשים</a:t>
            </a:r>
          </a:p>
        </p:txBody>
      </p:sp>
      <p:sp>
        <p:nvSpPr>
          <p:cNvPr id="12" name="TextBox 11"/>
          <p:cNvSpPr txBox="1"/>
          <p:nvPr/>
        </p:nvSpPr>
        <p:spPr>
          <a:xfrm>
            <a:off x="8183879" y="3299460"/>
            <a:ext cx="3215640" cy="701040"/>
          </a:xfrm>
          <a:prstGeom prst="rect">
            <a:avLst/>
          </a:prstGeom>
          <a:noFill/>
        </p:spPr>
        <p:txBody>
          <a:bodyPr wrap="square" lIns="0" rIns="0" tIns="0" bIns="0">
            <a:spAutoFit/>
          </a:bodyPr>
          <a:lstStyle/>
          <a:p>
            <a:pPr algn="r" rtl="1">
              <a:lnSpc>
                <a:spcPct val="118000"/>
              </a:lnSpc>
              <a:spcAft>
                <a:spcPts val="500"/>
              </a:spcAft>
            </a:pPr>
            <a:r>
              <a:rPr sz="2220" b="1" lang="he-IL">
                <a:solidFill>
                  <a:srgbClr val="242139"/>
                </a:solidFill>
                <a:latin typeface="Arial"/>
              </a:rPr>
              <a:t>ילדי בית הספר היסודי</a:t>
            </a:r>
          </a:p>
        </p:txBody>
      </p:sp>
      <p:sp>
        <p:nvSpPr>
          <p:cNvPr id="13" name="TextBox 12"/>
          <p:cNvSpPr txBox="1"/>
          <p:nvPr/>
        </p:nvSpPr>
        <p:spPr>
          <a:xfrm>
            <a:off x="8183879" y="4099560"/>
            <a:ext cx="3215640" cy="137160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ילדים שרוצים מקום להשתתף ולהרגיש שייכים. שפה חזותית בעברית מאפשרת חיבור גם בלי כתיבה או חשיפה אישית.</a:t>
            </a:r>
          </a:p>
        </p:txBody>
      </p:sp>
      <p:sp>
        <p:nvSpPr>
          <p:cNvPr id="14" name="Rounded Rectangle 13"/>
          <p:cNvSpPr/>
          <p:nvPr/>
        </p:nvSpPr>
        <p:spPr>
          <a:xfrm>
            <a:off x="4305300" y="2667000"/>
            <a:ext cx="3467100" cy="2895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8180" y="2842260"/>
            <a:ext cx="3101340" cy="320040"/>
          </a:xfrm>
          <a:prstGeom prst="rect">
            <a:avLst/>
          </a:prstGeom>
          <a:noFill/>
        </p:spPr>
        <p:txBody>
          <a:bodyPr wrap="square" lIns="0" rIns="0" tIns="0" bIns="0">
            <a:spAutoFit/>
          </a:bodyPr>
          <a:lstStyle/>
          <a:p>
            <a:pPr algn="r" rtl="1">
              <a:lnSpc>
                <a:spcPct val="118000"/>
              </a:lnSpc>
              <a:spcAft>
                <a:spcPts val="500"/>
              </a:spcAft>
            </a:pPr>
            <a:r>
              <a:rPr sz="1739" b="1" lang="he-IL">
                <a:solidFill>
                  <a:srgbClr val="167E76"/>
                </a:solidFill>
                <a:latin typeface="Arial"/>
              </a:rPr>
              <a:t>הסביבה התומכת</a:t>
            </a:r>
          </a:p>
        </p:txBody>
      </p:sp>
      <p:sp>
        <p:nvSpPr>
          <p:cNvPr id="16" name="TextBox 15"/>
          <p:cNvSpPr txBox="1"/>
          <p:nvPr/>
        </p:nvSpPr>
        <p:spPr>
          <a:xfrm>
            <a:off x="4488180" y="3299460"/>
            <a:ext cx="3101340" cy="701040"/>
          </a:xfrm>
          <a:prstGeom prst="rect">
            <a:avLst/>
          </a:prstGeom>
          <a:noFill/>
        </p:spPr>
        <p:txBody>
          <a:bodyPr wrap="square" lIns="0" rIns="0" tIns="0" bIns="0">
            <a:spAutoFit/>
          </a:bodyPr>
          <a:lstStyle/>
          <a:p>
            <a:pPr algn="r" rtl="1">
              <a:lnSpc>
                <a:spcPct val="118000"/>
              </a:lnSpc>
              <a:spcAft>
                <a:spcPts val="500"/>
              </a:spcAft>
            </a:pPr>
            <a:r>
              <a:rPr sz="2220" b="1" lang="he-IL">
                <a:solidFill>
                  <a:srgbClr val="242139"/>
                </a:solidFill>
                <a:latin typeface="Arial"/>
              </a:rPr>
              <a:t>הורים ואפוטרופוסים</a:t>
            </a:r>
          </a:p>
        </p:txBody>
      </p:sp>
      <p:sp>
        <p:nvSpPr>
          <p:cNvPr id="17" name="TextBox 16"/>
          <p:cNvSpPr txBox="1"/>
          <p:nvPr/>
        </p:nvSpPr>
        <p:spPr>
          <a:xfrm>
            <a:off x="4488180" y="4099560"/>
            <a:ext cx="3101340" cy="137160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הצטרפות מובנת ואמון בשימוש. את היקף ההסכמה והנראות נגדיר יחד.</a:t>
            </a:r>
          </a:p>
        </p:txBody>
      </p:sp>
      <p:sp>
        <p:nvSpPr>
          <p:cNvPr id="18" name="Rounded Rectangle 17"/>
          <p:cNvSpPr/>
          <p:nvPr/>
        </p:nvSpPr>
        <p:spPr>
          <a:xfrm>
            <a:off x="609600" y="2667000"/>
            <a:ext cx="3467100" cy="2895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2480" y="2842260"/>
            <a:ext cx="3101340" cy="320040"/>
          </a:xfrm>
          <a:prstGeom prst="rect">
            <a:avLst/>
          </a:prstGeom>
          <a:noFill/>
        </p:spPr>
        <p:txBody>
          <a:bodyPr wrap="square" lIns="0" rIns="0" tIns="0" bIns="0">
            <a:spAutoFit/>
          </a:bodyPr>
          <a:lstStyle/>
          <a:p>
            <a:pPr algn="r" rtl="1">
              <a:lnSpc>
                <a:spcPct val="118000"/>
              </a:lnSpc>
              <a:spcAft>
                <a:spcPts val="500"/>
              </a:spcAft>
            </a:pPr>
            <a:r>
              <a:rPr sz="1739" b="1" lang="he-IL">
                <a:solidFill>
                  <a:srgbClr val="167E76"/>
                </a:solidFill>
                <a:latin typeface="Arial"/>
              </a:rPr>
              <a:t>שותפת התכנון</a:t>
            </a:r>
          </a:p>
        </p:txBody>
      </p:sp>
      <p:sp>
        <p:nvSpPr>
          <p:cNvPr id="20" name="TextBox 19"/>
          <p:cNvSpPr txBox="1"/>
          <p:nvPr/>
        </p:nvSpPr>
        <p:spPr>
          <a:xfrm>
            <a:off x="792480" y="3299460"/>
            <a:ext cx="3101340" cy="701040"/>
          </a:xfrm>
          <a:prstGeom prst="rect">
            <a:avLst/>
          </a:prstGeom>
          <a:noFill/>
        </p:spPr>
        <p:txBody>
          <a:bodyPr wrap="square" lIns="0" rIns="0" tIns="0" bIns="0">
            <a:spAutoFit/>
          </a:bodyPr>
          <a:lstStyle/>
          <a:p>
            <a:pPr algn="r" rtl="1">
              <a:lnSpc>
                <a:spcPct val="118000"/>
              </a:lnSpc>
              <a:spcAft>
                <a:spcPts val="500"/>
              </a:spcAft>
            </a:pPr>
            <a:r>
              <a:rPr sz="2220" b="1" lang="he-IL">
                <a:solidFill>
                  <a:srgbClr val="242139"/>
                </a:solidFill>
                <a:latin typeface="Arial"/>
              </a:rPr>
              <a:t>העמותה ואנשי המקצוע</a:t>
            </a:r>
          </a:p>
        </p:txBody>
      </p:sp>
      <p:sp>
        <p:nvSpPr>
          <p:cNvPr id="21" name="TextBox 20"/>
          <p:cNvSpPr txBox="1"/>
          <p:nvPr/>
        </p:nvSpPr>
        <p:spPr>
          <a:xfrm>
            <a:off x="792480" y="4099560"/>
            <a:ext cx="3101340" cy="137160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היכרות עם הילדים, התאמת התוכן והגדרת מעטפת המענה והבקרה.</a:t>
            </a:r>
          </a:p>
        </p:txBody>
      </p:sp>
      <p:sp>
        <p:nvSpPr>
          <p:cNvPr id="22" name="Rounded Rectangle 21"/>
          <p:cNvSpPr/>
          <p:nvPr/>
        </p:nvSpPr>
        <p:spPr>
          <a:xfrm>
            <a:off x="609600" y="5707380"/>
            <a:ext cx="10972800" cy="464820"/>
          </a:xfrm>
          <a:prstGeom prst="roundRect">
            <a:avLst>
              <a:gd name="adj" fmla="val 12000"/>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2480" y="5806440"/>
            <a:ext cx="10607040" cy="304800"/>
          </a:xfrm>
          <a:prstGeom prst="rect">
            <a:avLst/>
          </a:prstGeom>
          <a:noFill/>
        </p:spPr>
        <p:txBody>
          <a:bodyPr wrap="square" lIns="0" rIns="0" tIns="0" bIns="0">
            <a:spAutoFit/>
          </a:bodyPr>
          <a:lstStyle/>
          <a:p>
            <a:pPr algn="r" rtl="1">
              <a:lnSpc>
                <a:spcPct val="118000"/>
              </a:lnSpc>
              <a:spcAft>
                <a:spcPts val="500"/>
              </a:spcAft>
            </a:pPr>
            <a:r>
              <a:rPr sz="1620" b="1" lang="he-IL">
                <a:solidFill>
                  <a:srgbClr val="167E76"/>
                </a:solidFill>
                <a:latin typeface="Arial"/>
              </a:rPr>
              <a:t>לדיוק משותף: שכבות הגיל הראשונות, רמת הקריאה והצרכים של הילדים שהעמותה מלווה.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ounded Rectangle 1"/>
          <p:cNvSpPr/>
          <p:nvPr/>
        </p:nvSpPr>
        <p:spPr>
          <a:xfrm>
            <a:off x="11567160" y="472440"/>
            <a:ext cx="76200" cy="350520"/>
          </a:xfrm>
          <a:prstGeom prst="roundRect">
            <a:avLst>
              <a:gd name="adj" fmla="val 12000"/>
            </a:avLst>
          </a:prstGeom>
          <a:solidFill>
            <a:srgbClr val="765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62600" y="502920"/>
            <a:ext cx="5753100" cy="274320"/>
          </a:xfrm>
          <a:prstGeom prst="rect">
            <a:avLst/>
          </a:prstGeom>
          <a:noFill/>
        </p:spPr>
        <p:txBody>
          <a:bodyPr wrap="square" lIns="0" rIns="0" tIns="0" bIns="0">
            <a:spAutoFit/>
          </a:bodyPr>
          <a:lstStyle/>
          <a:p>
            <a:pPr algn="r" rtl="1">
              <a:lnSpc>
                <a:spcPct val="118000"/>
              </a:lnSpc>
              <a:spcAft>
                <a:spcPts val="500"/>
              </a:spcAft>
            </a:pPr>
            <a:r>
              <a:rPr sz="1439" b="1" lang="he-IL">
                <a:solidFill>
                  <a:srgbClr val="167E76"/>
                </a:solidFill>
                <a:latin typeface="Arial"/>
              </a:rPr>
              <a:t>עקרונות מנחים</a:t>
            </a:r>
          </a:p>
        </p:txBody>
      </p:sp>
      <p:sp>
        <p:nvSpPr>
          <p:cNvPr id="4" name="TextBox 3"/>
          <p:cNvSpPr txBox="1"/>
          <p:nvPr/>
        </p:nvSpPr>
        <p:spPr>
          <a:xfrm>
            <a:off x="548640" y="472440"/>
            <a:ext cx="1524000" cy="342900"/>
          </a:xfrm>
          <a:prstGeom prst="rect">
            <a:avLst/>
          </a:prstGeom>
          <a:noFill/>
        </p:spPr>
        <p:txBody>
          <a:bodyPr wrap="square" lIns="0" rIns="0" tIns="0" bIns="0">
            <a:spAutoFit/>
          </a:bodyPr>
          <a:lstStyle/>
          <a:p>
            <a:pPr algn="l" rtl="1">
              <a:lnSpc>
                <a:spcPct val="118000"/>
              </a:lnSpc>
              <a:spcAft>
                <a:spcPts val="500"/>
              </a:spcAft>
            </a:pPr>
            <a:r>
              <a:rPr sz="1920" b="1" lang="he-IL">
                <a:solidFill>
                  <a:srgbClr val="7650D5"/>
                </a:solidFill>
                <a:latin typeface="Arial"/>
              </a:rPr>
              <a:t>FeelIt</a:t>
            </a:r>
          </a:p>
        </p:txBody>
      </p:sp>
      <p:sp>
        <p:nvSpPr>
          <p:cNvPr id="5" name="TextBox 4"/>
          <p:cNvSpPr txBox="1"/>
          <p:nvPr/>
        </p:nvSpPr>
        <p:spPr>
          <a:xfrm>
            <a:off x="548640" y="1043940"/>
            <a:ext cx="11094720" cy="716280"/>
          </a:xfrm>
          <a:prstGeom prst="rect">
            <a:avLst/>
          </a:prstGeom>
          <a:noFill/>
        </p:spPr>
        <p:txBody>
          <a:bodyPr wrap="square" lIns="0" rIns="0" tIns="0" bIns="0">
            <a:spAutoFit/>
          </a:bodyPr>
          <a:lstStyle/>
          <a:p>
            <a:pPr algn="r" rtl="1">
              <a:lnSpc>
                <a:spcPct val="118000"/>
              </a:lnSpc>
              <a:spcAft>
                <a:spcPts val="500"/>
              </a:spcAft>
            </a:pPr>
            <a:r>
              <a:rPr sz="3240" b="1" lang="he-IL">
                <a:solidFill>
                  <a:srgbClr val="242139"/>
                </a:solidFill>
                <a:latin typeface="Arial"/>
              </a:rPr>
              <a:t>חמש הבטחות ליבה שמכווינות את פיתוח האפליקציה</a:t>
            </a:r>
          </a:p>
        </p:txBody>
      </p:sp>
      <p:sp>
        <p:nvSpPr>
          <p:cNvPr id="6" name="Rectangle 5"/>
          <p:cNvSpPr/>
          <p:nvPr/>
        </p:nvSpPr>
        <p:spPr>
          <a:xfrm>
            <a:off x="548640" y="6332220"/>
            <a:ext cx="11094720" cy="15240"/>
          </a:xfrm>
          <a:prstGeom prst="rect">
            <a:avLst/>
          </a:prstGeom>
          <a:solidFill>
            <a:srgbClr val="E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15000" y="6492240"/>
            <a:ext cx="5905500" cy="198120"/>
          </a:xfrm>
          <a:prstGeom prst="rect">
            <a:avLst/>
          </a:prstGeom>
          <a:noFill/>
        </p:spPr>
        <p:txBody>
          <a:bodyPr wrap="square" lIns="0" rIns="0" tIns="0" bIns="0">
            <a:spAutoFit/>
          </a:bodyPr>
          <a:lstStyle/>
          <a:p>
            <a:pPr algn="r" rtl="1">
              <a:lnSpc>
                <a:spcPct val="118000"/>
              </a:lnSpc>
              <a:spcAft>
                <a:spcPts val="500"/>
              </a:spcAft>
            </a:pPr>
            <a:r>
              <a:rPr sz="1140" b="0" lang="he-IL">
                <a:solidFill>
                  <a:srgbClr val="6B6879"/>
                </a:solidFill>
                <a:latin typeface="Arial"/>
              </a:rPr>
              <a:t>הצעת מוצר לשיחה עם העמותה  ·  אוקטובר 2026</a:t>
            </a:r>
          </a:p>
        </p:txBody>
      </p:sp>
      <p:sp>
        <p:nvSpPr>
          <p:cNvPr id="8" name="TextBox 7"/>
          <p:cNvSpPr txBox="1"/>
          <p:nvPr/>
        </p:nvSpPr>
        <p:spPr>
          <a:xfrm>
            <a:off x="571500" y="6469380"/>
            <a:ext cx="571500" cy="228600"/>
          </a:xfrm>
          <a:prstGeom prst="rect">
            <a:avLst/>
          </a:prstGeom>
          <a:noFill/>
        </p:spPr>
        <p:txBody>
          <a:bodyPr wrap="square" lIns="0" rIns="0" tIns="0" bIns="0">
            <a:spAutoFit/>
          </a:bodyPr>
          <a:lstStyle/>
          <a:p>
            <a:pPr algn="l" rtl="1">
              <a:lnSpc>
                <a:spcPct val="118000"/>
              </a:lnSpc>
              <a:spcAft>
                <a:spcPts val="500"/>
              </a:spcAft>
            </a:pPr>
            <a:r>
              <a:rPr sz="1320" b="1" lang="he-IL">
                <a:solidFill>
                  <a:srgbClr val="7650D5"/>
                </a:solidFill>
                <a:latin typeface="Arial"/>
              </a:rPr>
              <a:t>04</a:t>
            </a:r>
          </a:p>
        </p:txBody>
      </p:sp>
      <p:sp>
        <p:nvSpPr>
          <p:cNvPr id="9" name="Rounded Rectangle 8"/>
          <p:cNvSpPr/>
          <p:nvPr/>
        </p:nvSpPr>
        <p:spPr>
          <a:xfrm>
            <a:off x="609600" y="2125980"/>
            <a:ext cx="10972800" cy="670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820400" y="2308860"/>
            <a:ext cx="533400" cy="327660"/>
          </a:xfrm>
          <a:prstGeom prst="rect">
            <a:avLst/>
          </a:prstGeom>
          <a:noFill/>
        </p:spPr>
        <p:txBody>
          <a:bodyPr wrap="square" lIns="0" rIns="0" tIns="0" bIns="0">
            <a:spAutoFit/>
          </a:bodyPr>
          <a:lstStyle/>
          <a:p>
            <a:pPr algn="r" rtl="1">
              <a:lnSpc>
                <a:spcPct val="118000"/>
              </a:lnSpc>
              <a:spcAft>
                <a:spcPts val="500"/>
              </a:spcAft>
            </a:pPr>
            <a:r>
              <a:rPr sz="1800" b="1" lang="he-IL">
                <a:solidFill>
                  <a:srgbClr val="167E76"/>
                </a:solidFill>
                <a:latin typeface="Arial"/>
              </a:rPr>
              <a:t>01</a:t>
            </a:r>
          </a:p>
        </p:txBody>
      </p:sp>
      <p:sp>
        <p:nvSpPr>
          <p:cNvPr id="11" name="TextBox 10"/>
          <p:cNvSpPr txBox="1"/>
          <p:nvPr/>
        </p:nvSpPr>
        <p:spPr>
          <a:xfrm>
            <a:off x="7162800" y="2301240"/>
            <a:ext cx="3390900" cy="35814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לתת מקום לכל רגש</a:t>
            </a:r>
          </a:p>
        </p:txBody>
      </p:sp>
      <p:sp>
        <p:nvSpPr>
          <p:cNvPr id="12" name="TextBox 11"/>
          <p:cNvSpPr txBox="1"/>
          <p:nvPr/>
        </p:nvSpPr>
        <p:spPr>
          <a:xfrm>
            <a:off x="830580" y="2324100"/>
            <a:ext cx="6088380" cy="373380"/>
          </a:xfrm>
          <a:prstGeom prst="rect">
            <a:avLst/>
          </a:prstGeom>
          <a:noFill/>
        </p:spPr>
        <p:txBody>
          <a:bodyPr wrap="square" lIns="0" rIns="0" tIns="0" bIns="0">
            <a:spAutoFit/>
          </a:bodyPr>
          <a:lstStyle/>
          <a:p>
            <a:pPr algn="r" rtl="1">
              <a:lnSpc>
                <a:spcPct val="118000"/>
              </a:lnSpc>
              <a:spcAft>
                <a:spcPts val="500"/>
              </a:spcAft>
            </a:pPr>
            <a:r>
              <a:rPr sz="1620" b="0" lang="he-IL">
                <a:solidFill>
                  <a:srgbClr val="6B6879"/>
                </a:solidFill>
                <a:latin typeface="Arial"/>
              </a:rPr>
              <a:t>אפשר להרגיש עצב, כעס או בדידות. אין תשובה נכונה.</a:t>
            </a:r>
          </a:p>
        </p:txBody>
      </p:sp>
      <p:sp>
        <p:nvSpPr>
          <p:cNvPr id="13" name="Rounded Rectangle 12"/>
          <p:cNvSpPr/>
          <p:nvPr/>
        </p:nvSpPr>
        <p:spPr>
          <a:xfrm>
            <a:off x="609600" y="2903220"/>
            <a:ext cx="10972800" cy="670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820400" y="3086100"/>
            <a:ext cx="533400" cy="327660"/>
          </a:xfrm>
          <a:prstGeom prst="rect">
            <a:avLst/>
          </a:prstGeom>
          <a:noFill/>
        </p:spPr>
        <p:txBody>
          <a:bodyPr wrap="square" lIns="0" rIns="0" tIns="0" bIns="0">
            <a:spAutoFit/>
          </a:bodyPr>
          <a:lstStyle/>
          <a:p>
            <a:pPr algn="r" rtl="1">
              <a:lnSpc>
                <a:spcPct val="118000"/>
              </a:lnSpc>
              <a:spcAft>
                <a:spcPts val="500"/>
              </a:spcAft>
            </a:pPr>
            <a:r>
              <a:rPr sz="1800" b="1" lang="he-IL">
                <a:solidFill>
                  <a:srgbClr val="167E76"/>
                </a:solidFill>
                <a:latin typeface="Arial"/>
              </a:rPr>
              <a:t>02</a:t>
            </a:r>
          </a:p>
        </p:txBody>
      </p:sp>
      <p:sp>
        <p:nvSpPr>
          <p:cNvPr id="15" name="TextBox 14"/>
          <p:cNvSpPr txBox="1"/>
          <p:nvPr/>
        </p:nvSpPr>
        <p:spPr>
          <a:xfrm>
            <a:off x="7162800" y="3078480"/>
            <a:ext cx="3390900" cy="35814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לא להשאיר ילד באוויר</a:t>
            </a:r>
          </a:p>
        </p:txBody>
      </p:sp>
      <p:sp>
        <p:nvSpPr>
          <p:cNvPr id="16" name="TextBox 15"/>
          <p:cNvSpPr txBox="1"/>
          <p:nvPr/>
        </p:nvSpPr>
        <p:spPr>
          <a:xfrm>
            <a:off x="830580" y="3101340"/>
            <a:ext cx="6088380" cy="373380"/>
          </a:xfrm>
          <a:prstGeom prst="rect">
            <a:avLst/>
          </a:prstGeom>
          <a:noFill/>
        </p:spPr>
        <p:txBody>
          <a:bodyPr wrap="square" lIns="0" rIns="0" tIns="0" bIns="0">
            <a:spAutoFit/>
          </a:bodyPr>
          <a:lstStyle/>
          <a:p>
            <a:pPr algn="r" rtl="1">
              <a:lnSpc>
                <a:spcPct val="118000"/>
              </a:lnSpc>
              <a:spcAft>
                <a:spcPts val="500"/>
              </a:spcAft>
            </a:pPr>
            <a:r>
              <a:rPr sz="1620" b="0" lang="he-IL">
                <a:solidFill>
                  <a:srgbClr val="6B6879"/>
                </a:solidFill>
                <a:latin typeface="Arial"/>
              </a:rPr>
              <a:t>כל פעולה מקבלת אישור ברור ומענה מותאם.</a:t>
            </a:r>
          </a:p>
        </p:txBody>
      </p:sp>
      <p:sp>
        <p:nvSpPr>
          <p:cNvPr id="17" name="Rounded Rectangle 16"/>
          <p:cNvSpPr/>
          <p:nvPr/>
        </p:nvSpPr>
        <p:spPr>
          <a:xfrm>
            <a:off x="609600" y="3680460"/>
            <a:ext cx="10972800" cy="670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20400" y="3863339"/>
            <a:ext cx="533400" cy="327660"/>
          </a:xfrm>
          <a:prstGeom prst="rect">
            <a:avLst/>
          </a:prstGeom>
          <a:noFill/>
        </p:spPr>
        <p:txBody>
          <a:bodyPr wrap="square" lIns="0" rIns="0" tIns="0" bIns="0">
            <a:spAutoFit/>
          </a:bodyPr>
          <a:lstStyle/>
          <a:p>
            <a:pPr algn="r" rtl="1">
              <a:lnSpc>
                <a:spcPct val="118000"/>
              </a:lnSpc>
              <a:spcAft>
                <a:spcPts val="500"/>
              </a:spcAft>
            </a:pPr>
            <a:r>
              <a:rPr sz="1800" b="1" lang="he-IL">
                <a:solidFill>
                  <a:srgbClr val="167E76"/>
                </a:solidFill>
                <a:latin typeface="Arial"/>
              </a:rPr>
              <a:t>03</a:t>
            </a:r>
          </a:p>
        </p:txBody>
      </p:sp>
      <p:sp>
        <p:nvSpPr>
          <p:cNvPr id="19" name="TextBox 18"/>
          <p:cNvSpPr txBox="1"/>
          <p:nvPr/>
        </p:nvSpPr>
        <p:spPr>
          <a:xfrm>
            <a:off x="7162800" y="3855720"/>
            <a:ext cx="3390900" cy="35814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להרגיש חלק מקהילה</a:t>
            </a:r>
          </a:p>
        </p:txBody>
      </p:sp>
      <p:sp>
        <p:nvSpPr>
          <p:cNvPr id="20" name="TextBox 19"/>
          <p:cNvSpPr txBox="1"/>
          <p:nvPr/>
        </p:nvSpPr>
        <p:spPr>
          <a:xfrm>
            <a:off x="830580" y="3878579"/>
            <a:ext cx="6088380" cy="373380"/>
          </a:xfrm>
          <a:prstGeom prst="rect">
            <a:avLst/>
          </a:prstGeom>
          <a:noFill/>
        </p:spPr>
        <p:txBody>
          <a:bodyPr wrap="square" lIns="0" rIns="0" tIns="0" bIns="0">
            <a:spAutoFit/>
          </a:bodyPr>
          <a:lstStyle/>
          <a:p>
            <a:pPr algn="r" rtl="1">
              <a:lnSpc>
                <a:spcPct val="118000"/>
              </a:lnSpc>
              <a:spcAft>
                <a:spcPts val="500"/>
              </a:spcAft>
            </a:pPr>
            <a:r>
              <a:rPr sz="1620" b="0" lang="he-IL">
                <a:solidFill>
                  <a:srgbClr val="6B6879"/>
                </a:solidFill>
                <a:latin typeface="Arial"/>
              </a:rPr>
              <a:t>לכל ילד יש מקום להשתתף, לתת ולקבל אכפתיות.</a:t>
            </a:r>
          </a:p>
        </p:txBody>
      </p:sp>
      <p:sp>
        <p:nvSpPr>
          <p:cNvPr id="21" name="Rounded Rectangle 20"/>
          <p:cNvSpPr/>
          <p:nvPr/>
        </p:nvSpPr>
        <p:spPr>
          <a:xfrm>
            <a:off x="609600" y="4457700"/>
            <a:ext cx="10972800" cy="670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820400" y="4640580"/>
            <a:ext cx="533400" cy="327660"/>
          </a:xfrm>
          <a:prstGeom prst="rect">
            <a:avLst/>
          </a:prstGeom>
          <a:noFill/>
        </p:spPr>
        <p:txBody>
          <a:bodyPr wrap="square" lIns="0" rIns="0" tIns="0" bIns="0">
            <a:spAutoFit/>
          </a:bodyPr>
          <a:lstStyle/>
          <a:p>
            <a:pPr algn="r" rtl="1">
              <a:lnSpc>
                <a:spcPct val="118000"/>
              </a:lnSpc>
              <a:spcAft>
                <a:spcPts val="500"/>
              </a:spcAft>
            </a:pPr>
            <a:r>
              <a:rPr sz="1800" b="1" lang="he-IL">
                <a:solidFill>
                  <a:srgbClr val="167E76"/>
                </a:solidFill>
                <a:latin typeface="Arial"/>
              </a:rPr>
              <a:t>04</a:t>
            </a:r>
          </a:p>
        </p:txBody>
      </p:sp>
      <p:sp>
        <p:nvSpPr>
          <p:cNvPr id="23" name="TextBox 22"/>
          <p:cNvSpPr txBox="1"/>
          <p:nvPr/>
        </p:nvSpPr>
        <p:spPr>
          <a:xfrm>
            <a:off x="7162800" y="4632960"/>
            <a:ext cx="3390900" cy="35814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לאפשר חיבור בטוח</a:t>
            </a:r>
          </a:p>
        </p:txBody>
      </p:sp>
      <p:sp>
        <p:nvSpPr>
          <p:cNvPr id="24" name="TextBox 23"/>
          <p:cNvSpPr txBox="1"/>
          <p:nvPr/>
        </p:nvSpPr>
        <p:spPr>
          <a:xfrm>
            <a:off x="830580" y="4655820"/>
            <a:ext cx="6088380" cy="373380"/>
          </a:xfrm>
          <a:prstGeom prst="rect">
            <a:avLst/>
          </a:prstGeom>
          <a:noFill/>
        </p:spPr>
        <p:txBody>
          <a:bodyPr wrap="square" lIns="0" rIns="0" tIns="0" bIns="0">
            <a:spAutoFit/>
          </a:bodyPr>
          <a:lstStyle/>
          <a:p>
            <a:pPr algn="r" rtl="1">
              <a:lnSpc>
                <a:spcPct val="118000"/>
              </a:lnSpc>
              <a:spcAft>
                <a:spcPts val="500"/>
              </a:spcAft>
            </a:pPr>
            <a:r>
              <a:rPr sz="1620" b="0" lang="he-IL">
                <a:solidFill>
                  <a:srgbClr val="6B6879"/>
                </a:solidFill>
                <a:latin typeface="Arial"/>
              </a:rPr>
              <a:t>אינטראקציות מובנות בין ילדים, עם פרטיות וגבולות ברורים.</a:t>
            </a:r>
          </a:p>
        </p:txBody>
      </p:sp>
      <p:sp>
        <p:nvSpPr>
          <p:cNvPr id="25" name="Rounded Rectangle 24"/>
          <p:cNvSpPr/>
          <p:nvPr/>
        </p:nvSpPr>
        <p:spPr>
          <a:xfrm>
            <a:off x="609600" y="5234940"/>
            <a:ext cx="10972800" cy="670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820400" y="5417820"/>
            <a:ext cx="533400" cy="327660"/>
          </a:xfrm>
          <a:prstGeom prst="rect">
            <a:avLst/>
          </a:prstGeom>
          <a:noFill/>
        </p:spPr>
        <p:txBody>
          <a:bodyPr wrap="square" lIns="0" rIns="0" tIns="0" bIns="0">
            <a:spAutoFit/>
          </a:bodyPr>
          <a:lstStyle/>
          <a:p>
            <a:pPr algn="r" rtl="1">
              <a:lnSpc>
                <a:spcPct val="118000"/>
              </a:lnSpc>
              <a:spcAft>
                <a:spcPts val="500"/>
              </a:spcAft>
            </a:pPr>
            <a:r>
              <a:rPr sz="1800" b="1" lang="he-IL">
                <a:solidFill>
                  <a:srgbClr val="167E76"/>
                </a:solidFill>
                <a:latin typeface="Arial"/>
              </a:rPr>
              <a:t>05</a:t>
            </a:r>
          </a:p>
        </p:txBody>
      </p:sp>
      <p:sp>
        <p:nvSpPr>
          <p:cNvPr id="27" name="TextBox 26"/>
          <p:cNvSpPr txBox="1"/>
          <p:nvPr/>
        </p:nvSpPr>
        <p:spPr>
          <a:xfrm>
            <a:off x="7162800" y="5410200"/>
            <a:ext cx="3390900" cy="35814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לתת תקווה וקצב אישי</a:t>
            </a:r>
          </a:p>
        </p:txBody>
      </p:sp>
      <p:sp>
        <p:nvSpPr>
          <p:cNvPr id="28" name="TextBox 27"/>
          <p:cNvSpPr txBox="1"/>
          <p:nvPr/>
        </p:nvSpPr>
        <p:spPr>
          <a:xfrm>
            <a:off x="830580" y="5433060"/>
            <a:ext cx="6088380" cy="373380"/>
          </a:xfrm>
          <a:prstGeom prst="rect">
            <a:avLst/>
          </a:prstGeom>
          <a:noFill/>
        </p:spPr>
        <p:txBody>
          <a:bodyPr wrap="square" lIns="0" rIns="0" tIns="0" bIns="0">
            <a:spAutoFit/>
          </a:bodyPr>
          <a:lstStyle/>
          <a:p>
            <a:pPr algn="r" rtl="1">
              <a:lnSpc>
                <a:spcPct val="118000"/>
              </a:lnSpc>
              <a:spcAft>
                <a:spcPts val="500"/>
              </a:spcAft>
            </a:pPr>
            <a:r>
              <a:rPr sz="1620" b="0" lang="he-IL">
                <a:solidFill>
                  <a:srgbClr val="6B6879"/>
                </a:solidFill>
                <a:latin typeface="Arial"/>
              </a:rPr>
              <a:t>צמיחה עדינה, בלי לחץ לחשוף יותר ובלי חובה להרגיש טוב.</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ounded Rectangle 1"/>
          <p:cNvSpPr/>
          <p:nvPr/>
        </p:nvSpPr>
        <p:spPr>
          <a:xfrm>
            <a:off x="11567160" y="472440"/>
            <a:ext cx="76200" cy="350520"/>
          </a:xfrm>
          <a:prstGeom prst="roundRect">
            <a:avLst>
              <a:gd name="adj" fmla="val 12000"/>
            </a:avLst>
          </a:prstGeom>
          <a:solidFill>
            <a:srgbClr val="765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62600" y="502920"/>
            <a:ext cx="5753100" cy="274320"/>
          </a:xfrm>
          <a:prstGeom prst="rect">
            <a:avLst/>
          </a:prstGeom>
          <a:noFill/>
        </p:spPr>
        <p:txBody>
          <a:bodyPr wrap="square" lIns="0" rIns="0" tIns="0" bIns="0">
            <a:spAutoFit/>
          </a:bodyPr>
          <a:lstStyle/>
          <a:p>
            <a:pPr algn="r" rtl="1">
              <a:lnSpc>
                <a:spcPct val="118000"/>
              </a:lnSpc>
              <a:spcAft>
                <a:spcPts val="500"/>
              </a:spcAft>
            </a:pPr>
            <a:r>
              <a:rPr sz="1439" b="1" lang="he-IL">
                <a:solidFill>
                  <a:srgbClr val="167E76"/>
                </a:solidFill>
                <a:latin typeface="Arial"/>
              </a:rPr>
              <a:t>מודל המוצר</a:t>
            </a:r>
          </a:p>
        </p:txBody>
      </p:sp>
      <p:sp>
        <p:nvSpPr>
          <p:cNvPr id="4" name="TextBox 3"/>
          <p:cNvSpPr txBox="1"/>
          <p:nvPr/>
        </p:nvSpPr>
        <p:spPr>
          <a:xfrm>
            <a:off x="548640" y="472440"/>
            <a:ext cx="1524000" cy="342900"/>
          </a:xfrm>
          <a:prstGeom prst="rect">
            <a:avLst/>
          </a:prstGeom>
          <a:noFill/>
        </p:spPr>
        <p:txBody>
          <a:bodyPr wrap="square" lIns="0" rIns="0" tIns="0" bIns="0">
            <a:spAutoFit/>
          </a:bodyPr>
          <a:lstStyle/>
          <a:p>
            <a:pPr algn="l" rtl="1">
              <a:lnSpc>
                <a:spcPct val="118000"/>
              </a:lnSpc>
              <a:spcAft>
                <a:spcPts val="500"/>
              </a:spcAft>
            </a:pPr>
            <a:r>
              <a:rPr sz="1920" b="1" lang="he-IL">
                <a:solidFill>
                  <a:srgbClr val="7650D5"/>
                </a:solidFill>
                <a:latin typeface="Arial"/>
              </a:rPr>
              <a:t>FeelIt</a:t>
            </a:r>
          </a:p>
        </p:txBody>
      </p:sp>
      <p:sp>
        <p:nvSpPr>
          <p:cNvPr id="5" name="TextBox 4"/>
          <p:cNvSpPr txBox="1"/>
          <p:nvPr/>
        </p:nvSpPr>
        <p:spPr>
          <a:xfrm>
            <a:off x="548640" y="1043940"/>
            <a:ext cx="11094720" cy="716280"/>
          </a:xfrm>
          <a:prstGeom prst="rect">
            <a:avLst/>
          </a:prstGeom>
          <a:noFill/>
        </p:spPr>
        <p:txBody>
          <a:bodyPr wrap="square" lIns="0" rIns="0" tIns="0" bIns="0">
            <a:spAutoFit/>
          </a:bodyPr>
          <a:lstStyle/>
          <a:p>
            <a:pPr algn="r" rtl="1">
              <a:lnSpc>
                <a:spcPct val="118000"/>
              </a:lnSpc>
              <a:spcAft>
                <a:spcPts val="500"/>
              </a:spcAft>
            </a:pPr>
            <a:r>
              <a:rPr sz="3660" b="1" lang="he-IL">
                <a:solidFill>
                  <a:srgbClr val="242139"/>
                </a:solidFill>
                <a:latin typeface="Arial"/>
              </a:rPr>
              <a:t>הקשר בין הילדים הוא לב החוויה</a:t>
            </a:r>
          </a:p>
        </p:txBody>
      </p:sp>
      <p:sp>
        <p:nvSpPr>
          <p:cNvPr id="6" name="TextBox 5"/>
          <p:cNvSpPr txBox="1"/>
          <p:nvPr/>
        </p:nvSpPr>
        <p:spPr>
          <a:xfrm>
            <a:off x="609600" y="1844040"/>
            <a:ext cx="10972800" cy="647700"/>
          </a:xfrm>
          <a:prstGeom prst="rect">
            <a:avLst/>
          </a:prstGeom>
          <a:noFill/>
        </p:spPr>
        <p:txBody>
          <a:bodyPr wrap="square" lIns="0" rIns="0" tIns="0" bIns="0">
            <a:spAutoFit/>
          </a:bodyPr>
          <a:lstStyle/>
          <a:p>
            <a:pPr algn="r" rtl="1">
              <a:lnSpc>
                <a:spcPct val="118000"/>
              </a:lnSpc>
              <a:spcAft>
                <a:spcPts val="500"/>
              </a:spcAft>
            </a:pPr>
            <a:r>
              <a:rPr sz="1800" b="0" lang="he-IL">
                <a:solidFill>
                  <a:srgbClr val="6B6879"/>
                </a:solidFill>
                <a:latin typeface="Arial"/>
              </a:rPr>
              <a:t>ילדים משתתפים, מגיבים במחוות ומשפיעים זה על החוויה של זה — בתוך מסגרת מוגדרת</a:t>
            </a:r>
          </a:p>
        </p:txBody>
      </p:sp>
      <p:sp>
        <p:nvSpPr>
          <p:cNvPr id="7" name="Rectangle 6"/>
          <p:cNvSpPr/>
          <p:nvPr/>
        </p:nvSpPr>
        <p:spPr>
          <a:xfrm>
            <a:off x="548640" y="6332220"/>
            <a:ext cx="11094720" cy="15240"/>
          </a:xfrm>
          <a:prstGeom prst="rect">
            <a:avLst/>
          </a:prstGeom>
          <a:solidFill>
            <a:srgbClr val="E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15000" y="6492240"/>
            <a:ext cx="5905500" cy="198120"/>
          </a:xfrm>
          <a:prstGeom prst="rect">
            <a:avLst/>
          </a:prstGeom>
          <a:noFill/>
        </p:spPr>
        <p:txBody>
          <a:bodyPr wrap="square" lIns="0" rIns="0" tIns="0" bIns="0">
            <a:spAutoFit/>
          </a:bodyPr>
          <a:lstStyle/>
          <a:p>
            <a:pPr algn="r" rtl="1">
              <a:lnSpc>
                <a:spcPct val="118000"/>
              </a:lnSpc>
              <a:spcAft>
                <a:spcPts val="500"/>
              </a:spcAft>
            </a:pPr>
            <a:r>
              <a:rPr sz="1140" b="0" lang="he-IL">
                <a:solidFill>
                  <a:srgbClr val="6B6879"/>
                </a:solidFill>
                <a:latin typeface="Arial"/>
              </a:rPr>
              <a:t>הצעת מוצר לשיחה עם העמותה  ·  אוקטובר 2026</a:t>
            </a:r>
          </a:p>
        </p:txBody>
      </p:sp>
      <p:sp>
        <p:nvSpPr>
          <p:cNvPr id="9" name="TextBox 8"/>
          <p:cNvSpPr txBox="1"/>
          <p:nvPr/>
        </p:nvSpPr>
        <p:spPr>
          <a:xfrm>
            <a:off x="571500" y="6469380"/>
            <a:ext cx="571500" cy="228600"/>
          </a:xfrm>
          <a:prstGeom prst="rect">
            <a:avLst/>
          </a:prstGeom>
          <a:noFill/>
        </p:spPr>
        <p:txBody>
          <a:bodyPr wrap="square" lIns="0" rIns="0" tIns="0" bIns="0">
            <a:spAutoFit/>
          </a:bodyPr>
          <a:lstStyle/>
          <a:p>
            <a:pPr algn="l" rtl="1">
              <a:lnSpc>
                <a:spcPct val="118000"/>
              </a:lnSpc>
              <a:spcAft>
                <a:spcPts val="500"/>
              </a:spcAft>
            </a:pPr>
            <a:r>
              <a:rPr sz="1320" b="1" lang="he-IL">
                <a:solidFill>
                  <a:srgbClr val="7650D5"/>
                </a:solidFill>
                <a:latin typeface="Arial"/>
              </a:rPr>
              <a:t>05</a:t>
            </a:r>
          </a:p>
        </p:txBody>
      </p:sp>
      <p:sp>
        <p:nvSpPr>
          <p:cNvPr id="10" name="Rounded Rectangle 9"/>
          <p:cNvSpPr/>
          <p:nvPr/>
        </p:nvSpPr>
        <p:spPr>
          <a:xfrm>
            <a:off x="8877300" y="2705100"/>
            <a:ext cx="2590800" cy="26289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60180" y="2880360"/>
            <a:ext cx="2225040" cy="320040"/>
          </a:xfrm>
          <a:prstGeom prst="rect">
            <a:avLst/>
          </a:prstGeom>
          <a:noFill/>
        </p:spPr>
        <p:txBody>
          <a:bodyPr wrap="square" lIns="0" rIns="0" tIns="0" bIns="0">
            <a:spAutoFit/>
          </a:bodyPr>
          <a:lstStyle/>
          <a:p>
            <a:pPr algn="r" rtl="1">
              <a:lnSpc>
                <a:spcPct val="118000"/>
              </a:lnSpc>
              <a:spcAft>
                <a:spcPts val="500"/>
              </a:spcAft>
            </a:pPr>
            <a:r>
              <a:rPr sz="1739" b="1" lang="he-IL">
                <a:solidFill>
                  <a:srgbClr val="167E76"/>
                </a:solidFill>
                <a:latin typeface="Arial"/>
              </a:rPr>
              <a:t>01</a:t>
            </a:r>
          </a:p>
        </p:txBody>
      </p:sp>
      <p:sp>
        <p:nvSpPr>
          <p:cNvPr id="12" name="TextBox 11"/>
          <p:cNvSpPr txBox="1"/>
          <p:nvPr/>
        </p:nvSpPr>
        <p:spPr>
          <a:xfrm>
            <a:off x="9060180" y="3337560"/>
            <a:ext cx="2225040" cy="701040"/>
          </a:xfrm>
          <a:prstGeom prst="rect">
            <a:avLst/>
          </a:prstGeom>
          <a:noFill/>
        </p:spPr>
        <p:txBody>
          <a:bodyPr wrap="square" lIns="0" rIns="0" tIns="0" bIns="0">
            <a:spAutoFit/>
          </a:bodyPr>
          <a:lstStyle/>
          <a:p>
            <a:pPr algn="r" rtl="1">
              <a:lnSpc>
                <a:spcPct val="118000"/>
              </a:lnSpc>
              <a:spcAft>
                <a:spcPts val="500"/>
              </a:spcAft>
            </a:pPr>
            <a:r>
              <a:rPr sz="2220" b="1" lang="he-IL">
                <a:solidFill>
                  <a:srgbClr val="242139"/>
                </a:solidFill>
                <a:latin typeface="Arial"/>
              </a:rPr>
              <a:t>מוצאים משותף</a:t>
            </a:r>
          </a:p>
        </p:txBody>
      </p:sp>
      <p:sp>
        <p:nvSpPr>
          <p:cNvPr id="13" name="TextBox 12"/>
          <p:cNvSpPr txBox="1"/>
          <p:nvPr/>
        </p:nvSpPr>
        <p:spPr>
          <a:xfrm>
            <a:off x="9060180" y="4137660"/>
            <a:ext cx="2225040" cy="110490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תחושות דומות</a:t>
            </a:r>
          </a:p>
          <a:p>
            <a:pPr algn="r" rtl="1">
              <a:lnSpc>
                <a:spcPct val="118000"/>
              </a:lnSpc>
              <a:spcAft>
                <a:spcPts val="500"/>
              </a:spcAft>
            </a:pPr>
            <a:r>
              <a:rPr sz="1739" b="0" lang="he-IL">
                <a:solidFill>
                  <a:srgbClr val="6B6879"/>
                </a:solidFill>
                <a:latin typeface="Arial"/>
              </a:rPr>
              <a:t>ותחומי עניין</a:t>
            </a:r>
          </a:p>
        </p:txBody>
      </p:sp>
      <p:sp>
        <p:nvSpPr>
          <p:cNvPr id="14" name="Rounded Rectangle 13"/>
          <p:cNvSpPr/>
          <p:nvPr/>
        </p:nvSpPr>
        <p:spPr>
          <a:xfrm>
            <a:off x="6096000" y="2705100"/>
            <a:ext cx="2590800" cy="26289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78880" y="2880360"/>
            <a:ext cx="2225040" cy="320040"/>
          </a:xfrm>
          <a:prstGeom prst="rect">
            <a:avLst/>
          </a:prstGeom>
          <a:noFill/>
        </p:spPr>
        <p:txBody>
          <a:bodyPr wrap="square" lIns="0" rIns="0" tIns="0" bIns="0">
            <a:spAutoFit/>
          </a:bodyPr>
          <a:lstStyle/>
          <a:p>
            <a:pPr algn="r" rtl="1">
              <a:lnSpc>
                <a:spcPct val="118000"/>
              </a:lnSpc>
              <a:spcAft>
                <a:spcPts val="500"/>
              </a:spcAft>
            </a:pPr>
            <a:r>
              <a:rPr sz="1739" b="1" lang="he-IL">
                <a:solidFill>
                  <a:srgbClr val="167E76"/>
                </a:solidFill>
                <a:latin typeface="Arial"/>
              </a:rPr>
              <a:t>02</a:t>
            </a:r>
          </a:p>
        </p:txBody>
      </p:sp>
      <p:sp>
        <p:nvSpPr>
          <p:cNvPr id="16" name="TextBox 15"/>
          <p:cNvSpPr txBox="1"/>
          <p:nvPr/>
        </p:nvSpPr>
        <p:spPr>
          <a:xfrm>
            <a:off x="6278880" y="3337560"/>
            <a:ext cx="2225040" cy="701040"/>
          </a:xfrm>
          <a:prstGeom prst="rect">
            <a:avLst/>
          </a:prstGeom>
          <a:noFill/>
        </p:spPr>
        <p:txBody>
          <a:bodyPr wrap="square" lIns="0" rIns="0" tIns="0" bIns="0">
            <a:spAutoFit/>
          </a:bodyPr>
          <a:lstStyle/>
          <a:p>
            <a:pPr algn="r" rtl="1">
              <a:lnSpc>
                <a:spcPct val="118000"/>
              </a:lnSpc>
              <a:spcAft>
                <a:spcPts val="500"/>
              </a:spcAft>
            </a:pPr>
            <a:r>
              <a:rPr sz="2220" b="1" lang="he-IL">
                <a:solidFill>
                  <a:srgbClr val="242139"/>
                </a:solidFill>
                <a:latin typeface="Arial"/>
              </a:rPr>
              <a:t>משתתפים</a:t>
            </a:r>
          </a:p>
        </p:txBody>
      </p:sp>
      <p:sp>
        <p:nvSpPr>
          <p:cNvPr id="17" name="TextBox 16"/>
          <p:cNvSpPr txBox="1"/>
          <p:nvPr/>
        </p:nvSpPr>
        <p:spPr>
          <a:xfrm>
            <a:off x="6278880" y="4137660"/>
            <a:ext cx="2225040" cy="110490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ילד שואל בסקר</a:t>
            </a:r>
          </a:p>
          <a:p>
            <a:pPr algn="r" rtl="1">
              <a:lnSpc>
                <a:spcPct val="118000"/>
              </a:lnSpc>
              <a:spcAft>
                <a:spcPts val="500"/>
              </a:spcAft>
            </a:pPr>
            <a:r>
              <a:rPr sz="1739" b="0" lang="he-IL">
                <a:solidFill>
                  <a:srgbClr val="6B6879"/>
                </a:solidFill>
                <a:latin typeface="Arial"/>
              </a:rPr>
              <a:t>וילדים אחרים בוחרים</a:t>
            </a:r>
          </a:p>
        </p:txBody>
      </p:sp>
      <p:sp>
        <p:nvSpPr>
          <p:cNvPr id="18" name="Rounded Rectangle 17"/>
          <p:cNvSpPr/>
          <p:nvPr/>
        </p:nvSpPr>
        <p:spPr>
          <a:xfrm>
            <a:off x="3314700" y="2705100"/>
            <a:ext cx="2590800" cy="26289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97580" y="2880360"/>
            <a:ext cx="2225040" cy="320040"/>
          </a:xfrm>
          <a:prstGeom prst="rect">
            <a:avLst/>
          </a:prstGeom>
          <a:noFill/>
        </p:spPr>
        <p:txBody>
          <a:bodyPr wrap="square" lIns="0" rIns="0" tIns="0" bIns="0">
            <a:spAutoFit/>
          </a:bodyPr>
          <a:lstStyle/>
          <a:p>
            <a:pPr algn="r" rtl="1">
              <a:lnSpc>
                <a:spcPct val="118000"/>
              </a:lnSpc>
              <a:spcAft>
                <a:spcPts val="500"/>
              </a:spcAft>
            </a:pPr>
            <a:r>
              <a:rPr sz="1739" b="1" lang="he-IL">
                <a:solidFill>
                  <a:srgbClr val="167E76"/>
                </a:solidFill>
                <a:latin typeface="Arial"/>
              </a:rPr>
              <a:t>03</a:t>
            </a:r>
          </a:p>
        </p:txBody>
      </p:sp>
      <p:sp>
        <p:nvSpPr>
          <p:cNvPr id="20" name="TextBox 19"/>
          <p:cNvSpPr txBox="1"/>
          <p:nvPr/>
        </p:nvSpPr>
        <p:spPr>
          <a:xfrm>
            <a:off x="3497580" y="3337560"/>
            <a:ext cx="2225040" cy="701040"/>
          </a:xfrm>
          <a:prstGeom prst="rect">
            <a:avLst/>
          </a:prstGeom>
          <a:noFill/>
        </p:spPr>
        <p:txBody>
          <a:bodyPr wrap="square" lIns="0" rIns="0" tIns="0" bIns="0">
            <a:spAutoFit/>
          </a:bodyPr>
          <a:lstStyle/>
          <a:p>
            <a:pPr algn="r" rtl="1">
              <a:lnSpc>
                <a:spcPct val="118000"/>
              </a:lnSpc>
              <a:spcAft>
                <a:spcPts val="500"/>
              </a:spcAft>
            </a:pPr>
            <a:r>
              <a:rPr sz="2220" b="1" lang="he-IL">
                <a:solidFill>
                  <a:srgbClr val="242139"/>
                </a:solidFill>
                <a:latin typeface="Arial"/>
              </a:rPr>
              <a:t>נותנים ומקבלים</a:t>
            </a:r>
          </a:p>
        </p:txBody>
      </p:sp>
      <p:sp>
        <p:nvSpPr>
          <p:cNvPr id="21" name="TextBox 20"/>
          <p:cNvSpPr txBox="1"/>
          <p:nvPr/>
        </p:nvSpPr>
        <p:spPr>
          <a:xfrm>
            <a:off x="3497580" y="4137660"/>
            <a:ext cx="2225040" cy="110490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חיבוק או מתנה</a:t>
            </a:r>
          </a:p>
          <a:p>
            <a:pPr algn="r" rtl="1">
              <a:lnSpc>
                <a:spcPct val="118000"/>
              </a:lnSpc>
              <a:spcAft>
                <a:spcPts val="500"/>
              </a:spcAft>
            </a:pPr>
            <a:r>
              <a:rPr sz="1739" b="0" lang="he-IL">
                <a:solidFill>
                  <a:srgbClr val="6B6879"/>
                </a:solidFill>
                <a:latin typeface="Arial"/>
              </a:rPr>
              <a:t>מילד לילד, בעילום שם</a:t>
            </a:r>
          </a:p>
        </p:txBody>
      </p:sp>
      <p:sp>
        <p:nvSpPr>
          <p:cNvPr id="22" name="Rounded Rectangle 21"/>
          <p:cNvSpPr/>
          <p:nvPr/>
        </p:nvSpPr>
        <p:spPr>
          <a:xfrm>
            <a:off x="533400" y="2705100"/>
            <a:ext cx="2590800" cy="2628900"/>
          </a:xfrm>
          <a:prstGeom prst="roundRect">
            <a:avLst>
              <a:gd name="adj" fmla="val 12000"/>
            </a:avLst>
          </a:prstGeom>
          <a:solidFill>
            <a:srgbClr val="EDE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6280" y="2880360"/>
            <a:ext cx="2225040" cy="320040"/>
          </a:xfrm>
          <a:prstGeom prst="rect">
            <a:avLst/>
          </a:prstGeom>
          <a:noFill/>
        </p:spPr>
        <p:txBody>
          <a:bodyPr wrap="square" lIns="0" rIns="0" tIns="0" bIns="0">
            <a:spAutoFit/>
          </a:bodyPr>
          <a:lstStyle/>
          <a:p>
            <a:pPr algn="r" rtl="1">
              <a:lnSpc>
                <a:spcPct val="118000"/>
              </a:lnSpc>
              <a:spcAft>
                <a:spcPts val="500"/>
              </a:spcAft>
            </a:pPr>
            <a:r>
              <a:rPr sz="1739" b="1" lang="he-IL">
                <a:solidFill>
                  <a:srgbClr val="167E76"/>
                </a:solidFill>
                <a:latin typeface="Arial"/>
              </a:rPr>
              <a:t>04</a:t>
            </a:r>
          </a:p>
        </p:txBody>
      </p:sp>
      <p:sp>
        <p:nvSpPr>
          <p:cNvPr id="24" name="TextBox 23"/>
          <p:cNvSpPr txBox="1"/>
          <p:nvPr/>
        </p:nvSpPr>
        <p:spPr>
          <a:xfrm>
            <a:off x="716280" y="3337560"/>
            <a:ext cx="2225040" cy="701040"/>
          </a:xfrm>
          <a:prstGeom prst="rect">
            <a:avLst/>
          </a:prstGeom>
          <a:noFill/>
        </p:spPr>
        <p:txBody>
          <a:bodyPr wrap="square" lIns="0" rIns="0" tIns="0" bIns="0">
            <a:spAutoFit/>
          </a:bodyPr>
          <a:lstStyle/>
          <a:p>
            <a:pPr algn="r" rtl="1">
              <a:lnSpc>
                <a:spcPct val="118000"/>
              </a:lnSpc>
              <a:spcAft>
                <a:spcPts val="500"/>
              </a:spcAft>
            </a:pPr>
            <a:r>
              <a:rPr sz="2220" b="1" lang="he-IL">
                <a:solidFill>
                  <a:srgbClr val="242139"/>
                </a:solidFill>
                <a:latin typeface="Arial"/>
              </a:rPr>
              <a:t>צומחים</a:t>
            </a:r>
          </a:p>
        </p:txBody>
      </p:sp>
      <p:sp>
        <p:nvSpPr>
          <p:cNvPr id="25" name="TextBox 24"/>
          <p:cNvSpPr txBox="1"/>
          <p:nvPr/>
        </p:nvSpPr>
        <p:spPr>
          <a:xfrm>
            <a:off x="716280" y="4137660"/>
            <a:ext cx="2225040" cy="110490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הצמח האישי מניב</a:t>
            </a:r>
          </a:p>
          <a:p>
            <a:pPr algn="r" rtl="1">
              <a:lnSpc>
                <a:spcPct val="118000"/>
              </a:lnSpc>
              <a:spcAft>
                <a:spcPts val="500"/>
              </a:spcAft>
            </a:pPr>
            <a:r>
              <a:rPr sz="1739" b="0" lang="he-IL">
                <a:solidFill>
                  <a:srgbClr val="6B6879"/>
                </a:solidFill>
                <a:latin typeface="Arial"/>
              </a:rPr>
              <a:t>פירות שאפשר לתת</a:t>
            </a:r>
          </a:p>
        </p:txBody>
      </p:sp>
      <p:sp>
        <p:nvSpPr>
          <p:cNvPr id="26" name="Rounded Rectangle 25"/>
          <p:cNvSpPr/>
          <p:nvPr/>
        </p:nvSpPr>
        <p:spPr>
          <a:xfrm>
            <a:off x="609600" y="5707380"/>
            <a:ext cx="10972800" cy="464820"/>
          </a:xfrm>
          <a:prstGeom prst="roundRect">
            <a:avLst>
              <a:gd name="adj" fmla="val 12000"/>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2480" y="5806440"/>
            <a:ext cx="10607040" cy="304800"/>
          </a:xfrm>
          <a:prstGeom prst="rect">
            <a:avLst/>
          </a:prstGeom>
          <a:noFill/>
        </p:spPr>
        <p:txBody>
          <a:bodyPr wrap="square" lIns="0" rIns="0" tIns="0" bIns="0">
            <a:spAutoFit/>
          </a:bodyPr>
          <a:lstStyle/>
          <a:p>
            <a:pPr algn="r" rtl="1">
              <a:lnSpc>
                <a:spcPct val="118000"/>
              </a:lnSpc>
              <a:spcAft>
                <a:spcPts val="500"/>
              </a:spcAft>
            </a:pPr>
            <a:r>
              <a:rPr sz="1620" b="1" lang="he-IL">
                <a:solidFill>
                  <a:srgbClr val="167E76"/>
                </a:solidFill>
                <a:latin typeface="Arial"/>
              </a:rPr>
              <a:t>לכל אינטראקציה יש צורה מוגדרת: בחירה בסקר, חיבוק או מתנה — בלי לפתוח ערוץ לפגיעה ישירה.</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ounded Rectangle 1"/>
          <p:cNvSpPr/>
          <p:nvPr/>
        </p:nvSpPr>
        <p:spPr>
          <a:xfrm>
            <a:off x="11567160" y="472440"/>
            <a:ext cx="76200" cy="350520"/>
          </a:xfrm>
          <a:prstGeom prst="roundRect">
            <a:avLst>
              <a:gd name="adj" fmla="val 12000"/>
            </a:avLst>
          </a:prstGeom>
          <a:solidFill>
            <a:srgbClr val="765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62600" y="502920"/>
            <a:ext cx="5753100" cy="274320"/>
          </a:xfrm>
          <a:prstGeom prst="rect">
            <a:avLst/>
          </a:prstGeom>
          <a:noFill/>
        </p:spPr>
        <p:txBody>
          <a:bodyPr wrap="square" lIns="0" rIns="0" tIns="0" bIns="0">
            <a:spAutoFit/>
          </a:bodyPr>
          <a:lstStyle/>
          <a:p>
            <a:pPr algn="r" rtl="1">
              <a:lnSpc>
                <a:spcPct val="118000"/>
              </a:lnSpc>
              <a:spcAft>
                <a:spcPts val="500"/>
              </a:spcAft>
            </a:pPr>
            <a:r>
              <a:rPr sz="1439" b="1" lang="he-IL">
                <a:solidFill>
                  <a:srgbClr val="167E76"/>
                </a:solidFill>
                <a:latin typeface="Arial"/>
              </a:rPr>
              <a:t>מפת האפליקציה</a:t>
            </a:r>
          </a:p>
        </p:txBody>
      </p:sp>
      <p:sp>
        <p:nvSpPr>
          <p:cNvPr id="4" name="TextBox 3"/>
          <p:cNvSpPr txBox="1"/>
          <p:nvPr/>
        </p:nvSpPr>
        <p:spPr>
          <a:xfrm>
            <a:off x="548640" y="472440"/>
            <a:ext cx="1524000" cy="342900"/>
          </a:xfrm>
          <a:prstGeom prst="rect">
            <a:avLst/>
          </a:prstGeom>
          <a:noFill/>
        </p:spPr>
        <p:txBody>
          <a:bodyPr wrap="square" lIns="0" rIns="0" tIns="0" bIns="0">
            <a:spAutoFit/>
          </a:bodyPr>
          <a:lstStyle/>
          <a:p>
            <a:pPr algn="l" rtl="1">
              <a:lnSpc>
                <a:spcPct val="118000"/>
              </a:lnSpc>
              <a:spcAft>
                <a:spcPts val="500"/>
              </a:spcAft>
            </a:pPr>
            <a:r>
              <a:rPr sz="1920" b="1" lang="he-IL">
                <a:solidFill>
                  <a:srgbClr val="7650D5"/>
                </a:solidFill>
                <a:latin typeface="Arial"/>
              </a:rPr>
              <a:t>FeelIt</a:t>
            </a:r>
          </a:p>
        </p:txBody>
      </p:sp>
      <p:sp>
        <p:nvSpPr>
          <p:cNvPr id="5" name="TextBox 4"/>
          <p:cNvSpPr txBox="1"/>
          <p:nvPr/>
        </p:nvSpPr>
        <p:spPr>
          <a:xfrm>
            <a:off x="548640" y="1043940"/>
            <a:ext cx="11094720" cy="716280"/>
          </a:xfrm>
          <a:prstGeom prst="rect">
            <a:avLst/>
          </a:prstGeom>
          <a:noFill/>
        </p:spPr>
        <p:txBody>
          <a:bodyPr wrap="square" lIns="0" rIns="0" tIns="0" bIns="0">
            <a:spAutoFit/>
          </a:bodyPr>
          <a:lstStyle/>
          <a:p>
            <a:pPr algn="r" rtl="1">
              <a:lnSpc>
                <a:spcPct val="118000"/>
              </a:lnSpc>
              <a:spcAft>
                <a:spcPts val="500"/>
              </a:spcAft>
            </a:pPr>
            <a:r>
              <a:rPr sz="3660" b="1" lang="he-IL">
                <a:solidFill>
                  <a:srgbClr val="242139"/>
                </a:solidFill>
                <a:latin typeface="Arial"/>
              </a:rPr>
              <a:t>ארבעה עולמות, מרחב משותף אחד</a:t>
            </a:r>
          </a:p>
        </p:txBody>
      </p:sp>
      <p:sp>
        <p:nvSpPr>
          <p:cNvPr id="6" name="TextBox 5"/>
          <p:cNvSpPr txBox="1"/>
          <p:nvPr/>
        </p:nvSpPr>
        <p:spPr>
          <a:xfrm>
            <a:off x="609600" y="1844040"/>
            <a:ext cx="10972800" cy="647700"/>
          </a:xfrm>
          <a:prstGeom prst="rect">
            <a:avLst/>
          </a:prstGeom>
          <a:noFill/>
        </p:spPr>
        <p:txBody>
          <a:bodyPr wrap="square" lIns="0" rIns="0" tIns="0" bIns="0">
            <a:spAutoFit/>
          </a:bodyPr>
          <a:lstStyle/>
          <a:p>
            <a:pPr algn="r" rtl="1">
              <a:lnSpc>
                <a:spcPct val="118000"/>
              </a:lnSpc>
              <a:spcAft>
                <a:spcPts val="500"/>
              </a:spcAft>
            </a:pPr>
            <a:r>
              <a:rPr sz="1800" b="0" lang="he-IL">
                <a:solidFill>
                  <a:srgbClr val="6B6879"/>
                </a:solidFill>
                <a:latin typeface="Arial"/>
              </a:rPr>
              <a:t>מקום אישי לצמוח, לבטא רגשות, להשתתף עם אחרים ולשתף במה שעבר עליי</a:t>
            </a:r>
          </a:p>
        </p:txBody>
      </p:sp>
      <p:sp>
        <p:nvSpPr>
          <p:cNvPr id="7" name="Rectangle 6"/>
          <p:cNvSpPr/>
          <p:nvPr/>
        </p:nvSpPr>
        <p:spPr>
          <a:xfrm>
            <a:off x="548640" y="6332220"/>
            <a:ext cx="11094720" cy="15240"/>
          </a:xfrm>
          <a:prstGeom prst="rect">
            <a:avLst/>
          </a:prstGeom>
          <a:solidFill>
            <a:srgbClr val="E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15000" y="6492240"/>
            <a:ext cx="5905500" cy="198120"/>
          </a:xfrm>
          <a:prstGeom prst="rect">
            <a:avLst/>
          </a:prstGeom>
          <a:noFill/>
        </p:spPr>
        <p:txBody>
          <a:bodyPr wrap="square" lIns="0" rIns="0" tIns="0" bIns="0">
            <a:spAutoFit/>
          </a:bodyPr>
          <a:lstStyle/>
          <a:p>
            <a:pPr algn="r" rtl="1">
              <a:lnSpc>
                <a:spcPct val="118000"/>
              </a:lnSpc>
              <a:spcAft>
                <a:spcPts val="500"/>
              </a:spcAft>
            </a:pPr>
            <a:r>
              <a:rPr sz="1140" b="0" lang="he-IL">
                <a:solidFill>
                  <a:srgbClr val="6B6879"/>
                </a:solidFill>
                <a:latin typeface="Arial"/>
              </a:rPr>
              <a:t>הצעת מוצר לשיחה עם העמותה  ·  אוקטובר 2026</a:t>
            </a:r>
          </a:p>
        </p:txBody>
      </p:sp>
      <p:sp>
        <p:nvSpPr>
          <p:cNvPr id="9" name="TextBox 8"/>
          <p:cNvSpPr txBox="1"/>
          <p:nvPr/>
        </p:nvSpPr>
        <p:spPr>
          <a:xfrm>
            <a:off x="571500" y="6469380"/>
            <a:ext cx="571500" cy="228600"/>
          </a:xfrm>
          <a:prstGeom prst="rect">
            <a:avLst/>
          </a:prstGeom>
          <a:noFill/>
        </p:spPr>
        <p:txBody>
          <a:bodyPr wrap="square" lIns="0" rIns="0" tIns="0" bIns="0">
            <a:spAutoFit/>
          </a:bodyPr>
          <a:lstStyle/>
          <a:p>
            <a:pPr algn="l" rtl="1">
              <a:lnSpc>
                <a:spcPct val="118000"/>
              </a:lnSpc>
              <a:spcAft>
                <a:spcPts val="500"/>
              </a:spcAft>
            </a:pPr>
            <a:r>
              <a:rPr sz="1320" b="1" lang="he-IL">
                <a:solidFill>
                  <a:srgbClr val="7650D5"/>
                </a:solidFill>
                <a:latin typeface="Arial"/>
              </a:rPr>
              <a:t>06</a:t>
            </a:r>
          </a:p>
        </p:txBody>
      </p:sp>
      <p:sp>
        <p:nvSpPr>
          <p:cNvPr id="10" name="Rounded Rectangle 9"/>
          <p:cNvSpPr/>
          <p:nvPr/>
        </p:nvSpPr>
        <p:spPr>
          <a:xfrm>
            <a:off x="6210300" y="2567940"/>
            <a:ext cx="5372100" cy="1600200"/>
          </a:xfrm>
          <a:prstGeom prst="roundRect">
            <a:avLst>
              <a:gd name="adj" fmla="val 12000"/>
            </a:avLst>
          </a:prstGeom>
          <a:solidFill>
            <a:srgbClr val="EDE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3660" y="2720340"/>
            <a:ext cx="4945380" cy="259080"/>
          </a:xfrm>
          <a:prstGeom prst="rect">
            <a:avLst/>
          </a:prstGeom>
          <a:noFill/>
        </p:spPr>
        <p:txBody>
          <a:bodyPr wrap="square" lIns="0" rIns="0" tIns="0" bIns="0">
            <a:spAutoFit/>
          </a:bodyPr>
          <a:lstStyle/>
          <a:p>
            <a:pPr algn="r" rtl="1">
              <a:lnSpc>
                <a:spcPct val="118000"/>
              </a:lnSpc>
              <a:spcAft>
                <a:spcPts val="500"/>
              </a:spcAft>
            </a:pPr>
            <a:r>
              <a:rPr sz="1439" b="1" lang="he-IL">
                <a:solidFill>
                  <a:srgbClr val="167E76"/>
                </a:solidFill>
                <a:latin typeface="Arial"/>
              </a:rPr>
              <a:t>הצמח שלי</a:t>
            </a:r>
          </a:p>
        </p:txBody>
      </p:sp>
      <p:sp>
        <p:nvSpPr>
          <p:cNvPr id="12" name="TextBox 11"/>
          <p:cNvSpPr txBox="1"/>
          <p:nvPr/>
        </p:nvSpPr>
        <p:spPr>
          <a:xfrm>
            <a:off x="6423660" y="3070860"/>
            <a:ext cx="4945380" cy="411480"/>
          </a:xfrm>
          <a:prstGeom prst="rect">
            <a:avLst/>
          </a:prstGeom>
          <a:noFill/>
        </p:spPr>
        <p:txBody>
          <a:bodyPr wrap="square" lIns="0" rIns="0" tIns="0" bIns="0">
            <a:spAutoFit/>
          </a:bodyPr>
          <a:lstStyle/>
          <a:p>
            <a:pPr algn="r" rtl="1">
              <a:lnSpc>
                <a:spcPct val="118000"/>
              </a:lnSpc>
              <a:spcAft>
                <a:spcPts val="500"/>
              </a:spcAft>
            </a:pPr>
            <a:r>
              <a:rPr sz="2220" b="1" lang="he-IL">
                <a:solidFill>
                  <a:srgbClr val="242139"/>
                </a:solidFill>
                <a:latin typeface="Arial"/>
              </a:rPr>
              <a:t>פרופיל אישי שצומח איתי</a:t>
            </a:r>
          </a:p>
        </p:txBody>
      </p:sp>
      <p:sp>
        <p:nvSpPr>
          <p:cNvPr id="13" name="TextBox 12"/>
          <p:cNvSpPr txBox="1"/>
          <p:nvPr/>
        </p:nvSpPr>
        <p:spPr>
          <a:xfrm>
            <a:off x="6423660" y="3566160"/>
            <a:ext cx="4945380" cy="563880"/>
          </a:xfrm>
          <a:prstGeom prst="rect">
            <a:avLst/>
          </a:prstGeom>
          <a:noFill/>
        </p:spPr>
        <p:txBody>
          <a:bodyPr wrap="square" lIns="0" rIns="0" tIns="0" bIns="0">
            <a:spAutoFit/>
          </a:bodyPr>
          <a:lstStyle/>
          <a:p>
            <a:pPr algn="r" rtl="1">
              <a:lnSpc>
                <a:spcPct val="118000"/>
              </a:lnSpc>
              <a:spcAft>
                <a:spcPts val="500"/>
              </a:spcAft>
            </a:pPr>
            <a:r>
              <a:rPr sz="1620" b="0" lang="he-IL">
                <a:solidFill>
                  <a:srgbClr val="6B6879"/>
                </a:solidFill>
                <a:latin typeface="Arial"/>
              </a:rPr>
              <a:t>צמח שמייצג אותי, מדבקות שמבטאות מה אני אוהב</a:t>
            </a:r>
          </a:p>
          <a:p>
            <a:pPr algn="r" rtl="1">
              <a:lnSpc>
                <a:spcPct val="118000"/>
              </a:lnSpc>
              <a:spcAft>
                <a:spcPts val="500"/>
              </a:spcAft>
            </a:pPr>
            <a:r>
              <a:rPr sz="1620" b="0" lang="he-IL">
                <a:solidFill>
                  <a:srgbClr val="6B6879"/>
                </a:solidFill>
                <a:latin typeface="Arial"/>
              </a:rPr>
              <a:t>ופירות שאפשר לתת לילדים אחרים.</a:t>
            </a:r>
          </a:p>
        </p:txBody>
      </p:sp>
      <p:sp>
        <p:nvSpPr>
          <p:cNvPr id="14" name="Rounded Rectangle 13"/>
          <p:cNvSpPr/>
          <p:nvPr/>
        </p:nvSpPr>
        <p:spPr>
          <a:xfrm>
            <a:off x="609600" y="2567940"/>
            <a:ext cx="5372100" cy="1600200"/>
          </a:xfrm>
          <a:prstGeom prst="roundRect">
            <a:avLst>
              <a:gd name="adj" fmla="val 12000"/>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720340"/>
            <a:ext cx="4945380" cy="259080"/>
          </a:xfrm>
          <a:prstGeom prst="rect">
            <a:avLst/>
          </a:prstGeom>
          <a:noFill/>
        </p:spPr>
        <p:txBody>
          <a:bodyPr wrap="square" lIns="0" rIns="0" tIns="0" bIns="0">
            <a:spAutoFit/>
          </a:bodyPr>
          <a:lstStyle/>
          <a:p>
            <a:pPr algn="r" rtl="1">
              <a:lnSpc>
                <a:spcPct val="118000"/>
              </a:lnSpc>
              <a:spcAft>
                <a:spcPts val="500"/>
              </a:spcAft>
            </a:pPr>
            <a:r>
              <a:rPr sz="1439" b="1" lang="he-IL">
                <a:solidFill>
                  <a:srgbClr val="167E76"/>
                </a:solidFill>
                <a:latin typeface="Arial"/>
              </a:rPr>
              <a:t>פתיחה</a:t>
            </a:r>
          </a:p>
        </p:txBody>
      </p:sp>
      <p:sp>
        <p:nvSpPr>
          <p:cNvPr id="16" name="TextBox 15"/>
          <p:cNvSpPr txBox="1"/>
          <p:nvPr/>
        </p:nvSpPr>
        <p:spPr>
          <a:xfrm>
            <a:off x="822960" y="3070860"/>
            <a:ext cx="4945380" cy="411480"/>
          </a:xfrm>
          <a:prstGeom prst="rect">
            <a:avLst/>
          </a:prstGeom>
          <a:noFill/>
        </p:spPr>
        <p:txBody>
          <a:bodyPr wrap="square" lIns="0" rIns="0" tIns="0" bIns="0">
            <a:spAutoFit/>
          </a:bodyPr>
          <a:lstStyle/>
          <a:p>
            <a:pPr algn="r" rtl="1">
              <a:lnSpc>
                <a:spcPct val="118000"/>
              </a:lnSpc>
              <a:spcAft>
                <a:spcPts val="500"/>
              </a:spcAft>
            </a:pPr>
            <a:r>
              <a:rPr sz="2220" b="1" lang="he-IL">
                <a:solidFill>
                  <a:srgbClr val="242139"/>
                </a:solidFill>
                <a:latin typeface="Arial"/>
              </a:rPr>
              <a:t>שיתוף רגשות יומי</a:t>
            </a:r>
          </a:p>
        </p:txBody>
      </p:sp>
      <p:sp>
        <p:nvSpPr>
          <p:cNvPr id="17" name="TextBox 16"/>
          <p:cNvSpPr txBox="1"/>
          <p:nvPr/>
        </p:nvSpPr>
        <p:spPr>
          <a:xfrm>
            <a:off x="822960" y="3566160"/>
            <a:ext cx="4945380" cy="563880"/>
          </a:xfrm>
          <a:prstGeom prst="rect">
            <a:avLst/>
          </a:prstGeom>
          <a:noFill/>
        </p:spPr>
        <p:txBody>
          <a:bodyPr wrap="square" lIns="0" rIns="0" tIns="0" bIns="0">
            <a:spAutoFit/>
          </a:bodyPr>
          <a:lstStyle/>
          <a:p>
            <a:pPr algn="r" rtl="1">
              <a:lnSpc>
                <a:spcPct val="118000"/>
              </a:lnSpc>
              <a:spcAft>
                <a:spcPts val="500"/>
              </a:spcAft>
            </a:pPr>
            <a:r>
              <a:rPr sz="1620" b="0" lang="he-IL">
                <a:solidFill>
                  <a:srgbClr val="6B6879"/>
                </a:solidFill>
                <a:latin typeface="Arial"/>
              </a:rPr>
              <a:t>מבטאים איך מרגישים, מגלים שיש עוד ילדים</a:t>
            </a:r>
          </a:p>
          <a:p>
            <a:pPr algn="r" rtl="1">
              <a:lnSpc>
                <a:spcPct val="118000"/>
              </a:lnSpc>
              <a:spcAft>
                <a:spcPts val="500"/>
              </a:spcAft>
            </a:pPr>
            <a:r>
              <a:rPr sz="1620" b="0" lang="he-IL">
                <a:solidFill>
                  <a:srgbClr val="6B6879"/>
                </a:solidFill>
                <a:latin typeface="Arial"/>
              </a:rPr>
              <a:t>עם תחושות דומות ונותנים מקום למה שעובר עליי.</a:t>
            </a:r>
          </a:p>
        </p:txBody>
      </p:sp>
      <p:sp>
        <p:nvSpPr>
          <p:cNvPr id="18" name="Rounded Rectangle 17"/>
          <p:cNvSpPr/>
          <p:nvPr/>
        </p:nvSpPr>
        <p:spPr>
          <a:xfrm>
            <a:off x="6210300" y="4343400"/>
            <a:ext cx="5372100" cy="1600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3660" y="4495800"/>
            <a:ext cx="4945380" cy="259080"/>
          </a:xfrm>
          <a:prstGeom prst="rect">
            <a:avLst/>
          </a:prstGeom>
          <a:noFill/>
        </p:spPr>
        <p:txBody>
          <a:bodyPr wrap="square" lIns="0" rIns="0" tIns="0" bIns="0">
            <a:spAutoFit/>
          </a:bodyPr>
          <a:lstStyle/>
          <a:p>
            <a:pPr algn="r" rtl="1">
              <a:lnSpc>
                <a:spcPct val="118000"/>
              </a:lnSpc>
              <a:spcAft>
                <a:spcPts val="500"/>
              </a:spcAft>
            </a:pPr>
            <a:r>
              <a:rPr sz="1439" b="1" lang="he-IL">
                <a:solidFill>
                  <a:srgbClr val="167E76"/>
                </a:solidFill>
                <a:latin typeface="Arial"/>
              </a:rPr>
              <a:t>מה אומרים? · חיבוקים ומתנות</a:t>
            </a:r>
          </a:p>
        </p:txBody>
      </p:sp>
      <p:sp>
        <p:nvSpPr>
          <p:cNvPr id="20" name="TextBox 19"/>
          <p:cNvSpPr txBox="1"/>
          <p:nvPr/>
        </p:nvSpPr>
        <p:spPr>
          <a:xfrm>
            <a:off x="6423660" y="4846320"/>
            <a:ext cx="4945380" cy="411480"/>
          </a:xfrm>
          <a:prstGeom prst="rect">
            <a:avLst/>
          </a:prstGeom>
          <a:noFill/>
        </p:spPr>
        <p:txBody>
          <a:bodyPr wrap="square" lIns="0" rIns="0" tIns="0" bIns="0">
            <a:spAutoFit/>
          </a:bodyPr>
          <a:lstStyle/>
          <a:p>
            <a:pPr algn="r" rtl="1">
              <a:lnSpc>
                <a:spcPct val="118000"/>
              </a:lnSpc>
              <a:spcAft>
                <a:spcPts val="500"/>
              </a:spcAft>
            </a:pPr>
            <a:r>
              <a:rPr sz="2220" b="1" lang="he-IL">
                <a:solidFill>
                  <a:srgbClr val="242139"/>
                </a:solidFill>
                <a:latin typeface="Arial"/>
              </a:rPr>
              <a:t>קהילה ואינטראקציות בטוחות</a:t>
            </a:r>
          </a:p>
        </p:txBody>
      </p:sp>
      <p:sp>
        <p:nvSpPr>
          <p:cNvPr id="21" name="TextBox 20"/>
          <p:cNvSpPr txBox="1"/>
          <p:nvPr/>
        </p:nvSpPr>
        <p:spPr>
          <a:xfrm>
            <a:off x="6423660" y="5341620"/>
            <a:ext cx="4945380" cy="563880"/>
          </a:xfrm>
          <a:prstGeom prst="rect">
            <a:avLst/>
          </a:prstGeom>
          <a:noFill/>
        </p:spPr>
        <p:txBody>
          <a:bodyPr wrap="square" lIns="0" rIns="0" tIns="0" bIns="0">
            <a:spAutoFit/>
          </a:bodyPr>
          <a:lstStyle/>
          <a:p>
            <a:pPr algn="r" rtl="1">
              <a:lnSpc>
                <a:spcPct val="118000"/>
              </a:lnSpc>
              <a:spcAft>
                <a:spcPts val="500"/>
              </a:spcAft>
            </a:pPr>
            <a:r>
              <a:rPr sz="1620" b="0" lang="he-IL">
                <a:solidFill>
                  <a:srgbClr val="6B6879"/>
                </a:solidFill>
                <a:latin typeface="Arial"/>
              </a:rPr>
              <a:t>סקרים שמזמינים השתתפות, גילוי תחומי עניין משותפים</a:t>
            </a:r>
          </a:p>
          <a:p>
            <a:pPr algn="r" rtl="1">
              <a:lnSpc>
                <a:spcPct val="118000"/>
              </a:lnSpc>
              <a:spcAft>
                <a:spcPts val="500"/>
              </a:spcAft>
            </a:pPr>
            <a:r>
              <a:rPr sz="1620" b="0" lang="he-IL">
                <a:solidFill>
                  <a:srgbClr val="6B6879"/>
                </a:solidFill>
                <a:latin typeface="Arial"/>
              </a:rPr>
              <a:t>ונתינה וקבלה של מחוות אכפתיות בין ילדים.</a:t>
            </a:r>
          </a:p>
        </p:txBody>
      </p:sp>
      <p:sp>
        <p:nvSpPr>
          <p:cNvPr id="22" name="Rounded Rectangle 21"/>
          <p:cNvSpPr/>
          <p:nvPr/>
        </p:nvSpPr>
        <p:spPr>
          <a:xfrm>
            <a:off x="609600" y="4343400"/>
            <a:ext cx="5372100" cy="1600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495800"/>
            <a:ext cx="4945380" cy="259080"/>
          </a:xfrm>
          <a:prstGeom prst="rect">
            <a:avLst/>
          </a:prstGeom>
          <a:noFill/>
        </p:spPr>
        <p:txBody>
          <a:bodyPr wrap="square" lIns="0" rIns="0" tIns="0" bIns="0">
            <a:spAutoFit/>
          </a:bodyPr>
          <a:lstStyle/>
          <a:p>
            <a:pPr algn="r" rtl="1">
              <a:lnSpc>
                <a:spcPct val="118000"/>
              </a:lnSpc>
              <a:spcAft>
                <a:spcPts val="500"/>
              </a:spcAft>
            </a:pPr>
            <a:r>
              <a:rPr sz="1439" b="1" lang="he-IL">
                <a:solidFill>
                  <a:srgbClr val="167E76"/>
                </a:solidFill>
                <a:latin typeface="Arial"/>
              </a:rPr>
              <a:t>סוף שמח</a:t>
            </a:r>
          </a:p>
        </p:txBody>
      </p:sp>
      <p:sp>
        <p:nvSpPr>
          <p:cNvPr id="24" name="TextBox 23"/>
          <p:cNvSpPr txBox="1"/>
          <p:nvPr/>
        </p:nvSpPr>
        <p:spPr>
          <a:xfrm>
            <a:off x="822960" y="4846320"/>
            <a:ext cx="4945380" cy="411480"/>
          </a:xfrm>
          <a:prstGeom prst="rect">
            <a:avLst/>
          </a:prstGeom>
          <a:noFill/>
        </p:spPr>
        <p:txBody>
          <a:bodyPr wrap="square" lIns="0" rIns="0" tIns="0" bIns="0">
            <a:spAutoFit/>
          </a:bodyPr>
          <a:lstStyle/>
          <a:p>
            <a:pPr algn="r" rtl="1">
              <a:lnSpc>
                <a:spcPct val="118000"/>
              </a:lnSpc>
              <a:spcAft>
                <a:spcPts val="500"/>
              </a:spcAft>
            </a:pPr>
            <a:r>
              <a:rPr sz="2220" b="1" lang="he-IL">
                <a:solidFill>
                  <a:srgbClr val="242139"/>
                </a:solidFill>
                <a:latin typeface="Arial"/>
              </a:rPr>
              <a:t>שיתוף אנונימי של אירועים</a:t>
            </a:r>
          </a:p>
        </p:txBody>
      </p:sp>
      <p:sp>
        <p:nvSpPr>
          <p:cNvPr id="25" name="TextBox 24"/>
          <p:cNvSpPr txBox="1"/>
          <p:nvPr/>
        </p:nvSpPr>
        <p:spPr>
          <a:xfrm>
            <a:off x="822960" y="5341620"/>
            <a:ext cx="4945380" cy="563880"/>
          </a:xfrm>
          <a:prstGeom prst="rect">
            <a:avLst/>
          </a:prstGeom>
          <a:noFill/>
        </p:spPr>
        <p:txBody>
          <a:bodyPr wrap="square" lIns="0" rIns="0" tIns="0" bIns="0">
            <a:spAutoFit/>
          </a:bodyPr>
          <a:lstStyle/>
          <a:p>
            <a:pPr algn="r" rtl="1">
              <a:lnSpc>
                <a:spcPct val="118000"/>
              </a:lnSpc>
              <a:spcAft>
                <a:spcPts val="500"/>
              </a:spcAft>
            </a:pPr>
            <a:r>
              <a:rPr sz="1620" b="0" lang="he-IL">
                <a:solidFill>
                  <a:srgbClr val="6B6879"/>
                </a:solidFill>
                <a:latin typeface="Arial"/>
              </a:rPr>
              <a:t>משתפים במה שקרה, מקבלים חיבוק והמשך מלא תקווה</a:t>
            </a:r>
          </a:p>
          <a:p>
            <a:pPr algn="r" rtl="1">
              <a:lnSpc>
                <a:spcPct val="118000"/>
              </a:lnSpc>
              <a:spcAft>
                <a:spcPts val="500"/>
              </a:spcAft>
            </a:pPr>
            <a:r>
              <a:rPr sz="1620" b="0" lang="he-IL">
                <a:solidFill>
                  <a:srgbClr val="6B6879"/>
                </a:solidFill>
                <a:latin typeface="Arial"/>
              </a:rPr>
              <a:t>מילדים אחרים, במסגרת כללי תוכן ובקרה.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ounded Rectangle 1"/>
          <p:cNvSpPr/>
          <p:nvPr/>
        </p:nvSpPr>
        <p:spPr>
          <a:xfrm>
            <a:off x="11567160" y="472440"/>
            <a:ext cx="76200" cy="350520"/>
          </a:xfrm>
          <a:prstGeom prst="roundRect">
            <a:avLst>
              <a:gd name="adj" fmla="val 12000"/>
            </a:avLst>
          </a:prstGeom>
          <a:solidFill>
            <a:srgbClr val="765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62600" y="502920"/>
            <a:ext cx="5753100" cy="274320"/>
          </a:xfrm>
          <a:prstGeom prst="rect">
            <a:avLst/>
          </a:prstGeom>
          <a:noFill/>
        </p:spPr>
        <p:txBody>
          <a:bodyPr wrap="square" lIns="0" rIns="0" tIns="0" bIns="0">
            <a:spAutoFit/>
          </a:bodyPr>
          <a:lstStyle/>
          <a:p>
            <a:pPr algn="r" rtl="1">
              <a:lnSpc>
                <a:spcPct val="118000"/>
              </a:lnSpc>
              <a:spcAft>
                <a:spcPts val="500"/>
              </a:spcAft>
            </a:pPr>
            <a:r>
              <a:rPr sz="1439" b="1" lang="he-IL">
                <a:solidFill>
                  <a:srgbClr val="167E76"/>
                </a:solidFill>
                <a:latin typeface="Arial"/>
              </a:rPr>
              <a:t>01  /  רגע לעצמי</a:t>
            </a:r>
          </a:p>
        </p:txBody>
      </p:sp>
      <p:sp>
        <p:nvSpPr>
          <p:cNvPr id="4" name="TextBox 3"/>
          <p:cNvSpPr txBox="1"/>
          <p:nvPr/>
        </p:nvSpPr>
        <p:spPr>
          <a:xfrm>
            <a:off x="548640" y="472440"/>
            <a:ext cx="1524000" cy="342900"/>
          </a:xfrm>
          <a:prstGeom prst="rect">
            <a:avLst/>
          </a:prstGeom>
          <a:noFill/>
        </p:spPr>
        <p:txBody>
          <a:bodyPr wrap="square" lIns="0" rIns="0" tIns="0" bIns="0">
            <a:spAutoFit/>
          </a:bodyPr>
          <a:lstStyle/>
          <a:p>
            <a:pPr algn="l" rtl="1">
              <a:lnSpc>
                <a:spcPct val="118000"/>
              </a:lnSpc>
              <a:spcAft>
                <a:spcPts val="500"/>
              </a:spcAft>
            </a:pPr>
            <a:r>
              <a:rPr sz="1920" b="1" lang="he-IL">
                <a:solidFill>
                  <a:srgbClr val="7650D5"/>
                </a:solidFill>
                <a:latin typeface="Arial"/>
              </a:rPr>
              <a:t>FeelIt</a:t>
            </a:r>
          </a:p>
        </p:txBody>
      </p:sp>
      <p:sp>
        <p:nvSpPr>
          <p:cNvPr id="5" name="TextBox 4"/>
          <p:cNvSpPr txBox="1"/>
          <p:nvPr/>
        </p:nvSpPr>
        <p:spPr>
          <a:xfrm>
            <a:off x="548640" y="1043940"/>
            <a:ext cx="11094720" cy="716280"/>
          </a:xfrm>
          <a:prstGeom prst="rect">
            <a:avLst/>
          </a:prstGeom>
          <a:noFill/>
        </p:spPr>
        <p:txBody>
          <a:bodyPr wrap="square" lIns="0" rIns="0" tIns="0" bIns="0">
            <a:spAutoFit/>
          </a:bodyPr>
          <a:lstStyle/>
          <a:p>
            <a:pPr algn="r" rtl="1">
              <a:lnSpc>
                <a:spcPct val="118000"/>
              </a:lnSpc>
              <a:spcAft>
                <a:spcPts val="500"/>
              </a:spcAft>
            </a:pPr>
            <a:r>
              <a:rPr sz="3660" b="1" lang="he-IL">
                <a:solidFill>
                  <a:srgbClr val="242139"/>
                </a:solidFill>
                <a:latin typeface="Arial"/>
              </a:rPr>
              <a:t>אפשר להתחיל גם בלי למצוא מילים</a:t>
            </a:r>
          </a:p>
        </p:txBody>
      </p:sp>
      <p:sp>
        <p:nvSpPr>
          <p:cNvPr id="6" name="Rectangle 5"/>
          <p:cNvSpPr/>
          <p:nvPr/>
        </p:nvSpPr>
        <p:spPr>
          <a:xfrm>
            <a:off x="548640" y="6332220"/>
            <a:ext cx="11094720" cy="15240"/>
          </a:xfrm>
          <a:prstGeom prst="rect">
            <a:avLst/>
          </a:prstGeom>
          <a:solidFill>
            <a:srgbClr val="E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15000" y="6492240"/>
            <a:ext cx="5905500" cy="198120"/>
          </a:xfrm>
          <a:prstGeom prst="rect">
            <a:avLst/>
          </a:prstGeom>
          <a:noFill/>
        </p:spPr>
        <p:txBody>
          <a:bodyPr wrap="square" lIns="0" rIns="0" tIns="0" bIns="0">
            <a:spAutoFit/>
          </a:bodyPr>
          <a:lstStyle/>
          <a:p>
            <a:pPr algn="r" rtl="1">
              <a:lnSpc>
                <a:spcPct val="118000"/>
              </a:lnSpc>
              <a:spcAft>
                <a:spcPts val="500"/>
              </a:spcAft>
            </a:pPr>
            <a:r>
              <a:rPr sz="1140" b="0" lang="he-IL">
                <a:solidFill>
                  <a:srgbClr val="6B6879"/>
                </a:solidFill>
                <a:latin typeface="Arial"/>
              </a:rPr>
              <a:t>הצעת מוצר לשיחה עם העמותה  ·  אוקטובר 2026</a:t>
            </a:r>
          </a:p>
        </p:txBody>
      </p:sp>
      <p:sp>
        <p:nvSpPr>
          <p:cNvPr id="8" name="TextBox 7"/>
          <p:cNvSpPr txBox="1"/>
          <p:nvPr/>
        </p:nvSpPr>
        <p:spPr>
          <a:xfrm>
            <a:off x="571500" y="6469380"/>
            <a:ext cx="571500" cy="228600"/>
          </a:xfrm>
          <a:prstGeom prst="rect">
            <a:avLst/>
          </a:prstGeom>
          <a:noFill/>
        </p:spPr>
        <p:txBody>
          <a:bodyPr wrap="square" lIns="0" rIns="0" tIns="0" bIns="0">
            <a:spAutoFit/>
          </a:bodyPr>
          <a:lstStyle/>
          <a:p>
            <a:pPr algn="l" rtl="1">
              <a:lnSpc>
                <a:spcPct val="118000"/>
              </a:lnSpc>
              <a:spcAft>
                <a:spcPts val="500"/>
              </a:spcAft>
            </a:pPr>
            <a:r>
              <a:rPr sz="1320" b="1" lang="he-IL">
                <a:solidFill>
                  <a:srgbClr val="7650D5"/>
                </a:solidFill>
                <a:latin typeface="Arial"/>
              </a:rPr>
              <a:t>07</a:t>
            </a:r>
          </a:p>
        </p:txBody>
      </p:sp>
      <p:sp>
        <p:nvSpPr>
          <p:cNvPr id="9" name="Rounded Rectangle 8"/>
          <p:cNvSpPr/>
          <p:nvPr/>
        </p:nvSpPr>
        <p:spPr>
          <a:xfrm>
            <a:off x="701040" y="1805940"/>
            <a:ext cx="2788920" cy="4381500"/>
          </a:xfrm>
          <a:prstGeom prst="roundRect">
            <a:avLst>
              <a:gd name="adj" fmla="val 12000"/>
            </a:avLst>
          </a:prstGeom>
          <a:solidFill>
            <a:srgbClr val="EAE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welcome-screen.png"/>
          <p:cNvPicPr>
            <a:picLocks noChangeAspect="1"/>
          </p:cNvPicPr>
          <p:nvPr/>
        </p:nvPicPr>
        <p:blipFill>
          <a:blip r:embed="rId3"/>
          <a:stretch>
            <a:fillRect/>
          </a:stretch>
        </p:blipFill>
        <p:spPr>
          <a:xfrm>
            <a:off x="883920" y="1897380"/>
            <a:ext cx="2430780" cy="4320540"/>
          </a:xfrm>
          <a:prstGeom prst="rect">
            <a:avLst/>
          </a:prstGeom>
        </p:spPr>
      </p:pic>
      <p:sp>
        <p:nvSpPr>
          <p:cNvPr id="11" name="TextBox 10"/>
          <p:cNvSpPr txBox="1"/>
          <p:nvPr/>
        </p:nvSpPr>
        <p:spPr>
          <a:xfrm>
            <a:off x="4038600" y="1988819"/>
            <a:ext cx="7269480" cy="762000"/>
          </a:xfrm>
          <a:prstGeom prst="rect">
            <a:avLst/>
          </a:prstGeom>
          <a:noFill/>
        </p:spPr>
        <p:txBody>
          <a:bodyPr wrap="square" lIns="0" rIns="0" tIns="0" bIns="0">
            <a:spAutoFit/>
          </a:bodyPr>
          <a:lstStyle/>
          <a:p>
            <a:pPr algn="r" rtl="1">
              <a:lnSpc>
                <a:spcPct val="118000"/>
              </a:lnSpc>
              <a:spcAft>
                <a:spcPts val="500"/>
              </a:spcAft>
            </a:pPr>
            <a:r>
              <a:rPr sz="2640" b="1" lang="he-IL">
                <a:solidFill>
                  <a:srgbClr val="7650D5"/>
                </a:solidFill>
                <a:latin typeface="Arial"/>
              </a:rPr>
              <a:t>״ככה אני מרגיש היום״</a:t>
            </a:r>
          </a:p>
        </p:txBody>
      </p:sp>
      <p:sp>
        <p:nvSpPr>
          <p:cNvPr id="12" name="TextBox 11"/>
          <p:cNvSpPr txBox="1"/>
          <p:nvPr/>
        </p:nvSpPr>
        <p:spPr>
          <a:xfrm>
            <a:off x="4038600" y="297180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מחוונים חזותיים</a:t>
            </a:r>
          </a:p>
        </p:txBody>
      </p:sp>
      <p:sp>
        <p:nvSpPr>
          <p:cNvPr id="13" name="TextBox 12"/>
          <p:cNvSpPr txBox="1"/>
          <p:nvPr/>
        </p:nvSpPr>
        <p:spPr>
          <a:xfrm>
            <a:off x="4038600" y="333756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תחושות לגבי עצמי, בית הספר, שייכות, הגוף ותקווה.</a:t>
            </a:r>
          </a:p>
        </p:txBody>
      </p:sp>
      <p:sp>
        <p:nvSpPr>
          <p:cNvPr id="14" name="TextBox 13"/>
          <p:cNvSpPr txBox="1"/>
          <p:nvPr/>
        </p:nvSpPr>
        <p:spPr>
          <a:xfrm>
            <a:off x="4038600" y="390144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כניסה שאינה דורשת סיפור</a:t>
            </a:r>
          </a:p>
        </p:txBody>
      </p:sp>
      <p:sp>
        <p:nvSpPr>
          <p:cNvPr id="15" name="TextBox 14"/>
          <p:cNvSpPr txBox="1"/>
          <p:nvPr/>
        </p:nvSpPr>
        <p:spPr>
          <a:xfrm>
            <a:off x="4038600" y="426720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אפשר לבטא רגש בלי להסביר מה קרה ובלי לכתוב.</a:t>
            </a:r>
          </a:p>
        </p:txBody>
      </p:sp>
      <p:sp>
        <p:nvSpPr>
          <p:cNvPr id="16" name="TextBox 15"/>
          <p:cNvSpPr txBox="1"/>
          <p:nvPr/>
        </p:nvSpPr>
        <p:spPr>
          <a:xfrm>
            <a:off x="4038600" y="483108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דיוק עם הילדים ועם העמותה</a:t>
            </a:r>
          </a:p>
        </p:txBody>
      </p:sp>
      <p:sp>
        <p:nvSpPr>
          <p:cNvPr id="17" name="TextBox 16"/>
          <p:cNvSpPr txBox="1"/>
          <p:nvPr/>
        </p:nvSpPr>
        <p:spPr>
          <a:xfrm>
            <a:off x="4038600" y="519684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נבחן את מספר המחוונים, הניסוח והבנת הסמלים.</a:t>
            </a:r>
          </a:p>
        </p:txBody>
      </p:sp>
      <p:sp>
        <p:nvSpPr>
          <p:cNvPr id="18" name="TextBox 17"/>
          <p:cNvSpPr txBox="1"/>
          <p:nvPr/>
        </p:nvSpPr>
        <p:spPr>
          <a:xfrm>
            <a:off x="4038600" y="5844540"/>
            <a:ext cx="7239000" cy="358140"/>
          </a:xfrm>
          <a:prstGeom prst="rect">
            <a:avLst/>
          </a:prstGeom>
          <a:noFill/>
        </p:spPr>
        <p:txBody>
          <a:bodyPr wrap="square" lIns="0" rIns="0" tIns="0" bIns="0">
            <a:spAutoFit/>
          </a:bodyPr>
          <a:lstStyle/>
          <a:p>
            <a:pPr algn="r" rtl="1">
              <a:lnSpc>
                <a:spcPct val="118000"/>
              </a:lnSpc>
              <a:spcAft>
                <a:spcPts val="500"/>
              </a:spcAft>
            </a:pPr>
            <a:r>
              <a:rPr sz="1380" b="0" lang="he-IL">
                <a:solidFill>
                  <a:srgbClr val="167E76"/>
                </a:solidFill>
                <a:latin typeface="Arial"/>
              </a:rPr>
              <a:t>מוקאפ קיים · המחוונים הם כלי ביטוי; לא מוצגים ככלי אבחון.</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ounded Rectangle 1"/>
          <p:cNvSpPr/>
          <p:nvPr/>
        </p:nvSpPr>
        <p:spPr>
          <a:xfrm>
            <a:off x="11567160" y="472440"/>
            <a:ext cx="76200" cy="350520"/>
          </a:xfrm>
          <a:prstGeom prst="roundRect">
            <a:avLst>
              <a:gd name="adj" fmla="val 12000"/>
            </a:avLst>
          </a:prstGeom>
          <a:solidFill>
            <a:srgbClr val="765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62600" y="502920"/>
            <a:ext cx="5753100" cy="274320"/>
          </a:xfrm>
          <a:prstGeom prst="rect">
            <a:avLst/>
          </a:prstGeom>
          <a:noFill/>
        </p:spPr>
        <p:txBody>
          <a:bodyPr wrap="square" lIns="0" rIns="0" tIns="0" bIns="0">
            <a:spAutoFit/>
          </a:bodyPr>
          <a:lstStyle/>
          <a:p>
            <a:pPr algn="r" rtl="1">
              <a:lnSpc>
                <a:spcPct val="118000"/>
              </a:lnSpc>
              <a:spcAft>
                <a:spcPts val="500"/>
              </a:spcAft>
            </a:pPr>
            <a:r>
              <a:rPr sz="1439" b="1" lang="he-IL">
                <a:solidFill>
                  <a:srgbClr val="167E76"/>
                </a:solidFill>
                <a:latin typeface="Arial"/>
              </a:rPr>
              <a:t>02  /  תחושת שייכות</a:t>
            </a:r>
          </a:p>
        </p:txBody>
      </p:sp>
      <p:sp>
        <p:nvSpPr>
          <p:cNvPr id="4" name="TextBox 3"/>
          <p:cNvSpPr txBox="1"/>
          <p:nvPr/>
        </p:nvSpPr>
        <p:spPr>
          <a:xfrm>
            <a:off x="548640" y="472440"/>
            <a:ext cx="1524000" cy="342900"/>
          </a:xfrm>
          <a:prstGeom prst="rect">
            <a:avLst/>
          </a:prstGeom>
          <a:noFill/>
        </p:spPr>
        <p:txBody>
          <a:bodyPr wrap="square" lIns="0" rIns="0" tIns="0" bIns="0">
            <a:spAutoFit/>
          </a:bodyPr>
          <a:lstStyle/>
          <a:p>
            <a:pPr algn="l" rtl="1">
              <a:lnSpc>
                <a:spcPct val="118000"/>
              </a:lnSpc>
              <a:spcAft>
                <a:spcPts val="500"/>
              </a:spcAft>
            </a:pPr>
            <a:r>
              <a:rPr sz="1920" b="1" lang="he-IL">
                <a:solidFill>
                  <a:srgbClr val="7650D5"/>
                </a:solidFill>
                <a:latin typeface="Arial"/>
              </a:rPr>
              <a:t>FeelIt</a:t>
            </a:r>
          </a:p>
        </p:txBody>
      </p:sp>
      <p:sp>
        <p:nvSpPr>
          <p:cNvPr id="5" name="TextBox 4"/>
          <p:cNvSpPr txBox="1"/>
          <p:nvPr/>
        </p:nvSpPr>
        <p:spPr>
          <a:xfrm>
            <a:off x="548640" y="1043940"/>
            <a:ext cx="11094720" cy="716280"/>
          </a:xfrm>
          <a:prstGeom prst="rect">
            <a:avLst/>
          </a:prstGeom>
          <a:noFill/>
        </p:spPr>
        <p:txBody>
          <a:bodyPr wrap="square" lIns="0" rIns="0" tIns="0" bIns="0">
            <a:spAutoFit/>
          </a:bodyPr>
          <a:lstStyle/>
          <a:p>
            <a:pPr algn="r" rtl="1">
              <a:lnSpc>
                <a:spcPct val="118000"/>
              </a:lnSpc>
              <a:spcAft>
                <a:spcPts val="500"/>
              </a:spcAft>
            </a:pPr>
            <a:r>
              <a:rPr sz="3660" b="1" lang="he-IL">
                <a:solidFill>
                  <a:srgbClr val="242139"/>
                </a:solidFill>
                <a:latin typeface="Arial"/>
              </a:rPr>
              <a:t>מגלים משותף — ועושים צעד לקראת אחרים</a:t>
            </a:r>
          </a:p>
        </p:txBody>
      </p:sp>
      <p:sp>
        <p:nvSpPr>
          <p:cNvPr id="6" name="Rectangle 5"/>
          <p:cNvSpPr/>
          <p:nvPr/>
        </p:nvSpPr>
        <p:spPr>
          <a:xfrm>
            <a:off x="548640" y="6332220"/>
            <a:ext cx="11094720" cy="15240"/>
          </a:xfrm>
          <a:prstGeom prst="rect">
            <a:avLst/>
          </a:prstGeom>
          <a:solidFill>
            <a:srgbClr val="E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15000" y="6492240"/>
            <a:ext cx="5905500" cy="198120"/>
          </a:xfrm>
          <a:prstGeom prst="rect">
            <a:avLst/>
          </a:prstGeom>
          <a:noFill/>
        </p:spPr>
        <p:txBody>
          <a:bodyPr wrap="square" lIns="0" rIns="0" tIns="0" bIns="0">
            <a:spAutoFit/>
          </a:bodyPr>
          <a:lstStyle/>
          <a:p>
            <a:pPr algn="r" rtl="1">
              <a:lnSpc>
                <a:spcPct val="118000"/>
              </a:lnSpc>
              <a:spcAft>
                <a:spcPts val="500"/>
              </a:spcAft>
            </a:pPr>
            <a:r>
              <a:rPr sz="1140" b="0" lang="he-IL">
                <a:solidFill>
                  <a:srgbClr val="6B6879"/>
                </a:solidFill>
                <a:latin typeface="Arial"/>
              </a:rPr>
              <a:t>הצעת מוצר לשיחה עם העמותה  ·  אוקטובר 2026</a:t>
            </a:r>
          </a:p>
        </p:txBody>
      </p:sp>
      <p:sp>
        <p:nvSpPr>
          <p:cNvPr id="8" name="TextBox 7"/>
          <p:cNvSpPr txBox="1"/>
          <p:nvPr/>
        </p:nvSpPr>
        <p:spPr>
          <a:xfrm>
            <a:off x="571500" y="6469380"/>
            <a:ext cx="571500" cy="228600"/>
          </a:xfrm>
          <a:prstGeom prst="rect">
            <a:avLst/>
          </a:prstGeom>
          <a:noFill/>
        </p:spPr>
        <p:txBody>
          <a:bodyPr wrap="square" lIns="0" rIns="0" tIns="0" bIns="0">
            <a:spAutoFit/>
          </a:bodyPr>
          <a:lstStyle/>
          <a:p>
            <a:pPr algn="l" rtl="1">
              <a:lnSpc>
                <a:spcPct val="118000"/>
              </a:lnSpc>
              <a:spcAft>
                <a:spcPts val="500"/>
              </a:spcAft>
            </a:pPr>
            <a:r>
              <a:rPr sz="1320" b="1" lang="he-IL">
                <a:solidFill>
                  <a:srgbClr val="7650D5"/>
                </a:solidFill>
                <a:latin typeface="Arial"/>
              </a:rPr>
              <a:t>08</a:t>
            </a:r>
          </a:p>
        </p:txBody>
      </p:sp>
      <p:sp>
        <p:nvSpPr>
          <p:cNvPr id="9" name="Rounded Rectangle 8"/>
          <p:cNvSpPr/>
          <p:nvPr/>
        </p:nvSpPr>
        <p:spPr>
          <a:xfrm>
            <a:off x="701040" y="1805940"/>
            <a:ext cx="2788920" cy="4381500"/>
          </a:xfrm>
          <a:prstGeom prst="roundRect">
            <a:avLst>
              <a:gd name="adj" fmla="val 12000"/>
            </a:avLst>
          </a:prstGeom>
          <a:solidFill>
            <a:srgbClr val="EAE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welcome-not-alone.png"/>
          <p:cNvPicPr>
            <a:picLocks noChangeAspect="1"/>
          </p:cNvPicPr>
          <p:nvPr/>
        </p:nvPicPr>
        <p:blipFill>
          <a:blip r:embed="rId2"/>
          <a:stretch>
            <a:fillRect/>
          </a:stretch>
        </p:blipFill>
        <p:spPr>
          <a:xfrm>
            <a:off x="883920" y="1897380"/>
            <a:ext cx="2430780" cy="4320540"/>
          </a:xfrm>
          <a:prstGeom prst="rect">
            <a:avLst/>
          </a:prstGeom>
        </p:spPr>
      </p:pic>
      <p:sp>
        <p:nvSpPr>
          <p:cNvPr id="11" name="TextBox 10"/>
          <p:cNvSpPr txBox="1"/>
          <p:nvPr/>
        </p:nvSpPr>
        <p:spPr>
          <a:xfrm>
            <a:off x="4038600" y="1988819"/>
            <a:ext cx="7269480" cy="762000"/>
          </a:xfrm>
          <a:prstGeom prst="rect">
            <a:avLst/>
          </a:prstGeom>
          <a:noFill/>
        </p:spPr>
        <p:txBody>
          <a:bodyPr wrap="square" lIns="0" rIns="0" tIns="0" bIns="0">
            <a:spAutoFit/>
          </a:bodyPr>
          <a:lstStyle/>
          <a:p>
            <a:pPr algn="r" rtl="1">
              <a:lnSpc>
                <a:spcPct val="118000"/>
              </a:lnSpc>
              <a:spcAft>
                <a:spcPts val="500"/>
              </a:spcAft>
            </a:pPr>
            <a:r>
              <a:rPr sz="2640" b="1" lang="he-IL">
                <a:solidFill>
                  <a:srgbClr val="7650D5"/>
                </a:solidFill>
                <a:latin typeface="Arial"/>
              </a:rPr>
              <a:t>״יש כאן ילדים שמרגישים כמוני״</a:t>
            </a:r>
          </a:p>
        </p:txBody>
      </p:sp>
      <p:sp>
        <p:nvSpPr>
          <p:cNvPr id="12" name="TextBox 11"/>
          <p:cNvSpPr txBox="1"/>
          <p:nvPr/>
        </p:nvSpPr>
        <p:spPr>
          <a:xfrm>
            <a:off x="4038600" y="297180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נקודת מוצא לחיבור</a:t>
            </a:r>
          </a:p>
        </p:txBody>
      </p:sp>
      <p:sp>
        <p:nvSpPr>
          <p:cNvPr id="13" name="TextBox 12"/>
          <p:cNvSpPr txBox="1"/>
          <p:nvPr/>
        </p:nvSpPr>
        <p:spPr>
          <a:xfrm>
            <a:off x="4038600" y="333756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תחושות דומות ומדבקות של תחומי עניין עוזרות למצוא מכנה משותף.</a:t>
            </a:r>
          </a:p>
        </p:txBody>
      </p:sp>
      <p:sp>
        <p:nvSpPr>
          <p:cNvPr id="14" name="TextBox 13"/>
          <p:cNvSpPr txBox="1"/>
          <p:nvPr/>
        </p:nvSpPr>
        <p:spPr>
          <a:xfrm>
            <a:off x="4038600" y="390144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מגילוי למחווה</a:t>
            </a:r>
          </a:p>
        </p:txBody>
      </p:sp>
      <p:sp>
        <p:nvSpPr>
          <p:cNvPr id="15" name="TextBox 14"/>
          <p:cNvSpPr txBox="1"/>
          <p:nvPr/>
        </p:nvSpPr>
        <p:spPr>
          <a:xfrm>
            <a:off x="4038600" y="426720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אפשר לשלוח חיבוק לקבוצה או מתנה לילד אקראי, בלי לחשוף זהות.</a:t>
            </a:r>
          </a:p>
        </p:txBody>
      </p:sp>
      <p:sp>
        <p:nvSpPr>
          <p:cNvPr id="16" name="TextBox 15"/>
          <p:cNvSpPr txBox="1"/>
          <p:nvPr/>
        </p:nvSpPr>
        <p:spPr>
          <a:xfrm>
            <a:off x="4038600" y="483108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אמינות גם בקהילה קטנה</a:t>
            </a:r>
          </a:p>
        </p:txBody>
      </p:sp>
      <p:sp>
        <p:nvSpPr>
          <p:cNvPr id="17" name="TextBox 16"/>
          <p:cNvSpPr txBox="1"/>
          <p:nvPr/>
        </p:nvSpPr>
        <p:spPr>
          <a:xfrm>
            <a:off x="4038600" y="519684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הצעה: כשאין מספיק נתונים, מציגים מסר תמיכה ללא ספירה.</a:t>
            </a:r>
          </a:p>
        </p:txBody>
      </p:sp>
      <p:sp>
        <p:nvSpPr>
          <p:cNvPr id="18" name="TextBox 17"/>
          <p:cNvSpPr txBox="1"/>
          <p:nvPr/>
        </p:nvSpPr>
        <p:spPr>
          <a:xfrm>
            <a:off x="4038600" y="5844540"/>
            <a:ext cx="7239000" cy="358140"/>
          </a:xfrm>
          <a:prstGeom prst="rect">
            <a:avLst/>
          </a:prstGeom>
          <a:noFill/>
        </p:spPr>
        <p:txBody>
          <a:bodyPr wrap="square" lIns="0" rIns="0" tIns="0" bIns="0">
            <a:spAutoFit/>
          </a:bodyPr>
          <a:lstStyle/>
          <a:p>
            <a:pPr algn="r" rtl="1">
              <a:lnSpc>
                <a:spcPct val="118000"/>
              </a:lnSpc>
              <a:spcAft>
                <a:spcPts val="500"/>
              </a:spcAft>
            </a:pPr>
            <a:r>
              <a:rPr sz="1380" b="0" lang="he-IL">
                <a:solidFill>
                  <a:srgbClr val="167E76"/>
                </a:solidFill>
                <a:latin typeface="Arial"/>
              </a:rPr>
              <a:t>מסך סיום הצ׳ק־אין · ללא כפתור ״המשך״; מעבר בין תחומים דרך הניווט התחתון. המספרים להמחשה.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ounded Rectangle 1"/>
          <p:cNvSpPr/>
          <p:nvPr/>
        </p:nvSpPr>
        <p:spPr>
          <a:xfrm>
            <a:off x="11567160" y="472440"/>
            <a:ext cx="76200" cy="350520"/>
          </a:xfrm>
          <a:prstGeom prst="roundRect">
            <a:avLst>
              <a:gd name="adj" fmla="val 12000"/>
            </a:avLst>
          </a:prstGeom>
          <a:solidFill>
            <a:srgbClr val="765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62600" y="502920"/>
            <a:ext cx="5753100" cy="274320"/>
          </a:xfrm>
          <a:prstGeom prst="rect">
            <a:avLst/>
          </a:prstGeom>
          <a:noFill/>
        </p:spPr>
        <p:txBody>
          <a:bodyPr wrap="square" lIns="0" rIns="0" tIns="0" bIns="0">
            <a:spAutoFit/>
          </a:bodyPr>
          <a:lstStyle/>
          <a:p>
            <a:pPr algn="r" rtl="1">
              <a:lnSpc>
                <a:spcPct val="118000"/>
              </a:lnSpc>
              <a:spcAft>
                <a:spcPts val="500"/>
              </a:spcAft>
            </a:pPr>
            <a:r>
              <a:rPr sz="1439" b="1" lang="he-IL">
                <a:solidFill>
                  <a:srgbClr val="167E76"/>
                </a:solidFill>
                <a:latin typeface="Arial"/>
              </a:rPr>
              <a:t>03  /  נתינה</a:t>
            </a:r>
          </a:p>
        </p:txBody>
      </p:sp>
      <p:sp>
        <p:nvSpPr>
          <p:cNvPr id="4" name="TextBox 3"/>
          <p:cNvSpPr txBox="1"/>
          <p:nvPr/>
        </p:nvSpPr>
        <p:spPr>
          <a:xfrm>
            <a:off x="548640" y="472440"/>
            <a:ext cx="1524000" cy="342900"/>
          </a:xfrm>
          <a:prstGeom prst="rect">
            <a:avLst/>
          </a:prstGeom>
          <a:noFill/>
        </p:spPr>
        <p:txBody>
          <a:bodyPr wrap="square" lIns="0" rIns="0" tIns="0" bIns="0">
            <a:spAutoFit/>
          </a:bodyPr>
          <a:lstStyle/>
          <a:p>
            <a:pPr algn="l" rtl="1">
              <a:lnSpc>
                <a:spcPct val="118000"/>
              </a:lnSpc>
              <a:spcAft>
                <a:spcPts val="500"/>
              </a:spcAft>
            </a:pPr>
            <a:r>
              <a:rPr sz="1920" b="1" lang="he-IL">
                <a:solidFill>
                  <a:srgbClr val="7650D5"/>
                </a:solidFill>
                <a:latin typeface="Arial"/>
              </a:rPr>
              <a:t>FeelIt</a:t>
            </a:r>
          </a:p>
        </p:txBody>
      </p:sp>
      <p:sp>
        <p:nvSpPr>
          <p:cNvPr id="5" name="TextBox 4"/>
          <p:cNvSpPr txBox="1"/>
          <p:nvPr/>
        </p:nvSpPr>
        <p:spPr>
          <a:xfrm>
            <a:off x="548640" y="1043940"/>
            <a:ext cx="11094720" cy="716280"/>
          </a:xfrm>
          <a:prstGeom prst="rect">
            <a:avLst/>
          </a:prstGeom>
          <a:noFill/>
        </p:spPr>
        <p:txBody>
          <a:bodyPr wrap="square" lIns="0" rIns="0" tIns="0" bIns="0">
            <a:spAutoFit/>
          </a:bodyPr>
          <a:lstStyle/>
          <a:p>
            <a:pPr algn="r" rtl="1">
              <a:lnSpc>
                <a:spcPct val="118000"/>
              </a:lnSpc>
              <a:spcAft>
                <a:spcPts val="500"/>
              </a:spcAft>
            </a:pPr>
            <a:r>
              <a:rPr sz="3660" b="1" lang="he-IL">
                <a:solidFill>
                  <a:srgbClr val="242139"/>
                </a:solidFill>
                <a:latin typeface="Arial"/>
              </a:rPr>
              <a:t>גם אני יכול לעשות למישהו קצת טוב</a:t>
            </a:r>
          </a:p>
        </p:txBody>
      </p:sp>
      <p:sp>
        <p:nvSpPr>
          <p:cNvPr id="6" name="Rectangle 5"/>
          <p:cNvSpPr/>
          <p:nvPr/>
        </p:nvSpPr>
        <p:spPr>
          <a:xfrm>
            <a:off x="548640" y="6332220"/>
            <a:ext cx="11094720" cy="15240"/>
          </a:xfrm>
          <a:prstGeom prst="rect">
            <a:avLst/>
          </a:prstGeom>
          <a:solidFill>
            <a:srgbClr val="E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15000" y="6492240"/>
            <a:ext cx="5905500" cy="198120"/>
          </a:xfrm>
          <a:prstGeom prst="rect">
            <a:avLst/>
          </a:prstGeom>
          <a:noFill/>
        </p:spPr>
        <p:txBody>
          <a:bodyPr wrap="square" lIns="0" rIns="0" tIns="0" bIns="0">
            <a:spAutoFit/>
          </a:bodyPr>
          <a:lstStyle/>
          <a:p>
            <a:pPr algn="r" rtl="1">
              <a:lnSpc>
                <a:spcPct val="118000"/>
              </a:lnSpc>
              <a:spcAft>
                <a:spcPts val="500"/>
              </a:spcAft>
            </a:pPr>
            <a:r>
              <a:rPr sz="1140" b="0" lang="he-IL">
                <a:solidFill>
                  <a:srgbClr val="6B6879"/>
                </a:solidFill>
                <a:latin typeface="Arial"/>
              </a:rPr>
              <a:t>הצעת מוצר לשיחה עם העמותה  ·  אוקטובר 2026</a:t>
            </a:r>
          </a:p>
        </p:txBody>
      </p:sp>
      <p:sp>
        <p:nvSpPr>
          <p:cNvPr id="8" name="TextBox 7"/>
          <p:cNvSpPr txBox="1"/>
          <p:nvPr/>
        </p:nvSpPr>
        <p:spPr>
          <a:xfrm>
            <a:off x="571500" y="6469380"/>
            <a:ext cx="571500" cy="228600"/>
          </a:xfrm>
          <a:prstGeom prst="rect">
            <a:avLst/>
          </a:prstGeom>
          <a:noFill/>
        </p:spPr>
        <p:txBody>
          <a:bodyPr wrap="square" lIns="0" rIns="0" tIns="0" bIns="0">
            <a:spAutoFit/>
          </a:bodyPr>
          <a:lstStyle/>
          <a:p>
            <a:pPr algn="l" rtl="1">
              <a:lnSpc>
                <a:spcPct val="118000"/>
              </a:lnSpc>
              <a:spcAft>
                <a:spcPts val="500"/>
              </a:spcAft>
            </a:pPr>
            <a:r>
              <a:rPr sz="1320" b="1" lang="he-IL">
                <a:solidFill>
                  <a:srgbClr val="7650D5"/>
                </a:solidFill>
                <a:latin typeface="Arial"/>
              </a:rPr>
              <a:t>09</a:t>
            </a:r>
          </a:p>
        </p:txBody>
      </p:sp>
      <p:sp>
        <p:nvSpPr>
          <p:cNvPr id="9" name="Rounded Rectangle 8"/>
          <p:cNvSpPr/>
          <p:nvPr/>
        </p:nvSpPr>
        <p:spPr>
          <a:xfrm>
            <a:off x="701040" y="1805940"/>
            <a:ext cx="2788920" cy="4381500"/>
          </a:xfrm>
          <a:prstGeom prst="roundRect">
            <a:avLst>
              <a:gd name="adj" fmla="val 12000"/>
            </a:avLst>
          </a:prstGeom>
          <a:solidFill>
            <a:srgbClr val="EAE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welcome-gift.png"/>
          <p:cNvPicPr>
            <a:picLocks noChangeAspect="1"/>
          </p:cNvPicPr>
          <p:nvPr/>
        </p:nvPicPr>
        <p:blipFill>
          <a:blip r:embed="rId2"/>
          <a:stretch>
            <a:fillRect/>
          </a:stretch>
        </p:blipFill>
        <p:spPr>
          <a:xfrm>
            <a:off x="883920" y="1897380"/>
            <a:ext cx="2430780" cy="4320540"/>
          </a:xfrm>
          <a:prstGeom prst="rect">
            <a:avLst/>
          </a:prstGeom>
        </p:spPr>
      </p:pic>
      <p:sp>
        <p:nvSpPr>
          <p:cNvPr id="11" name="TextBox 10"/>
          <p:cNvSpPr txBox="1"/>
          <p:nvPr/>
        </p:nvSpPr>
        <p:spPr>
          <a:xfrm>
            <a:off x="4038600" y="1988819"/>
            <a:ext cx="7269480" cy="762000"/>
          </a:xfrm>
          <a:prstGeom prst="rect">
            <a:avLst/>
          </a:prstGeom>
          <a:noFill/>
        </p:spPr>
        <p:txBody>
          <a:bodyPr wrap="square" lIns="0" rIns="0" tIns="0" bIns="0">
            <a:spAutoFit/>
          </a:bodyPr>
          <a:lstStyle/>
          <a:p>
            <a:pPr algn="r" rtl="1">
              <a:lnSpc>
                <a:spcPct val="118000"/>
              </a:lnSpc>
              <a:spcAft>
                <a:spcPts val="500"/>
              </a:spcAft>
            </a:pPr>
            <a:r>
              <a:rPr sz="2640" b="1" lang="he-IL">
                <a:solidFill>
                  <a:srgbClr val="7650D5"/>
                </a:solidFill>
                <a:latin typeface="Arial"/>
              </a:rPr>
              <a:t>״מישהו יקבל ממני סימן של אכפתיות״</a:t>
            </a:r>
          </a:p>
        </p:txBody>
      </p:sp>
      <p:sp>
        <p:nvSpPr>
          <p:cNvPr id="12" name="TextBox 11"/>
          <p:cNvSpPr txBox="1"/>
          <p:nvPr/>
        </p:nvSpPr>
        <p:spPr>
          <a:xfrm>
            <a:off x="4038600" y="297180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ילד שולח — ילדים אחרים מקבלים</a:t>
            </a:r>
          </a:p>
        </p:txBody>
      </p:sp>
      <p:sp>
        <p:nvSpPr>
          <p:cNvPr id="13" name="TextBox 12"/>
          <p:cNvSpPr txBox="1"/>
          <p:nvPr/>
        </p:nvSpPr>
        <p:spPr>
          <a:xfrm>
            <a:off x="4038600" y="333756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חיבוק קבוצתי הופך את הרצון לתמוך למחווה שמגיעה לאחרים.</a:t>
            </a:r>
          </a:p>
        </p:txBody>
      </p:sp>
      <p:sp>
        <p:nvSpPr>
          <p:cNvPr id="14" name="TextBox 13"/>
          <p:cNvSpPr txBox="1"/>
          <p:nvPr/>
        </p:nvSpPr>
        <p:spPr>
          <a:xfrm>
            <a:off x="4038600" y="390144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מתנה עם משמעות אישית</a:t>
            </a:r>
          </a:p>
        </p:txBody>
      </p:sp>
      <p:sp>
        <p:nvSpPr>
          <p:cNvPr id="15" name="TextBox 14"/>
          <p:cNvSpPr txBox="1"/>
          <p:nvPr/>
        </p:nvSpPr>
        <p:spPr>
          <a:xfrm>
            <a:off x="4038600" y="426720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פרי שגידלתי עובר לילד אקראי; הוא יודע שמישהו חשב עליו.</a:t>
            </a:r>
          </a:p>
        </p:txBody>
      </p:sp>
      <p:sp>
        <p:nvSpPr>
          <p:cNvPr id="16" name="TextBox 15"/>
          <p:cNvSpPr txBox="1"/>
          <p:nvPr/>
        </p:nvSpPr>
        <p:spPr>
          <a:xfrm>
            <a:off x="4038600" y="483108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אכפתיות שעוברת הלאה</a:t>
            </a:r>
          </a:p>
        </p:txBody>
      </p:sp>
      <p:sp>
        <p:nvSpPr>
          <p:cNvPr id="17" name="TextBox 16"/>
          <p:cNvSpPr txBox="1"/>
          <p:nvPr/>
        </p:nvSpPr>
        <p:spPr>
          <a:xfrm>
            <a:off x="4038600" y="519684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גם מקבל המתנה יכול להעביר אותה לילד אחר. זהות השולח נשארת חסויה.</a:t>
            </a:r>
          </a:p>
        </p:txBody>
      </p:sp>
      <p:sp>
        <p:nvSpPr>
          <p:cNvPr id="18" name="TextBox 17"/>
          <p:cNvSpPr txBox="1"/>
          <p:nvPr/>
        </p:nvSpPr>
        <p:spPr>
          <a:xfrm>
            <a:off x="4038600" y="5844540"/>
            <a:ext cx="7239000" cy="358140"/>
          </a:xfrm>
          <a:prstGeom prst="rect">
            <a:avLst/>
          </a:prstGeom>
          <a:noFill/>
        </p:spPr>
        <p:txBody>
          <a:bodyPr wrap="square" lIns="0" rIns="0" tIns="0" bIns="0">
            <a:spAutoFit/>
          </a:bodyPr>
          <a:lstStyle/>
          <a:p>
            <a:pPr algn="r" rtl="1">
              <a:lnSpc>
                <a:spcPct val="118000"/>
              </a:lnSpc>
              <a:spcAft>
                <a:spcPts val="500"/>
              </a:spcAft>
            </a:pPr>
            <a:r>
              <a:rPr sz="1380" b="0" lang="he-IL">
                <a:solidFill>
                  <a:srgbClr val="167E76"/>
                </a:solidFill>
                <a:latin typeface="Arial"/>
              </a:rPr>
              <a:t>מוקאפ קיים · הצעה: אפשר לדלג; מענה רגשי אינו תלוי ביתרת חיבוקים או מתנות.</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ounded Rectangle 1"/>
          <p:cNvSpPr/>
          <p:nvPr/>
        </p:nvSpPr>
        <p:spPr>
          <a:xfrm>
            <a:off x="11567160" y="472440"/>
            <a:ext cx="76200" cy="350520"/>
          </a:xfrm>
          <a:prstGeom prst="roundRect">
            <a:avLst>
              <a:gd name="adj" fmla="val 12000"/>
            </a:avLst>
          </a:prstGeom>
          <a:solidFill>
            <a:srgbClr val="765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62600" y="502920"/>
            <a:ext cx="5753100" cy="274320"/>
          </a:xfrm>
          <a:prstGeom prst="rect">
            <a:avLst/>
          </a:prstGeom>
          <a:noFill/>
        </p:spPr>
        <p:txBody>
          <a:bodyPr wrap="square" lIns="0" rIns="0" tIns="0" bIns="0">
            <a:spAutoFit/>
          </a:bodyPr>
          <a:lstStyle/>
          <a:p>
            <a:pPr algn="r" rtl="1">
              <a:lnSpc>
                <a:spcPct val="118000"/>
              </a:lnSpc>
              <a:spcAft>
                <a:spcPts val="500"/>
              </a:spcAft>
            </a:pPr>
            <a:r>
              <a:rPr sz="1439" b="1" lang="he-IL">
                <a:solidFill>
                  <a:srgbClr val="167E76"/>
                </a:solidFill>
                <a:latin typeface="Arial"/>
              </a:rPr>
              <a:t>04  /  השתתפות עם אחרים</a:t>
            </a:r>
          </a:p>
        </p:txBody>
      </p:sp>
      <p:sp>
        <p:nvSpPr>
          <p:cNvPr id="4" name="TextBox 3"/>
          <p:cNvSpPr txBox="1"/>
          <p:nvPr/>
        </p:nvSpPr>
        <p:spPr>
          <a:xfrm>
            <a:off x="548640" y="472440"/>
            <a:ext cx="1524000" cy="342900"/>
          </a:xfrm>
          <a:prstGeom prst="rect">
            <a:avLst/>
          </a:prstGeom>
          <a:noFill/>
        </p:spPr>
        <p:txBody>
          <a:bodyPr wrap="square" lIns="0" rIns="0" tIns="0" bIns="0">
            <a:spAutoFit/>
          </a:bodyPr>
          <a:lstStyle/>
          <a:p>
            <a:pPr algn="l" rtl="1">
              <a:lnSpc>
                <a:spcPct val="118000"/>
              </a:lnSpc>
              <a:spcAft>
                <a:spcPts val="500"/>
              </a:spcAft>
            </a:pPr>
            <a:r>
              <a:rPr sz="1920" b="1" lang="he-IL">
                <a:solidFill>
                  <a:srgbClr val="7650D5"/>
                </a:solidFill>
                <a:latin typeface="Arial"/>
              </a:rPr>
              <a:t>FeelIt</a:t>
            </a:r>
          </a:p>
        </p:txBody>
      </p:sp>
      <p:sp>
        <p:nvSpPr>
          <p:cNvPr id="5" name="TextBox 4"/>
          <p:cNvSpPr txBox="1"/>
          <p:nvPr/>
        </p:nvSpPr>
        <p:spPr>
          <a:xfrm>
            <a:off x="548640" y="1043940"/>
            <a:ext cx="11094720" cy="716280"/>
          </a:xfrm>
          <a:prstGeom prst="rect">
            <a:avLst/>
          </a:prstGeom>
          <a:noFill/>
        </p:spPr>
        <p:txBody>
          <a:bodyPr wrap="square" lIns="0" rIns="0" tIns="0" bIns="0">
            <a:spAutoFit/>
          </a:bodyPr>
          <a:lstStyle/>
          <a:p>
            <a:pPr algn="r" rtl="1">
              <a:lnSpc>
                <a:spcPct val="118000"/>
              </a:lnSpc>
              <a:spcAft>
                <a:spcPts val="500"/>
              </a:spcAft>
            </a:pPr>
            <a:r>
              <a:rPr sz="3660" b="1" lang="he-IL">
                <a:solidFill>
                  <a:srgbClr val="242139"/>
                </a:solidFill>
                <a:latin typeface="Arial"/>
              </a:rPr>
              <a:t>אני שואל. ילדים אחרים משתתפים.</a:t>
            </a:r>
          </a:p>
        </p:txBody>
      </p:sp>
      <p:sp>
        <p:nvSpPr>
          <p:cNvPr id="6" name="Rectangle 5"/>
          <p:cNvSpPr/>
          <p:nvPr/>
        </p:nvSpPr>
        <p:spPr>
          <a:xfrm>
            <a:off x="548640" y="6332220"/>
            <a:ext cx="11094720" cy="15240"/>
          </a:xfrm>
          <a:prstGeom prst="rect">
            <a:avLst/>
          </a:prstGeom>
          <a:solidFill>
            <a:srgbClr val="E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15000" y="6492240"/>
            <a:ext cx="5905500" cy="198120"/>
          </a:xfrm>
          <a:prstGeom prst="rect">
            <a:avLst/>
          </a:prstGeom>
          <a:noFill/>
        </p:spPr>
        <p:txBody>
          <a:bodyPr wrap="square" lIns="0" rIns="0" tIns="0" bIns="0">
            <a:spAutoFit/>
          </a:bodyPr>
          <a:lstStyle/>
          <a:p>
            <a:pPr algn="r" rtl="1">
              <a:lnSpc>
                <a:spcPct val="118000"/>
              </a:lnSpc>
              <a:spcAft>
                <a:spcPts val="500"/>
              </a:spcAft>
            </a:pPr>
            <a:r>
              <a:rPr sz="1140" b="0" lang="he-IL">
                <a:solidFill>
                  <a:srgbClr val="6B6879"/>
                </a:solidFill>
                <a:latin typeface="Arial"/>
              </a:rPr>
              <a:t>הצעת מוצר לשיחה עם העמותה  ·  אוקטובר 2026</a:t>
            </a:r>
          </a:p>
        </p:txBody>
      </p:sp>
      <p:sp>
        <p:nvSpPr>
          <p:cNvPr id="8" name="TextBox 7"/>
          <p:cNvSpPr txBox="1"/>
          <p:nvPr/>
        </p:nvSpPr>
        <p:spPr>
          <a:xfrm>
            <a:off x="571500" y="6469380"/>
            <a:ext cx="571500" cy="228600"/>
          </a:xfrm>
          <a:prstGeom prst="rect">
            <a:avLst/>
          </a:prstGeom>
          <a:noFill/>
        </p:spPr>
        <p:txBody>
          <a:bodyPr wrap="square" lIns="0" rIns="0" tIns="0" bIns="0">
            <a:spAutoFit/>
          </a:bodyPr>
          <a:lstStyle/>
          <a:p>
            <a:pPr algn="l" rtl="1">
              <a:lnSpc>
                <a:spcPct val="118000"/>
              </a:lnSpc>
              <a:spcAft>
                <a:spcPts val="500"/>
              </a:spcAft>
            </a:pPr>
            <a:r>
              <a:rPr sz="1320" b="1" lang="he-IL">
                <a:solidFill>
                  <a:srgbClr val="7650D5"/>
                </a:solidFill>
                <a:latin typeface="Arial"/>
              </a:rPr>
              <a:t>10</a:t>
            </a:r>
          </a:p>
        </p:txBody>
      </p:sp>
      <p:sp>
        <p:nvSpPr>
          <p:cNvPr id="9" name="Rounded Rectangle 8"/>
          <p:cNvSpPr/>
          <p:nvPr/>
        </p:nvSpPr>
        <p:spPr>
          <a:xfrm>
            <a:off x="701040" y="1805940"/>
            <a:ext cx="2788920" cy="4381500"/>
          </a:xfrm>
          <a:prstGeom prst="roundRect">
            <a:avLst>
              <a:gd name="adj" fmla="val 12000"/>
            </a:avLst>
          </a:prstGeom>
          <a:solidFill>
            <a:srgbClr val="EAE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what-do-they-say.png"/>
          <p:cNvPicPr>
            <a:picLocks noChangeAspect="1"/>
          </p:cNvPicPr>
          <p:nvPr/>
        </p:nvPicPr>
        <p:blipFill>
          <a:blip r:embed="rId2"/>
          <a:stretch>
            <a:fillRect/>
          </a:stretch>
        </p:blipFill>
        <p:spPr>
          <a:xfrm>
            <a:off x="883920" y="1897380"/>
            <a:ext cx="2430780" cy="4320540"/>
          </a:xfrm>
          <a:prstGeom prst="rect">
            <a:avLst/>
          </a:prstGeom>
        </p:spPr>
      </p:pic>
      <p:sp>
        <p:nvSpPr>
          <p:cNvPr id="11" name="TextBox 10"/>
          <p:cNvSpPr txBox="1"/>
          <p:nvPr/>
        </p:nvSpPr>
        <p:spPr>
          <a:xfrm>
            <a:off x="4038600" y="1988819"/>
            <a:ext cx="7269480" cy="762000"/>
          </a:xfrm>
          <a:prstGeom prst="rect">
            <a:avLst/>
          </a:prstGeom>
          <a:noFill/>
        </p:spPr>
        <p:txBody>
          <a:bodyPr wrap="square" lIns="0" rIns="0" tIns="0" bIns="0">
            <a:spAutoFit/>
          </a:bodyPr>
          <a:lstStyle/>
          <a:p>
            <a:pPr algn="r" rtl="1">
              <a:lnSpc>
                <a:spcPct val="118000"/>
              </a:lnSpc>
              <a:spcAft>
                <a:spcPts val="500"/>
              </a:spcAft>
            </a:pPr>
            <a:r>
              <a:rPr sz="2640" b="1" lang="he-IL">
                <a:solidFill>
                  <a:srgbClr val="7650D5"/>
                </a:solidFill>
                <a:latin typeface="Arial"/>
              </a:rPr>
              <a:t>״מעניין אותי מה אתם חושבים״</a:t>
            </a:r>
          </a:p>
        </p:txBody>
      </p:sp>
      <p:sp>
        <p:nvSpPr>
          <p:cNvPr id="12" name="TextBox 11"/>
          <p:cNvSpPr txBox="1"/>
          <p:nvPr/>
        </p:nvSpPr>
        <p:spPr>
          <a:xfrm>
            <a:off x="4038600" y="297180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אינטראקציה סביב תחומי עניין</a:t>
            </a:r>
          </a:p>
        </p:txBody>
      </p:sp>
      <p:sp>
        <p:nvSpPr>
          <p:cNvPr id="13" name="TextBox 12"/>
          <p:cNvSpPr txBox="1"/>
          <p:nvPr/>
        </p:nvSpPr>
        <p:spPr>
          <a:xfrm>
            <a:off x="4038600" y="333756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ילד מפרסם סקר חזותי, אחרים בוחרים, והוא רואה את ההצבעות.</a:t>
            </a:r>
          </a:p>
        </p:txBody>
      </p:sp>
      <p:sp>
        <p:nvSpPr>
          <p:cNvPr id="14" name="TextBox 13"/>
          <p:cNvSpPr txBox="1"/>
          <p:nvPr/>
        </p:nvSpPr>
        <p:spPr>
          <a:xfrm>
            <a:off x="4038600" y="390144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מקום לקול של כל ילד</a:t>
            </a:r>
          </a:p>
        </p:txBody>
      </p:sp>
      <p:sp>
        <p:nvSpPr>
          <p:cNvPr id="15" name="TextBox 14"/>
          <p:cNvSpPr txBox="1"/>
          <p:nvPr/>
        </p:nvSpPr>
        <p:spPr>
          <a:xfrm>
            <a:off x="4038600" y="426720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כל בחירה מצטרפת לתמונה משותפת; אפשר לגלות העדפות דומות.</a:t>
            </a:r>
          </a:p>
        </p:txBody>
      </p:sp>
      <p:sp>
        <p:nvSpPr>
          <p:cNvPr id="16" name="TextBox 15"/>
          <p:cNvSpPr txBox="1"/>
          <p:nvPr/>
        </p:nvSpPr>
        <p:spPr>
          <a:xfrm>
            <a:off x="4038600" y="483108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הצעה לגרסה הראשונה</a:t>
            </a:r>
          </a:p>
        </p:txBody>
      </p:sp>
      <p:sp>
        <p:nvSpPr>
          <p:cNvPr id="17" name="TextBox 16"/>
          <p:cNvSpPr txBox="1"/>
          <p:nvPr/>
        </p:nvSpPr>
        <p:spPr>
          <a:xfrm>
            <a:off x="4038600" y="519684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ילדים בוחרים שאלות ותמונות מספרייה מאושרת; כתיבה חופשית דורשת בדיקה.</a:t>
            </a:r>
          </a:p>
        </p:txBody>
      </p:sp>
      <p:sp>
        <p:nvSpPr>
          <p:cNvPr id="18" name="TextBox 17"/>
          <p:cNvSpPr txBox="1"/>
          <p:nvPr/>
        </p:nvSpPr>
        <p:spPr>
          <a:xfrm>
            <a:off x="4038600" y="5844540"/>
            <a:ext cx="7239000" cy="358140"/>
          </a:xfrm>
          <a:prstGeom prst="rect">
            <a:avLst/>
          </a:prstGeom>
          <a:noFill/>
        </p:spPr>
        <p:txBody>
          <a:bodyPr wrap="square" lIns="0" rIns="0" tIns="0" bIns="0">
            <a:spAutoFit/>
          </a:bodyPr>
          <a:lstStyle/>
          <a:p>
            <a:pPr algn="r" rtl="1">
              <a:lnSpc>
                <a:spcPct val="118000"/>
              </a:lnSpc>
              <a:spcAft>
                <a:spcPts val="500"/>
              </a:spcAft>
            </a:pPr>
            <a:r>
              <a:rPr sz="1380" b="0" lang="he-IL">
                <a:solidFill>
                  <a:srgbClr val="167E76"/>
                </a:solidFill>
                <a:latin typeface="Arial"/>
              </a:rPr>
              <a:t>דיווח זמין בכל סקר, על השאלה והתמונות; כפתור העזרה האדום נגיש בראש המסך.</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ounded Rectangle 1"/>
          <p:cNvSpPr/>
          <p:nvPr/>
        </p:nvSpPr>
        <p:spPr>
          <a:xfrm>
            <a:off x="11567160" y="472440"/>
            <a:ext cx="76200" cy="350520"/>
          </a:xfrm>
          <a:prstGeom prst="roundRect">
            <a:avLst>
              <a:gd name="adj" fmla="val 12000"/>
            </a:avLst>
          </a:prstGeom>
          <a:solidFill>
            <a:srgbClr val="765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62600" y="502920"/>
            <a:ext cx="5753100" cy="274320"/>
          </a:xfrm>
          <a:prstGeom prst="rect">
            <a:avLst/>
          </a:prstGeom>
          <a:noFill/>
        </p:spPr>
        <p:txBody>
          <a:bodyPr wrap="square" lIns="0" rIns="0" tIns="0" bIns="0">
            <a:spAutoFit/>
          </a:bodyPr>
          <a:lstStyle/>
          <a:p>
            <a:pPr algn="r" rtl="1">
              <a:lnSpc>
                <a:spcPct val="118000"/>
              </a:lnSpc>
              <a:spcAft>
                <a:spcPts val="500"/>
              </a:spcAft>
            </a:pPr>
            <a:r>
              <a:rPr sz="1439" b="1" lang="he-IL">
                <a:solidFill>
                  <a:srgbClr val="167E76"/>
                </a:solidFill>
                <a:latin typeface="Arial"/>
              </a:rPr>
              <a:t>05  /  מקום לתקווה</a:t>
            </a:r>
          </a:p>
        </p:txBody>
      </p:sp>
      <p:sp>
        <p:nvSpPr>
          <p:cNvPr id="4" name="TextBox 3"/>
          <p:cNvSpPr txBox="1"/>
          <p:nvPr/>
        </p:nvSpPr>
        <p:spPr>
          <a:xfrm>
            <a:off x="548640" y="472440"/>
            <a:ext cx="1524000" cy="342900"/>
          </a:xfrm>
          <a:prstGeom prst="rect">
            <a:avLst/>
          </a:prstGeom>
          <a:noFill/>
        </p:spPr>
        <p:txBody>
          <a:bodyPr wrap="square" lIns="0" rIns="0" tIns="0" bIns="0">
            <a:spAutoFit/>
          </a:bodyPr>
          <a:lstStyle/>
          <a:p>
            <a:pPr algn="l" rtl="1">
              <a:lnSpc>
                <a:spcPct val="118000"/>
              </a:lnSpc>
              <a:spcAft>
                <a:spcPts val="500"/>
              </a:spcAft>
            </a:pPr>
            <a:r>
              <a:rPr sz="1920" b="1" lang="he-IL">
                <a:solidFill>
                  <a:srgbClr val="7650D5"/>
                </a:solidFill>
                <a:latin typeface="Arial"/>
              </a:rPr>
              <a:t>FeelIt</a:t>
            </a:r>
          </a:p>
        </p:txBody>
      </p:sp>
      <p:sp>
        <p:nvSpPr>
          <p:cNvPr id="5" name="TextBox 4"/>
          <p:cNvSpPr txBox="1"/>
          <p:nvPr/>
        </p:nvSpPr>
        <p:spPr>
          <a:xfrm>
            <a:off x="548640" y="1043940"/>
            <a:ext cx="11094720" cy="716280"/>
          </a:xfrm>
          <a:prstGeom prst="rect">
            <a:avLst/>
          </a:prstGeom>
          <a:noFill/>
        </p:spPr>
        <p:txBody>
          <a:bodyPr wrap="square" lIns="0" rIns="0" tIns="0" bIns="0">
            <a:spAutoFit/>
          </a:bodyPr>
          <a:lstStyle/>
          <a:p>
            <a:pPr algn="r" rtl="1">
              <a:lnSpc>
                <a:spcPct val="118000"/>
              </a:lnSpc>
              <a:spcAft>
                <a:spcPts val="500"/>
              </a:spcAft>
            </a:pPr>
            <a:r>
              <a:rPr sz="3660" b="1" lang="he-IL">
                <a:solidFill>
                  <a:srgbClr val="242139"/>
                </a:solidFill>
                <a:latin typeface="Arial"/>
              </a:rPr>
              <a:t>אפשר לדמיין גם המשך אחר</a:t>
            </a:r>
          </a:p>
        </p:txBody>
      </p:sp>
      <p:sp>
        <p:nvSpPr>
          <p:cNvPr id="6" name="Rectangle 5"/>
          <p:cNvSpPr/>
          <p:nvPr/>
        </p:nvSpPr>
        <p:spPr>
          <a:xfrm>
            <a:off x="548640" y="6332220"/>
            <a:ext cx="11094720" cy="15240"/>
          </a:xfrm>
          <a:prstGeom prst="rect">
            <a:avLst/>
          </a:prstGeom>
          <a:solidFill>
            <a:srgbClr val="E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15000" y="6492240"/>
            <a:ext cx="5905500" cy="198120"/>
          </a:xfrm>
          <a:prstGeom prst="rect">
            <a:avLst/>
          </a:prstGeom>
          <a:noFill/>
        </p:spPr>
        <p:txBody>
          <a:bodyPr wrap="square" lIns="0" rIns="0" tIns="0" bIns="0">
            <a:spAutoFit/>
          </a:bodyPr>
          <a:lstStyle/>
          <a:p>
            <a:pPr algn="r" rtl="1">
              <a:lnSpc>
                <a:spcPct val="118000"/>
              </a:lnSpc>
              <a:spcAft>
                <a:spcPts val="500"/>
              </a:spcAft>
            </a:pPr>
            <a:r>
              <a:rPr sz="1140" b="0" lang="he-IL">
                <a:solidFill>
                  <a:srgbClr val="6B6879"/>
                </a:solidFill>
                <a:latin typeface="Arial"/>
              </a:rPr>
              <a:t>הצעת מוצר לשיחה עם העמותה  ·  אוקטובר 2026</a:t>
            </a:r>
          </a:p>
        </p:txBody>
      </p:sp>
      <p:sp>
        <p:nvSpPr>
          <p:cNvPr id="8" name="TextBox 7"/>
          <p:cNvSpPr txBox="1"/>
          <p:nvPr/>
        </p:nvSpPr>
        <p:spPr>
          <a:xfrm>
            <a:off x="571500" y="6469380"/>
            <a:ext cx="571500" cy="228600"/>
          </a:xfrm>
          <a:prstGeom prst="rect">
            <a:avLst/>
          </a:prstGeom>
          <a:noFill/>
        </p:spPr>
        <p:txBody>
          <a:bodyPr wrap="square" lIns="0" rIns="0" tIns="0" bIns="0">
            <a:spAutoFit/>
          </a:bodyPr>
          <a:lstStyle/>
          <a:p>
            <a:pPr algn="l" rtl="1">
              <a:lnSpc>
                <a:spcPct val="118000"/>
              </a:lnSpc>
              <a:spcAft>
                <a:spcPts val="500"/>
              </a:spcAft>
            </a:pPr>
            <a:r>
              <a:rPr sz="1320" b="1" lang="he-IL">
                <a:solidFill>
                  <a:srgbClr val="7650D5"/>
                </a:solidFill>
                <a:latin typeface="Arial"/>
              </a:rPr>
              <a:t>11</a:t>
            </a:r>
          </a:p>
        </p:txBody>
      </p:sp>
      <p:sp>
        <p:nvSpPr>
          <p:cNvPr id="9" name="Rounded Rectangle 8"/>
          <p:cNvSpPr/>
          <p:nvPr/>
        </p:nvSpPr>
        <p:spPr>
          <a:xfrm>
            <a:off x="701040" y="1805940"/>
            <a:ext cx="2788920" cy="4381500"/>
          </a:xfrm>
          <a:prstGeom prst="roundRect">
            <a:avLst>
              <a:gd name="adj" fmla="val 12000"/>
            </a:avLst>
          </a:prstGeom>
          <a:solidFill>
            <a:srgbClr val="EAE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appy-ending.png"/>
          <p:cNvPicPr>
            <a:picLocks noChangeAspect="1"/>
          </p:cNvPicPr>
          <p:nvPr/>
        </p:nvPicPr>
        <p:blipFill>
          <a:blip r:embed="rId3"/>
          <a:stretch>
            <a:fillRect/>
          </a:stretch>
        </p:blipFill>
        <p:spPr>
          <a:xfrm>
            <a:off x="883920" y="1897380"/>
            <a:ext cx="2430780" cy="4320540"/>
          </a:xfrm>
          <a:prstGeom prst="rect">
            <a:avLst/>
          </a:prstGeom>
        </p:spPr>
      </p:pic>
      <p:sp>
        <p:nvSpPr>
          <p:cNvPr id="11" name="TextBox 10"/>
          <p:cNvSpPr txBox="1"/>
          <p:nvPr/>
        </p:nvSpPr>
        <p:spPr>
          <a:xfrm>
            <a:off x="4038600" y="1988819"/>
            <a:ext cx="7269480" cy="762000"/>
          </a:xfrm>
          <a:prstGeom prst="rect">
            <a:avLst/>
          </a:prstGeom>
          <a:noFill/>
        </p:spPr>
        <p:txBody>
          <a:bodyPr wrap="square" lIns="0" rIns="0" tIns="0" bIns="0">
            <a:spAutoFit/>
          </a:bodyPr>
          <a:lstStyle/>
          <a:p>
            <a:pPr algn="r" rtl="1">
              <a:lnSpc>
                <a:spcPct val="118000"/>
              </a:lnSpc>
              <a:spcAft>
                <a:spcPts val="500"/>
              </a:spcAft>
            </a:pPr>
            <a:r>
              <a:rPr sz="2640" b="1" lang="he-IL">
                <a:solidFill>
                  <a:srgbClr val="7650D5"/>
                </a:solidFill>
                <a:latin typeface="Arial"/>
              </a:rPr>
              <a:t>״מה שקרה לי הוא לא כל הסיפור שלי״</a:t>
            </a:r>
          </a:p>
        </p:txBody>
      </p:sp>
      <p:sp>
        <p:nvSpPr>
          <p:cNvPr id="12" name="TextBox 11"/>
          <p:cNvSpPr txBox="1"/>
          <p:nvPr/>
        </p:nvSpPr>
        <p:spPr>
          <a:xfrm>
            <a:off x="4038600" y="297180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ילדים נותנים תקווה זה לזה</a:t>
            </a:r>
          </a:p>
        </p:txBody>
      </p:sp>
      <p:sp>
        <p:nvSpPr>
          <p:cNvPr id="13" name="TextBox 12"/>
          <p:cNvSpPr txBox="1"/>
          <p:nvPr/>
        </p:nvSpPr>
        <p:spPr>
          <a:xfrm>
            <a:off x="4038600" y="333756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ילד משתף סיפור בעילום שם; אחרים תורמים המשך תומך או חיבוק.</a:t>
            </a:r>
          </a:p>
        </p:txBody>
      </p:sp>
      <p:sp>
        <p:nvSpPr>
          <p:cNvPr id="14" name="TextBox 13"/>
          <p:cNvSpPr txBox="1"/>
          <p:nvPr/>
        </p:nvSpPr>
        <p:spPr>
          <a:xfrm>
            <a:off x="4038600" y="390144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הצעה למסלול מוגן</a:t>
            </a:r>
          </a:p>
        </p:txBody>
      </p:sp>
      <p:sp>
        <p:nvSpPr>
          <p:cNvPr id="15" name="TextBox 14"/>
          <p:cNvSpPr txBox="1"/>
          <p:nvPr/>
        </p:nvSpPr>
        <p:spPr>
          <a:xfrm>
            <a:off x="4038600" y="426720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ילדים בוחרים סיפורים ותגובות מתוכן מאושר; תוכן חופשי נבדק לפני פרסום.</a:t>
            </a:r>
          </a:p>
        </p:txBody>
      </p:sp>
      <p:sp>
        <p:nvSpPr>
          <p:cNvPr id="16" name="TextBox 15"/>
          <p:cNvSpPr txBox="1"/>
          <p:nvPr/>
        </p:nvSpPr>
        <p:spPr>
          <a:xfrm>
            <a:off x="4038600" y="483108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לתת תקווה בלי לבטל כאב</a:t>
            </a:r>
          </a:p>
        </p:txBody>
      </p:sp>
      <p:sp>
        <p:nvSpPr>
          <p:cNvPr id="17" name="TextBox 16"/>
          <p:cNvSpPr txBox="1"/>
          <p:nvPr/>
        </p:nvSpPr>
        <p:spPr>
          <a:xfrm>
            <a:off x="4038600" y="519684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אין חובה למצוא סוף שמח. נגדיר יחד שפה שמכבדת את מה שקרה.</a:t>
            </a:r>
          </a:p>
        </p:txBody>
      </p:sp>
      <p:sp>
        <p:nvSpPr>
          <p:cNvPr id="18" name="TextBox 17"/>
          <p:cNvSpPr txBox="1"/>
          <p:nvPr/>
        </p:nvSpPr>
        <p:spPr>
          <a:xfrm>
            <a:off x="4038600" y="5844540"/>
            <a:ext cx="7239000" cy="358140"/>
          </a:xfrm>
          <a:prstGeom prst="rect">
            <a:avLst/>
          </a:prstGeom>
          <a:noFill/>
        </p:spPr>
        <p:txBody>
          <a:bodyPr wrap="square" lIns="0" rIns="0" tIns="0" bIns="0">
            <a:spAutoFit/>
          </a:bodyPr>
          <a:lstStyle/>
          <a:p>
            <a:pPr algn="r" rtl="1">
              <a:lnSpc>
                <a:spcPct val="118000"/>
              </a:lnSpc>
              <a:spcAft>
                <a:spcPts val="500"/>
              </a:spcAft>
            </a:pPr>
            <a:r>
              <a:rPr sz="1380" b="0" lang="he-IL">
                <a:solidFill>
                  <a:srgbClr val="167E76"/>
                </a:solidFill>
                <a:latin typeface="Arial"/>
              </a:rPr>
              <a:t>מוקאפ קיים · כתיבה חופשית אינה זרימה מאושרת. הפעלתה תלויה במעטפת בדיקה ומענה.</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ounded Rectangle 1"/>
          <p:cNvSpPr/>
          <p:nvPr/>
        </p:nvSpPr>
        <p:spPr>
          <a:xfrm>
            <a:off x="11567160" y="472440"/>
            <a:ext cx="76200" cy="350520"/>
          </a:xfrm>
          <a:prstGeom prst="roundRect">
            <a:avLst>
              <a:gd name="adj" fmla="val 12000"/>
            </a:avLst>
          </a:prstGeom>
          <a:solidFill>
            <a:srgbClr val="765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62600" y="502920"/>
            <a:ext cx="5753100" cy="274320"/>
          </a:xfrm>
          <a:prstGeom prst="rect">
            <a:avLst/>
          </a:prstGeom>
          <a:noFill/>
        </p:spPr>
        <p:txBody>
          <a:bodyPr wrap="square" lIns="0" rIns="0" tIns="0" bIns="0">
            <a:spAutoFit/>
          </a:bodyPr>
          <a:lstStyle/>
          <a:p>
            <a:pPr algn="r" rtl="1">
              <a:lnSpc>
                <a:spcPct val="118000"/>
              </a:lnSpc>
              <a:spcAft>
                <a:spcPts val="500"/>
              </a:spcAft>
            </a:pPr>
            <a:r>
              <a:rPr sz="1439" b="1" lang="he-IL">
                <a:solidFill>
                  <a:srgbClr val="167E76"/>
                </a:solidFill>
                <a:latin typeface="Arial"/>
              </a:rPr>
              <a:t>06  /  הצמח שלי</a:t>
            </a:r>
          </a:p>
        </p:txBody>
      </p:sp>
      <p:sp>
        <p:nvSpPr>
          <p:cNvPr id="4" name="TextBox 3"/>
          <p:cNvSpPr txBox="1"/>
          <p:nvPr/>
        </p:nvSpPr>
        <p:spPr>
          <a:xfrm>
            <a:off x="548640" y="472440"/>
            <a:ext cx="1524000" cy="342900"/>
          </a:xfrm>
          <a:prstGeom prst="rect">
            <a:avLst/>
          </a:prstGeom>
          <a:noFill/>
        </p:spPr>
        <p:txBody>
          <a:bodyPr wrap="square" lIns="0" rIns="0" tIns="0" bIns="0">
            <a:spAutoFit/>
          </a:bodyPr>
          <a:lstStyle/>
          <a:p>
            <a:pPr algn="l" rtl="1">
              <a:lnSpc>
                <a:spcPct val="118000"/>
              </a:lnSpc>
              <a:spcAft>
                <a:spcPts val="500"/>
              </a:spcAft>
            </a:pPr>
            <a:r>
              <a:rPr sz="1920" b="1" lang="he-IL">
                <a:solidFill>
                  <a:srgbClr val="7650D5"/>
                </a:solidFill>
                <a:latin typeface="Arial"/>
              </a:rPr>
              <a:t>FeelIt</a:t>
            </a:r>
          </a:p>
        </p:txBody>
      </p:sp>
      <p:sp>
        <p:nvSpPr>
          <p:cNvPr id="5" name="TextBox 4"/>
          <p:cNvSpPr txBox="1"/>
          <p:nvPr/>
        </p:nvSpPr>
        <p:spPr>
          <a:xfrm>
            <a:off x="548640" y="1043940"/>
            <a:ext cx="11094720" cy="716280"/>
          </a:xfrm>
          <a:prstGeom prst="rect">
            <a:avLst/>
          </a:prstGeom>
          <a:noFill/>
        </p:spPr>
        <p:txBody>
          <a:bodyPr wrap="square" lIns="0" rIns="0" tIns="0" bIns="0">
            <a:spAutoFit/>
          </a:bodyPr>
          <a:lstStyle/>
          <a:p>
            <a:pPr algn="r" rtl="1">
              <a:lnSpc>
                <a:spcPct val="118000"/>
              </a:lnSpc>
              <a:spcAft>
                <a:spcPts val="500"/>
              </a:spcAft>
            </a:pPr>
            <a:r>
              <a:rPr sz="3660" b="1" lang="he-IL">
                <a:solidFill>
                  <a:srgbClr val="242139"/>
                </a:solidFill>
                <a:latin typeface="Arial"/>
              </a:rPr>
              <a:t>משהו טוב צומח איתי</a:t>
            </a:r>
          </a:p>
        </p:txBody>
      </p:sp>
      <p:sp>
        <p:nvSpPr>
          <p:cNvPr id="6" name="Rectangle 5"/>
          <p:cNvSpPr/>
          <p:nvPr/>
        </p:nvSpPr>
        <p:spPr>
          <a:xfrm>
            <a:off x="548640" y="6332220"/>
            <a:ext cx="11094720" cy="15240"/>
          </a:xfrm>
          <a:prstGeom prst="rect">
            <a:avLst/>
          </a:prstGeom>
          <a:solidFill>
            <a:srgbClr val="E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15000" y="6492240"/>
            <a:ext cx="5905500" cy="198120"/>
          </a:xfrm>
          <a:prstGeom prst="rect">
            <a:avLst/>
          </a:prstGeom>
          <a:noFill/>
        </p:spPr>
        <p:txBody>
          <a:bodyPr wrap="square" lIns="0" rIns="0" tIns="0" bIns="0">
            <a:spAutoFit/>
          </a:bodyPr>
          <a:lstStyle/>
          <a:p>
            <a:pPr algn="r" rtl="1">
              <a:lnSpc>
                <a:spcPct val="118000"/>
              </a:lnSpc>
              <a:spcAft>
                <a:spcPts val="500"/>
              </a:spcAft>
            </a:pPr>
            <a:r>
              <a:rPr sz="1140" b="0" lang="he-IL">
                <a:solidFill>
                  <a:srgbClr val="6B6879"/>
                </a:solidFill>
                <a:latin typeface="Arial"/>
              </a:rPr>
              <a:t>הצעת מוצר לשיחה עם העמותה  ·  אוקטובר 2026</a:t>
            </a:r>
          </a:p>
        </p:txBody>
      </p:sp>
      <p:sp>
        <p:nvSpPr>
          <p:cNvPr id="8" name="TextBox 7"/>
          <p:cNvSpPr txBox="1"/>
          <p:nvPr/>
        </p:nvSpPr>
        <p:spPr>
          <a:xfrm>
            <a:off x="571500" y="6469380"/>
            <a:ext cx="571500" cy="228600"/>
          </a:xfrm>
          <a:prstGeom prst="rect">
            <a:avLst/>
          </a:prstGeom>
          <a:noFill/>
        </p:spPr>
        <p:txBody>
          <a:bodyPr wrap="square" lIns="0" rIns="0" tIns="0" bIns="0">
            <a:spAutoFit/>
          </a:bodyPr>
          <a:lstStyle/>
          <a:p>
            <a:pPr algn="l" rtl="1">
              <a:lnSpc>
                <a:spcPct val="118000"/>
              </a:lnSpc>
              <a:spcAft>
                <a:spcPts val="500"/>
              </a:spcAft>
            </a:pPr>
            <a:r>
              <a:rPr sz="1320" b="1" lang="he-IL">
                <a:solidFill>
                  <a:srgbClr val="7650D5"/>
                </a:solidFill>
                <a:latin typeface="Arial"/>
              </a:rPr>
              <a:t>12</a:t>
            </a:r>
          </a:p>
        </p:txBody>
      </p:sp>
      <p:sp>
        <p:nvSpPr>
          <p:cNvPr id="9" name="Rounded Rectangle 8"/>
          <p:cNvSpPr/>
          <p:nvPr/>
        </p:nvSpPr>
        <p:spPr>
          <a:xfrm>
            <a:off x="701040" y="1805940"/>
            <a:ext cx="2788920" cy="4381500"/>
          </a:xfrm>
          <a:prstGeom prst="roundRect">
            <a:avLst>
              <a:gd name="adj" fmla="val 12000"/>
            </a:avLst>
          </a:prstGeom>
          <a:solidFill>
            <a:srgbClr val="EAE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y-plant.png"/>
          <p:cNvPicPr>
            <a:picLocks noChangeAspect="1"/>
          </p:cNvPicPr>
          <p:nvPr/>
        </p:nvPicPr>
        <p:blipFill>
          <a:blip r:embed="rId2"/>
          <a:stretch>
            <a:fillRect/>
          </a:stretch>
        </p:blipFill>
        <p:spPr>
          <a:xfrm>
            <a:off x="883920" y="1897380"/>
            <a:ext cx="2430780" cy="4320540"/>
          </a:xfrm>
          <a:prstGeom prst="rect">
            <a:avLst/>
          </a:prstGeom>
        </p:spPr>
      </p:pic>
      <p:sp>
        <p:nvSpPr>
          <p:cNvPr id="11" name="TextBox 10"/>
          <p:cNvSpPr txBox="1"/>
          <p:nvPr/>
        </p:nvSpPr>
        <p:spPr>
          <a:xfrm>
            <a:off x="4038600" y="1988819"/>
            <a:ext cx="7269480" cy="762000"/>
          </a:xfrm>
          <a:prstGeom prst="rect">
            <a:avLst/>
          </a:prstGeom>
          <a:noFill/>
        </p:spPr>
        <p:txBody>
          <a:bodyPr wrap="square" lIns="0" rIns="0" tIns="0" bIns="0">
            <a:spAutoFit/>
          </a:bodyPr>
          <a:lstStyle/>
          <a:p>
            <a:pPr algn="r" rtl="1">
              <a:lnSpc>
                <a:spcPct val="118000"/>
              </a:lnSpc>
              <a:spcAft>
                <a:spcPts val="500"/>
              </a:spcAft>
            </a:pPr>
            <a:r>
              <a:rPr sz="2640" b="1" lang="he-IL">
                <a:solidFill>
                  <a:srgbClr val="7650D5"/>
                </a:solidFill>
                <a:latin typeface="Arial"/>
              </a:rPr>
              <a:t>״זה המקום שלי, בקצב שלי״</a:t>
            </a:r>
          </a:p>
        </p:txBody>
      </p:sp>
      <p:sp>
        <p:nvSpPr>
          <p:cNvPr id="12" name="TextBox 11"/>
          <p:cNvSpPr txBox="1"/>
          <p:nvPr/>
        </p:nvSpPr>
        <p:spPr>
          <a:xfrm>
            <a:off x="4038600" y="297180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פרופיל חי ואישי</a:t>
            </a:r>
          </a:p>
        </p:txBody>
      </p:sp>
      <p:sp>
        <p:nvSpPr>
          <p:cNvPr id="13" name="TextBox 12"/>
          <p:cNvSpPr txBox="1"/>
          <p:nvPr/>
        </p:nvSpPr>
        <p:spPr>
          <a:xfrm>
            <a:off x="4038600" y="333756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צמח, מדבקות ותחומי עניין יוצרים תחושת בעלות והמשכיות.</a:t>
            </a:r>
          </a:p>
        </p:txBody>
      </p:sp>
      <p:sp>
        <p:nvSpPr>
          <p:cNvPr id="14" name="TextBox 13"/>
          <p:cNvSpPr txBox="1"/>
          <p:nvPr/>
        </p:nvSpPr>
        <p:spPr>
          <a:xfrm>
            <a:off x="4038600" y="390144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פירות שאפשר לתת</a:t>
            </a:r>
          </a:p>
        </p:txBody>
      </p:sp>
      <p:sp>
        <p:nvSpPr>
          <p:cNvPr id="15" name="TextBox 14"/>
          <p:cNvSpPr txBox="1"/>
          <p:nvPr/>
        </p:nvSpPr>
        <p:spPr>
          <a:xfrm>
            <a:off x="4038600" y="426720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מבחינים בין פירות שגידלתי למתנות שקיבלתי; אפשר להעביר הלאה.</a:t>
            </a:r>
          </a:p>
        </p:txBody>
      </p:sp>
      <p:sp>
        <p:nvSpPr>
          <p:cNvPr id="16" name="TextBox 15"/>
          <p:cNvSpPr txBox="1"/>
          <p:nvPr/>
        </p:nvSpPr>
        <p:spPr>
          <a:xfrm>
            <a:off x="4038600" y="483108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הצעה: צמיחה ללא תחרות</a:t>
            </a:r>
          </a:p>
        </p:txBody>
      </p:sp>
      <p:sp>
        <p:nvSpPr>
          <p:cNvPr id="17" name="TextBox 16"/>
          <p:cNvSpPr txBox="1"/>
          <p:nvPr/>
        </p:nvSpPr>
        <p:spPr>
          <a:xfrm>
            <a:off x="4038600" y="519684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נבסס צמיחה על השתתפות אישית, ללא קמילה בגלל היעדרות.</a:t>
            </a:r>
          </a:p>
        </p:txBody>
      </p:sp>
      <p:sp>
        <p:nvSpPr>
          <p:cNvPr id="18" name="TextBox 17"/>
          <p:cNvSpPr txBox="1"/>
          <p:nvPr/>
        </p:nvSpPr>
        <p:spPr>
          <a:xfrm>
            <a:off x="4038600" y="5844540"/>
            <a:ext cx="7239000" cy="358140"/>
          </a:xfrm>
          <a:prstGeom prst="rect">
            <a:avLst/>
          </a:prstGeom>
          <a:noFill/>
        </p:spPr>
        <p:txBody>
          <a:bodyPr wrap="square" lIns="0" rIns="0" tIns="0" bIns="0">
            <a:spAutoFit/>
          </a:bodyPr>
          <a:lstStyle/>
          <a:p>
            <a:pPr algn="r" rtl="1">
              <a:lnSpc>
                <a:spcPct val="118000"/>
              </a:lnSpc>
              <a:spcAft>
                <a:spcPts val="500"/>
              </a:spcAft>
            </a:pPr>
            <a:r>
              <a:rPr sz="1380" b="0" lang="he-IL">
                <a:solidFill>
                  <a:srgbClr val="167E76"/>
                </a:solidFill>
                <a:latin typeface="Arial"/>
              </a:rPr>
              <a:t>מוקאפ קיים · נבחן מחדש את מונה החיבוקים ואת מדבקת העיר כדי לצמצם השוואה וחשיפה.</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ounded Rectangle 1"/>
          <p:cNvSpPr/>
          <p:nvPr/>
        </p:nvSpPr>
        <p:spPr>
          <a:xfrm>
            <a:off x="11567160" y="472440"/>
            <a:ext cx="76200" cy="350520"/>
          </a:xfrm>
          <a:prstGeom prst="roundRect">
            <a:avLst>
              <a:gd name="adj" fmla="val 12000"/>
            </a:avLst>
          </a:prstGeom>
          <a:solidFill>
            <a:srgbClr val="765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62600" y="502920"/>
            <a:ext cx="5753100" cy="274320"/>
          </a:xfrm>
          <a:prstGeom prst="rect">
            <a:avLst/>
          </a:prstGeom>
          <a:noFill/>
        </p:spPr>
        <p:txBody>
          <a:bodyPr wrap="square" lIns="0" rIns="0" tIns="0" bIns="0">
            <a:spAutoFit/>
          </a:bodyPr>
          <a:lstStyle/>
          <a:p>
            <a:pPr algn="r" rtl="1">
              <a:lnSpc>
                <a:spcPct val="118000"/>
              </a:lnSpc>
              <a:spcAft>
                <a:spcPts val="500"/>
              </a:spcAft>
            </a:pPr>
            <a:r>
              <a:rPr sz="1439" b="1" lang="he-IL">
                <a:solidFill>
                  <a:srgbClr val="167E76"/>
                </a:solidFill>
                <a:latin typeface="Arial"/>
              </a:rPr>
              <a:t>תכנון אחראי</a:t>
            </a:r>
          </a:p>
        </p:txBody>
      </p:sp>
      <p:sp>
        <p:nvSpPr>
          <p:cNvPr id="4" name="TextBox 3"/>
          <p:cNvSpPr txBox="1"/>
          <p:nvPr/>
        </p:nvSpPr>
        <p:spPr>
          <a:xfrm>
            <a:off x="548640" y="472440"/>
            <a:ext cx="1524000" cy="342900"/>
          </a:xfrm>
          <a:prstGeom prst="rect">
            <a:avLst/>
          </a:prstGeom>
          <a:noFill/>
        </p:spPr>
        <p:txBody>
          <a:bodyPr wrap="square" lIns="0" rIns="0" tIns="0" bIns="0">
            <a:spAutoFit/>
          </a:bodyPr>
          <a:lstStyle/>
          <a:p>
            <a:pPr algn="l" rtl="1">
              <a:lnSpc>
                <a:spcPct val="118000"/>
              </a:lnSpc>
              <a:spcAft>
                <a:spcPts val="500"/>
              </a:spcAft>
            </a:pPr>
            <a:r>
              <a:rPr sz="1920" b="1" lang="he-IL">
                <a:solidFill>
                  <a:srgbClr val="7650D5"/>
                </a:solidFill>
                <a:latin typeface="Arial"/>
              </a:rPr>
              <a:t>FeelIt</a:t>
            </a:r>
          </a:p>
        </p:txBody>
      </p:sp>
      <p:sp>
        <p:nvSpPr>
          <p:cNvPr id="5" name="TextBox 4"/>
          <p:cNvSpPr txBox="1"/>
          <p:nvPr/>
        </p:nvSpPr>
        <p:spPr>
          <a:xfrm>
            <a:off x="548640" y="1043940"/>
            <a:ext cx="11094720" cy="716280"/>
          </a:xfrm>
          <a:prstGeom prst="rect">
            <a:avLst/>
          </a:prstGeom>
          <a:noFill/>
        </p:spPr>
        <p:txBody>
          <a:bodyPr wrap="square" lIns="0" rIns="0" tIns="0" bIns="0">
            <a:spAutoFit/>
          </a:bodyPr>
          <a:lstStyle/>
          <a:p>
            <a:pPr algn="r" rtl="1">
              <a:lnSpc>
                <a:spcPct val="118000"/>
              </a:lnSpc>
              <a:spcAft>
                <a:spcPts val="500"/>
              </a:spcAft>
            </a:pPr>
            <a:r>
              <a:rPr sz="3660" b="1" lang="he-IL">
                <a:solidFill>
                  <a:srgbClr val="242139"/>
                </a:solidFill>
                <a:latin typeface="Arial"/>
              </a:rPr>
              <a:t>מתכננים את הגבולות כדי לאפשר את החיבור</a:t>
            </a:r>
          </a:p>
        </p:txBody>
      </p:sp>
      <p:sp>
        <p:nvSpPr>
          <p:cNvPr id="6" name="TextBox 5"/>
          <p:cNvSpPr txBox="1"/>
          <p:nvPr/>
        </p:nvSpPr>
        <p:spPr>
          <a:xfrm>
            <a:off x="609600" y="1844040"/>
            <a:ext cx="10972800" cy="647700"/>
          </a:xfrm>
          <a:prstGeom prst="rect">
            <a:avLst/>
          </a:prstGeom>
          <a:noFill/>
        </p:spPr>
        <p:txBody>
          <a:bodyPr wrap="square" lIns="0" rIns="0" tIns="0" bIns="0">
            <a:spAutoFit/>
          </a:bodyPr>
          <a:lstStyle/>
          <a:p>
            <a:pPr algn="r" rtl="1">
              <a:lnSpc>
                <a:spcPct val="118000"/>
              </a:lnSpc>
              <a:spcAft>
                <a:spcPts val="500"/>
              </a:spcAft>
            </a:pPr>
            <a:r>
              <a:rPr sz="1800" b="0" lang="he-IL">
                <a:solidFill>
                  <a:srgbClr val="6B6879"/>
                </a:solidFill>
                <a:latin typeface="Arial"/>
              </a:rPr>
              <a:t>אינטראקציות חיוביות בין ילדים, לצד פרטיות ובקרה — עקרונות לתכנון המרחב החברתי</a:t>
            </a:r>
          </a:p>
        </p:txBody>
      </p:sp>
      <p:sp>
        <p:nvSpPr>
          <p:cNvPr id="7" name="Rectangle 6"/>
          <p:cNvSpPr/>
          <p:nvPr/>
        </p:nvSpPr>
        <p:spPr>
          <a:xfrm>
            <a:off x="548640" y="6332220"/>
            <a:ext cx="11094720" cy="15240"/>
          </a:xfrm>
          <a:prstGeom prst="rect">
            <a:avLst/>
          </a:prstGeom>
          <a:solidFill>
            <a:srgbClr val="E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15000" y="6492240"/>
            <a:ext cx="5905500" cy="198120"/>
          </a:xfrm>
          <a:prstGeom prst="rect">
            <a:avLst/>
          </a:prstGeom>
          <a:noFill/>
        </p:spPr>
        <p:txBody>
          <a:bodyPr wrap="square" lIns="0" rIns="0" tIns="0" bIns="0">
            <a:spAutoFit/>
          </a:bodyPr>
          <a:lstStyle/>
          <a:p>
            <a:pPr algn="r" rtl="1">
              <a:lnSpc>
                <a:spcPct val="118000"/>
              </a:lnSpc>
              <a:spcAft>
                <a:spcPts val="500"/>
              </a:spcAft>
            </a:pPr>
            <a:r>
              <a:rPr sz="1140" b="0" lang="he-IL">
                <a:solidFill>
                  <a:srgbClr val="6B6879"/>
                </a:solidFill>
                <a:latin typeface="Arial"/>
              </a:rPr>
              <a:t>הצעת מוצר לשיחה עם העמותה  ·  אוקטובר 2026</a:t>
            </a:r>
          </a:p>
        </p:txBody>
      </p:sp>
      <p:sp>
        <p:nvSpPr>
          <p:cNvPr id="9" name="TextBox 8"/>
          <p:cNvSpPr txBox="1"/>
          <p:nvPr/>
        </p:nvSpPr>
        <p:spPr>
          <a:xfrm>
            <a:off x="571500" y="6469380"/>
            <a:ext cx="571500" cy="228600"/>
          </a:xfrm>
          <a:prstGeom prst="rect">
            <a:avLst/>
          </a:prstGeom>
          <a:noFill/>
        </p:spPr>
        <p:txBody>
          <a:bodyPr wrap="square" lIns="0" rIns="0" tIns="0" bIns="0">
            <a:spAutoFit/>
          </a:bodyPr>
          <a:lstStyle/>
          <a:p>
            <a:pPr algn="l" rtl="1">
              <a:lnSpc>
                <a:spcPct val="118000"/>
              </a:lnSpc>
              <a:spcAft>
                <a:spcPts val="500"/>
              </a:spcAft>
            </a:pPr>
            <a:r>
              <a:rPr sz="1320" b="1" lang="he-IL">
                <a:solidFill>
                  <a:srgbClr val="7650D5"/>
                </a:solidFill>
                <a:latin typeface="Arial"/>
              </a:rPr>
              <a:t>13</a:t>
            </a:r>
          </a:p>
        </p:txBody>
      </p:sp>
      <p:sp>
        <p:nvSpPr>
          <p:cNvPr id="10" name="Rounded Rectangle 9"/>
          <p:cNvSpPr/>
          <p:nvPr/>
        </p:nvSpPr>
        <p:spPr>
          <a:xfrm>
            <a:off x="8001000" y="2659380"/>
            <a:ext cx="3581400" cy="2895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2834640"/>
            <a:ext cx="3215640" cy="320040"/>
          </a:xfrm>
          <a:prstGeom prst="rect">
            <a:avLst/>
          </a:prstGeom>
          <a:noFill/>
        </p:spPr>
        <p:txBody>
          <a:bodyPr wrap="square" lIns="0" rIns="0" tIns="0" bIns="0">
            <a:spAutoFit/>
          </a:bodyPr>
          <a:lstStyle/>
          <a:p>
            <a:pPr algn="r" rtl="1">
              <a:lnSpc>
                <a:spcPct val="118000"/>
              </a:lnSpc>
              <a:spcAft>
                <a:spcPts val="500"/>
              </a:spcAft>
            </a:pPr>
            <a:r>
              <a:rPr sz="1739" b="1" lang="he-IL">
                <a:solidFill>
                  <a:srgbClr val="167E76"/>
                </a:solidFill>
                <a:latin typeface="Arial"/>
              </a:rPr>
              <a:t>קשר בין ילדים</a:t>
            </a:r>
          </a:p>
        </p:txBody>
      </p:sp>
      <p:sp>
        <p:nvSpPr>
          <p:cNvPr id="12" name="TextBox 11"/>
          <p:cNvSpPr txBox="1"/>
          <p:nvPr/>
        </p:nvSpPr>
        <p:spPr>
          <a:xfrm>
            <a:off x="8183879" y="3291840"/>
            <a:ext cx="3215640" cy="701040"/>
          </a:xfrm>
          <a:prstGeom prst="rect">
            <a:avLst/>
          </a:prstGeom>
          <a:noFill/>
        </p:spPr>
        <p:txBody>
          <a:bodyPr wrap="square" lIns="0" rIns="0" tIns="0" bIns="0">
            <a:spAutoFit/>
          </a:bodyPr>
          <a:lstStyle/>
          <a:p>
            <a:pPr algn="r" rtl="1">
              <a:lnSpc>
                <a:spcPct val="118000"/>
              </a:lnSpc>
              <a:spcAft>
                <a:spcPts val="500"/>
              </a:spcAft>
            </a:pPr>
            <a:r>
              <a:rPr sz="2220" b="1" lang="he-IL">
                <a:solidFill>
                  <a:srgbClr val="242139"/>
                </a:solidFill>
                <a:latin typeface="Arial"/>
              </a:rPr>
              <a:t>גבולות ברורים</a:t>
            </a:r>
          </a:p>
        </p:txBody>
      </p:sp>
      <p:sp>
        <p:nvSpPr>
          <p:cNvPr id="13" name="TextBox 12"/>
          <p:cNvSpPr txBox="1"/>
          <p:nvPr/>
        </p:nvSpPr>
        <p:spPr>
          <a:xfrm>
            <a:off x="8183879" y="4091939"/>
            <a:ext cx="3215640" cy="137160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ללא הודעות פרטיות. מחוות מובנות ואנונימיות. הצעה: בלי בחירת נמען מזוהה ובלי פרופיל ציבורי לחיפוש.</a:t>
            </a:r>
          </a:p>
        </p:txBody>
      </p:sp>
      <p:sp>
        <p:nvSpPr>
          <p:cNvPr id="14" name="Rounded Rectangle 13"/>
          <p:cNvSpPr/>
          <p:nvPr/>
        </p:nvSpPr>
        <p:spPr>
          <a:xfrm>
            <a:off x="4305300" y="2659380"/>
            <a:ext cx="3467100" cy="2895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8180" y="2834640"/>
            <a:ext cx="3101340" cy="320040"/>
          </a:xfrm>
          <a:prstGeom prst="rect">
            <a:avLst/>
          </a:prstGeom>
          <a:noFill/>
        </p:spPr>
        <p:txBody>
          <a:bodyPr wrap="square" lIns="0" rIns="0" tIns="0" bIns="0">
            <a:spAutoFit/>
          </a:bodyPr>
          <a:lstStyle/>
          <a:p>
            <a:pPr algn="r" rtl="1">
              <a:lnSpc>
                <a:spcPct val="118000"/>
              </a:lnSpc>
              <a:spcAft>
                <a:spcPts val="500"/>
              </a:spcAft>
            </a:pPr>
            <a:r>
              <a:rPr sz="1739" b="1" lang="he-IL">
                <a:solidFill>
                  <a:srgbClr val="167E76"/>
                </a:solidFill>
                <a:latin typeface="Arial"/>
              </a:rPr>
              <a:t>פרטיות</a:t>
            </a:r>
          </a:p>
        </p:txBody>
      </p:sp>
      <p:sp>
        <p:nvSpPr>
          <p:cNvPr id="16" name="TextBox 15"/>
          <p:cNvSpPr txBox="1"/>
          <p:nvPr/>
        </p:nvSpPr>
        <p:spPr>
          <a:xfrm>
            <a:off x="4488180" y="3291840"/>
            <a:ext cx="3101340" cy="701040"/>
          </a:xfrm>
          <a:prstGeom prst="rect">
            <a:avLst/>
          </a:prstGeom>
          <a:noFill/>
        </p:spPr>
        <p:txBody>
          <a:bodyPr wrap="square" lIns="0" rIns="0" tIns="0" bIns="0">
            <a:spAutoFit/>
          </a:bodyPr>
          <a:lstStyle/>
          <a:p>
            <a:pPr algn="r" rtl="1">
              <a:lnSpc>
                <a:spcPct val="118000"/>
              </a:lnSpc>
              <a:spcAft>
                <a:spcPts val="500"/>
              </a:spcAft>
            </a:pPr>
            <a:r>
              <a:rPr sz="2220" b="1" lang="he-IL">
                <a:solidFill>
                  <a:srgbClr val="242139"/>
                </a:solidFill>
                <a:latin typeface="Arial"/>
              </a:rPr>
              <a:t>אוספים רק מה שנחוץ</a:t>
            </a:r>
          </a:p>
        </p:txBody>
      </p:sp>
      <p:sp>
        <p:nvSpPr>
          <p:cNvPr id="17" name="TextBox 16"/>
          <p:cNvSpPr txBox="1"/>
          <p:nvPr/>
        </p:nvSpPr>
        <p:spPr>
          <a:xfrm>
            <a:off x="4488180" y="4091939"/>
            <a:ext cx="3101340" cy="137160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נבחן צורך בשם, עיר, גיל ומגדר; נגדיר מי רואה מה, כמה זמן נשמר מידע ואיך מוחקים אותו.</a:t>
            </a:r>
          </a:p>
        </p:txBody>
      </p:sp>
      <p:sp>
        <p:nvSpPr>
          <p:cNvPr id="18" name="Rounded Rectangle 17"/>
          <p:cNvSpPr/>
          <p:nvPr/>
        </p:nvSpPr>
        <p:spPr>
          <a:xfrm>
            <a:off x="609600" y="2659380"/>
            <a:ext cx="3467100" cy="2895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2480" y="2834640"/>
            <a:ext cx="3101340" cy="320040"/>
          </a:xfrm>
          <a:prstGeom prst="rect">
            <a:avLst/>
          </a:prstGeom>
          <a:noFill/>
        </p:spPr>
        <p:txBody>
          <a:bodyPr wrap="square" lIns="0" rIns="0" tIns="0" bIns="0">
            <a:spAutoFit/>
          </a:bodyPr>
          <a:lstStyle/>
          <a:p>
            <a:pPr algn="r" rtl="1">
              <a:lnSpc>
                <a:spcPct val="118000"/>
              </a:lnSpc>
              <a:spcAft>
                <a:spcPts val="500"/>
              </a:spcAft>
            </a:pPr>
            <a:r>
              <a:rPr sz="1739" b="1" lang="he-IL">
                <a:solidFill>
                  <a:srgbClr val="167E76"/>
                </a:solidFill>
                <a:latin typeface="Arial"/>
              </a:rPr>
              <a:t>תוכן וקהילה</a:t>
            </a:r>
          </a:p>
        </p:txBody>
      </p:sp>
      <p:sp>
        <p:nvSpPr>
          <p:cNvPr id="20" name="TextBox 19"/>
          <p:cNvSpPr txBox="1"/>
          <p:nvPr/>
        </p:nvSpPr>
        <p:spPr>
          <a:xfrm>
            <a:off x="792480" y="3291840"/>
            <a:ext cx="3101340" cy="701040"/>
          </a:xfrm>
          <a:prstGeom prst="rect">
            <a:avLst/>
          </a:prstGeom>
          <a:noFill/>
        </p:spPr>
        <p:txBody>
          <a:bodyPr wrap="square" lIns="0" rIns="0" tIns="0" bIns="0">
            <a:spAutoFit/>
          </a:bodyPr>
          <a:lstStyle/>
          <a:p>
            <a:pPr algn="r" rtl="1">
              <a:lnSpc>
                <a:spcPct val="118000"/>
              </a:lnSpc>
              <a:spcAft>
                <a:spcPts val="500"/>
              </a:spcAft>
            </a:pPr>
            <a:r>
              <a:rPr sz="2220" b="1" lang="he-IL">
                <a:solidFill>
                  <a:srgbClr val="242139"/>
                </a:solidFill>
                <a:latin typeface="Arial"/>
              </a:rPr>
              <a:t>בקרה לפני חשיפה</a:t>
            </a:r>
          </a:p>
        </p:txBody>
      </p:sp>
      <p:sp>
        <p:nvSpPr>
          <p:cNvPr id="21" name="TextBox 20"/>
          <p:cNvSpPr txBox="1"/>
          <p:nvPr/>
        </p:nvSpPr>
        <p:spPr>
          <a:xfrm>
            <a:off x="792480" y="4091939"/>
            <a:ext cx="3101340" cy="137160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ספריית תוכן מאושרת, בדיקה לפני פרסום תוכן חופשי, דיווח נגיש וכללים נגד הצפה ושימוש פוגעני.</a:t>
            </a:r>
          </a:p>
        </p:txBody>
      </p:sp>
      <p:sp>
        <p:nvSpPr>
          <p:cNvPr id="22" name="Rounded Rectangle 21"/>
          <p:cNvSpPr/>
          <p:nvPr/>
        </p:nvSpPr>
        <p:spPr>
          <a:xfrm>
            <a:off x="609600" y="5707380"/>
            <a:ext cx="10972800" cy="464820"/>
          </a:xfrm>
          <a:prstGeom prst="roundRect">
            <a:avLst>
              <a:gd name="adj" fmla="val 12000"/>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2480" y="5806440"/>
            <a:ext cx="10607040" cy="304800"/>
          </a:xfrm>
          <a:prstGeom prst="rect">
            <a:avLst/>
          </a:prstGeom>
          <a:noFill/>
        </p:spPr>
        <p:txBody>
          <a:bodyPr wrap="square" lIns="0" rIns="0" tIns="0" bIns="0">
            <a:spAutoFit/>
          </a:bodyPr>
          <a:lstStyle/>
          <a:p>
            <a:pPr algn="r" rtl="1">
              <a:lnSpc>
                <a:spcPct val="118000"/>
              </a:lnSpc>
              <a:spcAft>
                <a:spcPts val="500"/>
              </a:spcAft>
            </a:pPr>
            <a:r>
              <a:rPr sz="1620" b="1" lang="he-IL">
                <a:solidFill>
                  <a:srgbClr val="167E76"/>
                </a:solidFill>
                <a:latin typeface="Arial"/>
              </a:rPr>
              <a:t>ההגנה היא גם תפעולית: צריך בעל תפקיד מוגדר ותהליך פעולה ברור, מעבר לעיצוב המסכים.</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ounded Rectangle 1"/>
          <p:cNvSpPr/>
          <p:nvPr/>
        </p:nvSpPr>
        <p:spPr>
          <a:xfrm>
            <a:off x="11567160" y="472440"/>
            <a:ext cx="76200" cy="350520"/>
          </a:xfrm>
          <a:prstGeom prst="roundRect">
            <a:avLst>
              <a:gd name="adj" fmla="val 12000"/>
            </a:avLst>
          </a:prstGeom>
          <a:solidFill>
            <a:srgbClr val="765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62600" y="502920"/>
            <a:ext cx="5753100" cy="274320"/>
          </a:xfrm>
          <a:prstGeom prst="rect">
            <a:avLst/>
          </a:prstGeom>
          <a:noFill/>
        </p:spPr>
        <p:txBody>
          <a:bodyPr wrap="square" lIns="0" rIns="0" tIns="0" bIns="0">
            <a:spAutoFit/>
          </a:bodyPr>
          <a:lstStyle/>
          <a:p>
            <a:pPr algn="r" rtl="1">
              <a:lnSpc>
                <a:spcPct val="118000"/>
              </a:lnSpc>
              <a:spcAft>
                <a:spcPts val="500"/>
              </a:spcAft>
            </a:pPr>
            <a:r>
              <a:rPr sz="1439" b="1" lang="he-IL">
                <a:solidFill>
                  <a:srgbClr val="167E76"/>
                </a:solidFill>
                <a:latin typeface="Arial"/>
              </a:rPr>
              <a:t>דיווח על תוכן</a:t>
            </a:r>
          </a:p>
        </p:txBody>
      </p:sp>
      <p:sp>
        <p:nvSpPr>
          <p:cNvPr id="4" name="TextBox 3"/>
          <p:cNvSpPr txBox="1"/>
          <p:nvPr/>
        </p:nvSpPr>
        <p:spPr>
          <a:xfrm>
            <a:off x="548640" y="472440"/>
            <a:ext cx="1524000" cy="342900"/>
          </a:xfrm>
          <a:prstGeom prst="rect">
            <a:avLst/>
          </a:prstGeom>
          <a:noFill/>
        </p:spPr>
        <p:txBody>
          <a:bodyPr wrap="square" lIns="0" rIns="0" tIns="0" bIns="0">
            <a:spAutoFit/>
          </a:bodyPr>
          <a:lstStyle/>
          <a:p>
            <a:pPr algn="l" rtl="1">
              <a:lnSpc>
                <a:spcPct val="118000"/>
              </a:lnSpc>
              <a:spcAft>
                <a:spcPts val="500"/>
              </a:spcAft>
            </a:pPr>
            <a:r>
              <a:rPr sz="1920" b="1" lang="he-IL">
                <a:solidFill>
                  <a:srgbClr val="7650D5"/>
                </a:solidFill>
                <a:latin typeface="Arial"/>
              </a:rPr>
              <a:t>FeelIt</a:t>
            </a:r>
          </a:p>
        </p:txBody>
      </p:sp>
      <p:sp>
        <p:nvSpPr>
          <p:cNvPr id="5" name="TextBox 4"/>
          <p:cNvSpPr txBox="1"/>
          <p:nvPr/>
        </p:nvSpPr>
        <p:spPr>
          <a:xfrm>
            <a:off x="548640" y="1043940"/>
            <a:ext cx="11094720" cy="716280"/>
          </a:xfrm>
          <a:prstGeom prst="rect">
            <a:avLst/>
          </a:prstGeom>
          <a:noFill/>
        </p:spPr>
        <p:txBody>
          <a:bodyPr wrap="square" lIns="0" rIns="0" tIns="0" bIns="0">
            <a:spAutoFit/>
          </a:bodyPr>
          <a:lstStyle/>
          <a:p>
            <a:pPr algn="r" rtl="1">
              <a:lnSpc>
                <a:spcPct val="118000"/>
              </a:lnSpc>
              <a:spcAft>
                <a:spcPts val="500"/>
              </a:spcAft>
            </a:pPr>
            <a:r>
              <a:rPr sz="3660" b="1" lang="he-IL">
                <a:solidFill>
                  <a:srgbClr val="242139"/>
                </a:solidFill>
                <a:latin typeface="Arial"/>
              </a:rPr>
              <a:t>משהו לא בסדר? יש דרך פשוטה לדווח</a:t>
            </a:r>
          </a:p>
        </p:txBody>
      </p:sp>
      <p:sp>
        <p:nvSpPr>
          <p:cNvPr id="6" name="Rectangle 5"/>
          <p:cNvSpPr/>
          <p:nvPr/>
        </p:nvSpPr>
        <p:spPr>
          <a:xfrm>
            <a:off x="548640" y="6332220"/>
            <a:ext cx="11094720" cy="15240"/>
          </a:xfrm>
          <a:prstGeom prst="rect">
            <a:avLst/>
          </a:prstGeom>
          <a:solidFill>
            <a:srgbClr val="E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15000" y="6492240"/>
            <a:ext cx="5905500" cy="198120"/>
          </a:xfrm>
          <a:prstGeom prst="rect">
            <a:avLst/>
          </a:prstGeom>
          <a:noFill/>
        </p:spPr>
        <p:txBody>
          <a:bodyPr wrap="square" lIns="0" rIns="0" tIns="0" bIns="0">
            <a:spAutoFit/>
          </a:bodyPr>
          <a:lstStyle/>
          <a:p>
            <a:pPr algn="r" rtl="1">
              <a:lnSpc>
                <a:spcPct val="118000"/>
              </a:lnSpc>
              <a:spcAft>
                <a:spcPts val="500"/>
              </a:spcAft>
            </a:pPr>
            <a:r>
              <a:rPr sz="1140" b="0" lang="he-IL">
                <a:solidFill>
                  <a:srgbClr val="6B6879"/>
                </a:solidFill>
                <a:latin typeface="Arial"/>
              </a:rPr>
              <a:t>הצעת מוצר לשיחה עם העמותה  ·  אוקטובר 2026</a:t>
            </a:r>
          </a:p>
        </p:txBody>
      </p:sp>
      <p:sp>
        <p:nvSpPr>
          <p:cNvPr id="8" name="TextBox 7"/>
          <p:cNvSpPr txBox="1"/>
          <p:nvPr/>
        </p:nvSpPr>
        <p:spPr>
          <a:xfrm>
            <a:off x="571500" y="6469380"/>
            <a:ext cx="571500" cy="228600"/>
          </a:xfrm>
          <a:prstGeom prst="rect">
            <a:avLst/>
          </a:prstGeom>
          <a:noFill/>
        </p:spPr>
        <p:txBody>
          <a:bodyPr wrap="square" lIns="0" rIns="0" tIns="0" bIns="0">
            <a:spAutoFit/>
          </a:bodyPr>
          <a:lstStyle/>
          <a:p>
            <a:pPr algn="l" rtl="1">
              <a:lnSpc>
                <a:spcPct val="118000"/>
              </a:lnSpc>
              <a:spcAft>
                <a:spcPts val="500"/>
              </a:spcAft>
            </a:pPr>
            <a:r>
              <a:rPr sz="1320" b="1" lang="he-IL">
                <a:solidFill>
                  <a:srgbClr val="7650D5"/>
                </a:solidFill>
                <a:latin typeface="Arial"/>
              </a:rPr>
              <a:t>14</a:t>
            </a:r>
          </a:p>
        </p:txBody>
      </p:sp>
      <p:sp>
        <p:nvSpPr>
          <p:cNvPr id="9" name="Rounded Rectangle 8"/>
          <p:cNvSpPr/>
          <p:nvPr/>
        </p:nvSpPr>
        <p:spPr>
          <a:xfrm>
            <a:off x="701040" y="1805940"/>
            <a:ext cx="2788920" cy="4381500"/>
          </a:xfrm>
          <a:prstGeom prst="roundRect">
            <a:avLst>
              <a:gd name="adj" fmla="val 12000"/>
            </a:avLst>
          </a:prstGeom>
          <a:solidFill>
            <a:srgbClr val="EAE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report-content.png"/>
          <p:cNvPicPr>
            <a:picLocks noChangeAspect="1"/>
          </p:cNvPicPr>
          <p:nvPr/>
        </p:nvPicPr>
        <p:blipFill>
          <a:blip r:embed="rId3"/>
          <a:stretch>
            <a:fillRect/>
          </a:stretch>
        </p:blipFill>
        <p:spPr>
          <a:xfrm>
            <a:off x="883920" y="1897380"/>
            <a:ext cx="2430780" cy="4320540"/>
          </a:xfrm>
          <a:prstGeom prst="rect">
            <a:avLst/>
          </a:prstGeom>
        </p:spPr>
      </p:pic>
      <p:sp>
        <p:nvSpPr>
          <p:cNvPr id="11" name="TextBox 10"/>
          <p:cNvSpPr txBox="1"/>
          <p:nvPr/>
        </p:nvSpPr>
        <p:spPr>
          <a:xfrm>
            <a:off x="4038600" y="1988819"/>
            <a:ext cx="7269480" cy="762000"/>
          </a:xfrm>
          <a:prstGeom prst="rect">
            <a:avLst/>
          </a:prstGeom>
          <a:noFill/>
        </p:spPr>
        <p:txBody>
          <a:bodyPr wrap="square" lIns="0" rIns="0" tIns="0" bIns="0">
            <a:spAutoFit/>
          </a:bodyPr>
          <a:lstStyle/>
          <a:p>
            <a:pPr algn="r" rtl="1">
              <a:lnSpc>
                <a:spcPct val="118000"/>
              </a:lnSpc>
              <a:spcAft>
                <a:spcPts val="500"/>
              </a:spcAft>
            </a:pPr>
            <a:r>
              <a:rPr sz="2640" b="1" lang="he-IL">
                <a:solidFill>
                  <a:srgbClr val="7650D5"/>
                </a:solidFill>
                <a:latin typeface="Arial"/>
              </a:rPr>
              <a:t>״אפשר לספר לנו שמשהו מפריע״</a:t>
            </a:r>
          </a:p>
        </p:txBody>
      </p:sp>
      <p:sp>
        <p:nvSpPr>
          <p:cNvPr id="12" name="TextBox 11"/>
          <p:cNvSpPr txBox="1"/>
          <p:nvPr/>
        </p:nvSpPr>
        <p:spPr>
          <a:xfrm>
            <a:off x="4038600" y="297180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דיווח ליד כל תוכן שילדים מפרסמים</a:t>
            </a:r>
          </a:p>
        </p:txBody>
      </p:sp>
      <p:sp>
        <p:nvSpPr>
          <p:cNvPr id="13" name="TextBox 12"/>
          <p:cNvSpPr txBox="1"/>
          <p:nvPr/>
        </p:nvSpPr>
        <p:spPr>
          <a:xfrm>
            <a:off x="4038600" y="333756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סקר ותמונותיו, סיפור וכל תגובה אליו — כל פריט ניתן לדיווח.</a:t>
            </a:r>
          </a:p>
        </p:txBody>
      </p:sp>
      <p:sp>
        <p:nvSpPr>
          <p:cNvPr id="14" name="TextBox 13"/>
          <p:cNvSpPr txBox="1"/>
          <p:nvPr/>
        </p:nvSpPr>
        <p:spPr>
          <a:xfrm>
            <a:off x="4038600" y="390144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בחירה קצרה, בלי צורך לכתוב</a:t>
            </a:r>
          </a:p>
        </p:txBody>
      </p:sp>
      <p:sp>
        <p:nvSpPr>
          <p:cNvPr id="15" name="TextBox 14"/>
          <p:cNvSpPr txBox="1"/>
          <p:nvPr/>
        </p:nvSpPr>
        <p:spPr>
          <a:xfrm>
            <a:off x="4038600" y="426720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בוחרים סיבה ושולחים לצוות הבדיקה. מפרסם התוכן לא רואה מי דיווח.</a:t>
            </a:r>
          </a:p>
        </p:txBody>
      </p:sp>
      <p:sp>
        <p:nvSpPr>
          <p:cNvPr id="16" name="TextBox 15"/>
          <p:cNvSpPr txBox="1"/>
          <p:nvPr/>
        </p:nvSpPr>
        <p:spPr>
          <a:xfrm>
            <a:off x="4038600" y="483108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מענה ברור אחרי השליחה</a:t>
            </a:r>
          </a:p>
        </p:txBody>
      </p:sp>
      <p:sp>
        <p:nvSpPr>
          <p:cNvPr id="17" name="TextBox 16"/>
          <p:cNvSpPr txBox="1"/>
          <p:nvPr/>
        </p:nvSpPr>
        <p:spPr>
          <a:xfrm>
            <a:off x="4038600" y="519684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אישור קבלה רק כשהדיווח נשלח בהצלחה; במקרה של תקלה אפשר לנסות שוב.</a:t>
            </a:r>
          </a:p>
        </p:txBody>
      </p:sp>
      <p:sp>
        <p:nvSpPr>
          <p:cNvPr id="18" name="TextBox 17"/>
          <p:cNvSpPr txBox="1"/>
          <p:nvPr/>
        </p:nvSpPr>
        <p:spPr>
          <a:xfrm>
            <a:off x="4038600" y="5844540"/>
            <a:ext cx="7239000" cy="358140"/>
          </a:xfrm>
          <a:prstGeom prst="rect">
            <a:avLst/>
          </a:prstGeom>
          <a:noFill/>
        </p:spPr>
        <p:txBody>
          <a:bodyPr wrap="square" lIns="0" rIns="0" tIns="0" bIns="0">
            <a:spAutoFit/>
          </a:bodyPr>
          <a:lstStyle/>
          <a:p>
            <a:pPr algn="r" rtl="1">
              <a:lnSpc>
                <a:spcPct val="118000"/>
              </a:lnSpc>
              <a:spcAft>
                <a:spcPts val="500"/>
              </a:spcAft>
            </a:pPr>
            <a:r>
              <a:rPr sz="1380" b="0" lang="he-IL">
                <a:solidFill>
                  <a:srgbClr val="167E76"/>
                </a:solidFill>
                <a:latin typeface="Arial"/>
              </a:rPr>
              <a:t>תכנון מוצר · יש להגדיר צוות בדיקה, זמני מענה והרשאות לפני הפעלה.</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ounded Rectangle 1"/>
          <p:cNvSpPr/>
          <p:nvPr/>
        </p:nvSpPr>
        <p:spPr>
          <a:xfrm>
            <a:off x="11567160" y="472440"/>
            <a:ext cx="76200" cy="350520"/>
          </a:xfrm>
          <a:prstGeom prst="roundRect">
            <a:avLst>
              <a:gd name="adj" fmla="val 12000"/>
            </a:avLst>
          </a:prstGeom>
          <a:solidFill>
            <a:srgbClr val="765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62600" y="502920"/>
            <a:ext cx="5753100" cy="274320"/>
          </a:xfrm>
          <a:prstGeom prst="rect">
            <a:avLst/>
          </a:prstGeom>
          <a:noFill/>
        </p:spPr>
        <p:txBody>
          <a:bodyPr wrap="square" lIns="0" rIns="0" tIns="0" bIns="0">
            <a:spAutoFit/>
          </a:bodyPr>
          <a:lstStyle/>
          <a:p>
            <a:pPr algn="r" rtl="1">
              <a:lnSpc>
                <a:spcPct val="118000"/>
              </a:lnSpc>
              <a:spcAft>
                <a:spcPts val="500"/>
              </a:spcAft>
            </a:pPr>
            <a:r>
              <a:rPr sz="1439" b="1" lang="he-IL">
                <a:solidFill>
                  <a:srgbClr val="167E76"/>
                </a:solidFill>
                <a:latin typeface="Arial"/>
              </a:rPr>
              <a:t>עזרה מעבר לאפליקציה</a:t>
            </a:r>
          </a:p>
        </p:txBody>
      </p:sp>
      <p:sp>
        <p:nvSpPr>
          <p:cNvPr id="4" name="TextBox 3"/>
          <p:cNvSpPr txBox="1"/>
          <p:nvPr/>
        </p:nvSpPr>
        <p:spPr>
          <a:xfrm>
            <a:off x="548640" y="472440"/>
            <a:ext cx="1524000" cy="342900"/>
          </a:xfrm>
          <a:prstGeom prst="rect">
            <a:avLst/>
          </a:prstGeom>
          <a:noFill/>
        </p:spPr>
        <p:txBody>
          <a:bodyPr wrap="square" lIns="0" rIns="0" tIns="0" bIns="0">
            <a:spAutoFit/>
          </a:bodyPr>
          <a:lstStyle/>
          <a:p>
            <a:pPr algn="l" rtl="1">
              <a:lnSpc>
                <a:spcPct val="118000"/>
              </a:lnSpc>
              <a:spcAft>
                <a:spcPts val="500"/>
              </a:spcAft>
            </a:pPr>
            <a:r>
              <a:rPr sz="1920" b="1" lang="he-IL">
                <a:solidFill>
                  <a:srgbClr val="7650D5"/>
                </a:solidFill>
                <a:latin typeface="Arial"/>
              </a:rPr>
              <a:t>FeelIt</a:t>
            </a:r>
          </a:p>
        </p:txBody>
      </p:sp>
      <p:sp>
        <p:nvSpPr>
          <p:cNvPr id="5" name="TextBox 4"/>
          <p:cNvSpPr txBox="1"/>
          <p:nvPr/>
        </p:nvSpPr>
        <p:spPr>
          <a:xfrm>
            <a:off x="548640" y="1043940"/>
            <a:ext cx="11094720" cy="716280"/>
          </a:xfrm>
          <a:prstGeom prst="rect">
            <a:avLst/>
          </a:prstGeom>
          <a:noFill/>
        </p:spPr>
        <p:txBody>
          <a:bodyPr wrap="square" lIns="0" rIns="0" tIns="0" bIns="0">
            <a:spAutoFit/>
          </a:bodyPr>
          <a:lstStyle/>
          <a:p>
            <a:pPr algn="r" rtl="1">
              <a:lnSpc>
                <a:spcPct val="118000"/>
              </a:lnSpc>
              <a:spcAft>
                <a:spcPts val="500"/>
              </a:spcAft>
            </a:pPr>
            <a:r>
              <a:rPr sz="3660" b="1" lang="he-IL">
                <a:solidFill>
                  <a:srgbClr val="242139"/>
                </a:solidFill>
                <a:latin typeface="Arial"/>
              </a:rPr>
              <a:t>לא צריך להתמודד לבד</a:t>
            </a:r>
          </a:p>
        </p:txBody>
      </p:sp>
      <p:sp>
        <p:nvSpPr>
          <p:cNvPr id="6" name="Rectangle 5"/>
          <p:cNvSpPr/>
          <p:nvPr/>
        </p:nvSpPr>
        <p:spPr>
          <a:xfrm>
            <a:off x="548640" y="6332220"/>
            <a:ext cx="11094720" cy="15240"/>
          </a:xfrm>
          <a:prstGeom prst="rect">
            <a:avLst/>
          </a:prstGeom>
          <a:solidFill>
            <a:srgbClr val="E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15000" y="6492240"/>
            <a:ext cx="5905500" cy="198120"/>
          </a:xfrm>
          <a:prstGeom prst="rect">
            <a:avLst/>
          </a:prstGeom>
          <a:noFill/>
        </p:spPr>
        <p:txBody>
          <a:bodyPr wrap="square" lIns="0" rIns="0" tIns="0" bIns="0">
            <a:spAutoFit/>
          </a:bodyPr>
          <a:lstStyle/>
          <a:p>
            <a:pPr algn="r" rtl="1">
              <a:lnSpc>
                <a:spcPct val="118000"/>
              </a:lnSpc>
              <a:spcAft>
                <a:spcPts val="500"/>
              </a:spcAft>
            </a:pPr>
            <a:r>
              <a:rPr sz="1140" b="0" lang="he-IL">
                <a:solidFill>
                  <a:srgbClr val="6B6879"/>
                </a:solidFill>
                <a:latin typeface="Arial"/>
              </a:rPr>
              <a:t>הצעת מוצר לשיחה עם העמותה  ·  אוקטובר 2026</a:t>
            </a:r>
          </a:p>
        </p:txBody>
      </p:sp>
      <p:sp>
        <p:nvSpPr>
          <p:cNvPr id="8" name="TextBox 7"/>
          <p:cNvSpPr txBox="1"/>
          <p:nvPr/>
        </p:nvSpPr>
        <p:spPr>
          <a:xfrm>
            <a:off x="571500" y="6469380"/>
            <a:ext cx="571500" cy="228600"/>
          </a:xfrm>
          <a:prstGeom prst="rect">
            <a:avLst/>
          </a:prstGeom>
          <a:noFill/>
        </p:spPr>
        <p:txBody>
          <a:bodyPr wrap="square" lIns="0" rIns="0" tIns="0" bIns="0">
            <a:spAutoFit/>
          </a:bodyPr>
          <a:lstStyle/>
          <a:p>
            <a:pPr algn="l" rtl="1">
              <a:lnSpc>
                <a:spcPct val="118000"/>
              </a:lnSpc>
              <a:spcAft>
                <a:spcPts val="500"/>
              </a:spcAft>
            </a:pPr>
            <a:r>
              <a:rPr sz="1320" b="1" lang="he-IL">
                <a:solidFill>
                  <a:srgbClr val="7650D5"/>
                </a:solidFill>
                <a:latin typeface="Arial"/>
              </a:rPr>
              <a:t>15</a:t>
            </a:r>
          </a:p>
        </p:txBody>
      </p:sp>
      <p:sp>
        <p:nvSpPr>
          <p:cNvPr id="9" name="Rounded Rectangle 8"/>
          <p:cNvSpPr/>
          <p:nvPr/>
        </p:nvSpPr>
        <p:spPr>
          <a:xfrm>
            <a:off x="701040" y="1805940"/>
            <a:ext cx="2788920" cy="4381500"/>
          </a:xfrm>
          <a:prstGeom prst="roundRect">
            <a:avLst>
              <a:gd name="adj" fmla="val 12000"/>
            </a:avLst>
          </a:prstGeom>
          <a:solidFill>
            <a:srgbClr val="EAE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get-help.png"/>
          <p:cNvPicPr>
            <a:picLocks noChangeAspect="1"/>
          </p:cNvPicPr>
          <p:nvPr/>
        </p:nvPicPr>
        <p:blipFill>
          <a:blip r:embed="rId3"/>
          <a:stretch>
            <a:fillRect/>
          </a:stretch>
        </p:blipFill>
        <p:spPr>
          <a:xfrm>
            <a:off x="883920" y="1897380"/>
            <a:ext cx="2430780" cy="4320540"/>
          </a:xfrm>
          <a:prstGeom prst="rect">
            <a:avLst/>
          </a:prstGeom>
        </p:spPr>
      </p:pic>
      <p:sp>
        <p:nvSpPr>
          <p:cNvPr id="11" name="TextBox 10"/>
          <p:cNvSpPr txBox="1"/>
          <p:nvPr/>
        </p:nvSpPr>
        <p:spPr>
          <a:xfrm>
            <a:off x="4038600" y="1988819"/>
            <a:ext cx="7269480" cy="762000"/>
          </a:xfrm>
          <a:prstGeom prst="rect">
            <a:avLst/>
          </a:prstGeom>
          <a:noFill/>
        </p:spPr>
        <p:txBody>
          <a:bodyPr wrap="square" lIns="0" rIns="0" tIns="0" bIns="0">
            <a:spAutoFit/>
          </a:bodyPr>
          <a:lstStyle/>
          <a:p>
            <a:pPr algn="r" rtl="1">
              <a:lnSpc>
                <a:spcPct val="118000"/>
              </a:lnSpc>
              <a:spcAft>
                <a:spcPts val="500"/>
              </a:spcAft>
            </a:pPr>
            <a:r>
              <a:rPr sz="2640" b="1" lang="he-IL">
                <a:solidFill>
                  <a:srgbClr val="7650D5"/>
                </a:solidFill>
                <a:latin typeface="Arial"/>
              </a:rPr>
              <a:t>״אני צריך עזרה״ — גישה למי שיכול לעזור</a:t>
            </a:r>
          </a:p>
        </p:txBody>
      </p:sp>
      <p:sp>
        <p:nvSpPr>
          <p:cNvPr id="12" name="TextBox 11"/>
          <p:cNvSpPr txBox="1"/>
          <p:nvPr/>
        </p:nvSpPr>
        <p:spPr>
          <a:xfrm>
            <a:off x="4038600" y="297180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כניסה זמינה וברורה</a:t>
            </a:r>
          </a:p>
        </p:txBody>
      </p:sp>
      <p:sp>
        <p:nvSpPr>
          <p:cNvPr id="13" name="TextBox 12"/>
          <p:cNvSpPr txBox="1"/>
          <p:nvPr/>
        </p:nvSpPr>
        <p:spPr>
          <a:xfrm>
            <a:off x="4038600" y="333756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כפתור עזרה עם גלגל הצלה אדום מופיע בכל מסכי התוכן.</a:t>
            </a:r>
          </a:p>
        </p:txBody>
      </p:sp>
      <p:sp>
        <p:nvSpPr>
          <p:cNvPr id="14" name="TextBox 13"/>
          <p:cNvSpPr txBox="1"/>
          <p:nvPr/>
        </p:nvSpPr>
        <p:spPr>
          <a:xfrm>
            <a:off x="4038600" y="390144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בוחרים את סוג העזרה</a:t>
            </a:r>
          </a:p>
        </p:txBody>
      </p:sp>
      <p:sp>
        <p:nvSpPr>
          <p:cNvPr id="15" name="TextBox 14"/>
          <p:cNvSpPr txBox="1"/>
          <p:nvPr/>
        </p:nvSpPr>
        <p:spPr>
          <a:xfrm>
            <a:off x="4038600" y="426720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סכנה מיידית, פגיעה ברשת, צורך בהגנה או רצון לדבר עם מישהו.</a:t>
            </a:r>
          </a:p>
        </p:txBody>
      </p:sp>
      <p:sp>
        <p:nvSpPr>
          <p:cNvPr id="16" name="TextBox 15"/>
          <p:cNvSpPr txBox="1"/>
          <p:nvPr/>
        </p:nvSpPr>
        <p:spPr>
          <a:xfrm>
            <a:off x="4038600" y="4831080"/>
            <a:ext cx="7239000" cy="335280"/>
          </a:xfrm>
          <a:prstGeom prst="rect">
            <a:avLst/>
          </a:prstGeom>
          <a:noFill/>
        </p:spPr>
        <p:txBody>
          <a:bodyPr wrap="square" lIns="0" rIns="0" tIns="0" bIns="0">
            <a:spAutoFit/>
          </a:bodyPr>
          <a:lstStyle/>
          <a:p>
            <a:pPr algn="r" rtl="1">
              <a:lnSpc>
                <a:spcPct val="118000"/>
              </a:lnSpc>
              <a:spcAft>
                <a:spcPts val="500"/>
              </a:spcAft>
            </a:pPr>
            <a:r>
              <a:rPr sz="1920" b="1" lang="he-IL">
                <a:solidFill>
                  <a:srgbClr val="242139"/>
                </a:solidFill>
                <a:latin typeface="Arial"/>
              </a:rPr>
              <a:t>הילד מחליט אם להתקשר</a:t>
            </a:r>
          </a:p>
        </p:txBody>
      </p:sp>
      <p:sp>
        <p:nvSpPr>
          <p:cNvPr id="17" name="TextBox 16"/>
          <p:cNvSpPr txBox="1"/>
          <p:nvPr/>
        </p:nvSpPr>
        <p:spPr>
          <a:xfrm>
            <a:off x="4038600" y="5196840"/>
            <a:ext cx="7239000" cy="57912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הכפתור פותח חייגן עם המספר. אין שיחה אוטומטית או דיווח לרשויות מהאפליקציה.</a:t>
            </a:r>
          </a:p>
        </p:txBody>
      </p:sp>
      <p:sp>
        <p:nvSpPr>
          <p:cNvPr id="18" name="TextBox 17"/>
          <p:cNvSpPr txBox="1"/>
          <p:nvPr/>
        </p:nvSpPr>
        <p:spPr>
          <a:xfrm>
            <a:off x="4038600" y="5844540"/>
            <a:ext cx="7239000" cy="358140"/>
          </a:xfrm>
          <a:prstGeom prst="rect">
            <a:avLst/>
          </a:prstGeom>
          <a:noFill/>
        </p:spPr>
        <p:txBody>
          <a:bodyPr wrap="square" lIns="0" rIns="0" tIns="0" bIns="0">
            <a:spAutoFit/>
          </a:bodyPr>
          <a:lstStyle/>
          <a:p>
            <a:pPr algn="r" rtl="1">
              <a:lnSpc>
                <a:spcPct val="118000"/>
              </a:lnSpc>
              <a:spcAft>
                <a:spcPts val="500"/>
              </a:spcAft>
            </a:pPr>
            <a:r>
              <a:rPr sz="1380" b="0" lang="he-IL">
                <a:solidFill>
                  <a:srgbClr val="167E76"/>
                </a:solidFill>
                <a:latin typeface="Arial"/>
              </a:rPr>
              <a:t>מוקדים בישראל · אפשר לפנות גם למבוגר שסומכים עליו; אין צורך לכתוב מה קרה.</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ounded Rectangle 1"/>
          <p:cNvSpPr/>
          <p:nvPr/>
        </p:nvSpPr>
        <p:spPr>
          <a:xfrm>
            <a:off x="11567160" y="472440"/>
            <a:ext cx="76200" cy="350520"/>
          </a:xfrm>
          <a:prstGeom prst="roundRect">
            <a:avLst>
              <a:gd name="adj" fmla="val 12000"/>
            </a:avLst>
          </a:prstGeom>
          <a:solidFill>
            <a:srgbClr val="765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62600" y="502920"/>
            <a:ext cx="5753100" cy="274320"/>
          </a:xfrm>
          <a:prstGeom prst="rect">
            <a:avLst/>
          </a:prstGeom>
          <a:noFill/>
        </p:spPr>
        <p:txBody>
          <a:bodyPr wrap="square" lIns="0" rIns="0" tIns="0" bIns="0">
            <a:spAutoFit/>
          </a:bodyPr>
          <a:lstStyle/>
          <a:p>
            <a:pPr algn="r" rtl="1">
              <a:lnSpc>
                <a:spcPct val="118000"/>
              </a:lnSpc>
              <a:spcAft>
                <a:spcPts val="500"/>
              </a:spcAft>
            </a:pPr>
            <a:r>
              <a:rPr sz="1439" b="1" lang="he-IL">
                <a:solidFill>
                  <a:srgbClr val="167E76"/>
                </a:solidFill>
                <a:latin typeface="Arial"/>
              </a:rPr>
              <a:t>מעטפת אנושית</a:t>
            </a:r>
          </a:p>
        </p:txBody>
      </p:sp>
      <p:sp>
        <p:nvSpPr>
          <p:cNvPr id="4" name="TextBox 3"/>
          <p:cNvSpPr txBox="1"/>
          <p:nvPr/>
        </p:nvSpPr>
        <p:spPr>
          <a:xfrm>
            <a:off x="548640" y="472440"/>
            <a:ext cx="1524000" cy="342900"/>
          </a:xfrm>
          <a:prstGeom prst="rect">
            <a:avLst/>
          </a:prstGeom>
          <a:noFill/>
        </p:spPr>
        <p:txBody>
          <a:bodyPr wrap="square" lIns="0" rIns="0" tIns="0" bIns="0">
            <a:spAutoFit/>
          </a:bodyPr>
          <a:lstStyle/>
          <a:p>
            <a:pPr algn="l" rtl="1">
              <a:lnSpc>
                <a:spcPct val="118000"/>
              </a:lnSpc>
              <a:spcAft>
                <a:spcPts val="500"/>
              </a:spcAft>
            </a:pPr>
            <a:r>
              <a:rPr sz="1920" b="1" lang="he-IL">
                <a:solidFill>
                  <a:srgbClr val="7650D5"/>
                </a:solidFill>
                <a:latin typeface="Arial"/>
              </a:rPr>
              <a:t>FeelIt</a:t>
            </a:r>
          </a:p>
        </p:txBody>
      </p:sp>
      <p:sp>
        <p:nvSpPr>
          <p:cNvPr id="5" name="TextBox 4"/>
          <p:cNvSpPr txBox="1"/>
          <p:nvPr/>
        </p:nvSpPr>
        <p:spPr>
          <a:xfrm>
            <a:off x="548640" y="1043940"/>
            <a:ext cx="11094720" cy="716280"/>
          </a:xfrm>
          <a:prstGeom prst="rect">
            <a:avLst/>
          </a:prstGeom>
          <a:noFill/>
        </p:spPr>
        <p:txBody>
          <a:bodyPr wrap="square" lIns="0" rIns="0" tIns="0" bIns="0">
            <a:spAutoFit/>
          </a:bodyPr>
          <a:lstStyle/>
          <a:p>
            <a:pPr algn="r" rtl="1">
              <a:lnSpc>
                <a:spcPct val="118000"/>
              </a:lnSpc>
              <a:spcAft>
                <a:spcPts val="500"/>
              </a:spcAft>
            </a:pPr>
            <a:r>
              <a:rPr sz="3660" b="1" lang="he-IL">
                <a:solidFill>
                  <a:srgbClr val="242139"/>
                </a:solidFill>
                <a:latin typeface="Arial"/>
              </a:rPr>
              <a:t>מגדירים מראש מי נמצא שם כשצריך</a:t>
            </a:r>
          </a:p>
        </p:txBody>
      </p:sp>
      <p:sp>
        <p:nvSpPr>
          <p:cNvPr id="6" name="TextBox 5"/>
          <p:cNvSpPr txBox="1"/>
          <p:nvPr/>
        </p:nvSpPr>
        <p:spPr>
          <a:xfrm>
            <a:off x="609600" y="1844040"/>
            <a:ext cx="10972800" cy="647700"/>
          </a:xfrm>
          <a:prstGeom prst="rect">
            <a:avLst/>
          </a:prstGeom>
          <a:noFill/>
        </p:spPr>
        <p:txBody>
          <a:bodyPr wrap="square" lIns="0" rIns="0" tIns="0" bIns="0">
            <a:spAutoFit/>
          </a:bodyPr>
          <a:lstStyle/>
          <a:p>
            <a:pPr algn="r" rtl="1">
              <a:lnSpc>
                <a:spcPct val="118000"/>
              </a:lnSpc>
              <a:spcAft>
                <a:spcPts val="500"/>
              </a:spcAft>
            </a:pPr>
            <a:r>
              <a:rPr sz="1800" b="0" lang="he-IL">
                <a:solidFill>
                  <a:srgbClr val="6B6879"/>
                </a:solidFill>
                <a:latin typeface="Arial"/>
              </a:rPr>
              <a:t>הצעה לתכנון משותף עם העמותה ואנשי המקצוע שלה</a:t>
            </a:r>
          </a:p>
        </p:txBody>
      </p:sp>
      <p:sp>
        <p:nvSpPr>
          <p:cNvPr id="7" name="Rectangle 6"/>
          <p:cNvSpPr/>
          <p:nvPr/>
        </p:nvSpPr>
        <p:spPr>
          <a:xfrm>
            <a:off x="548640" y="6332220"/>
            <a:ext cx="11094720" cy="15240"/>
          </a:xfrm>
          <a:prstGeom prst="rect">
            <a:avLst/>
          </a:prstGeom>
          <a:solidFill>
            <a:srgbClr val="E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15000" y="6492240"/>
            <a:ext cx="5905500" cy="198120"/>
          </a:xfrm>
          <a:prstGeom prst="rect">
            <a:avLst/>
          </a:prstGeom>
          <a:noFill/>
        </p:spPr>
        <p:txBody>
          <a:bodyPr wrap="square" lIns="0" rIns="0" tIns="0" bIns="0">
            <a:spAutoFit/>
          </a:bodyPr>
          <a:lstStyle/>
          <a:p>
            <a:pPr algn="r" rtl="1">
              <a:lnSpc>
                <a:spcPct val="118000"/>
              </a:lnSpc>
              <a:spcAft>
                <a:spcPts val="500"/>
              </a:spcAft>
            </a:pPr>
            <a:r>
              <a:rPr sz="1140" b="0" lang="he-IL">
                <a:solidFill>
                  <a:srgbClr val="6B6879"/>
                </a:solidFill>
                <a:latin typeface="Arial"/>
              </a:rPr>
              <a:t>הצעת מוצר לשיחה עם העמותה  ·  אוקטובר 2026</a:t>
            </a:r>
          </a:p>
        </p:txBody>
      </p:sp>
      <p:sp>
        <p:nvSpPr>
          <p:cNvPr id="9" name="TextBox 8"/>
          <p:cNvSpPr txBox="1"/>
          <p:nvPr/>
        </p:nvSpPr>
        <p:spPr>
          <a:xfrm>
            <a:off x="571500" y="6469380"/>
            <a:ext cx="571500" cy="228600"/>
          </a:xfrm>
          <a:prstGeom prst="rect">
            <a:avLst/>
          </a:prstGeom>
          <a:noFill/>
        </p:spPr>
        <p:txBody>
          <a:bodyPr wrap="square" lIns="0" rIns="0" tIns="0" bIns="0">
            <a:spAutoFit/>
          </a:bodyPr>
          <a:lstStyle/>
          <a:p>
            <a:pPr algn="l" rtl="1">
              <a:lnSpc>
                <a:spcPct val="118000"/>
              </a:lnSpc>
              <a:spcAft>
                <a:spcPts val="500"/>
              </a:spcAft>
            </a:pPr>
            <a:r>
              <a:rPr sz="1320" b="1" lang="he-IL">
                <a:solidFill>
                  <a:srgbClr val="7650D5"/>
                </a:solidFill>
                <a:latin typeface="Arial"/>
              </a:rPr>
              <a:t>16</a:t>
            </a:r>
          </a:p>
        </p:txBody>
      </p:sp>
      <p:sp>
        <p:nvSpPr>
          <p:cNvPr id="10" name="Rounded Rectangle 9"/>
          <p:cNvSpPr/>
          <p:nvPr/>
        </p:nvSpPr>
        <p:spPr>
          <a:xfrm>
            <a:off x="8077200" y="2667000"/>
            <a:ext cx="3505200" cy="28346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60080" y="2842260"/>
            <a:ext cx="3139440" cy="320040"/>
          </a:xfrm>
          <a:prstGeom prst="rect">
            <a:avLst/>
          </a:prstGeom>
          <a:noFill/>
        </p:spPr>
        <p:txBody>
          <a:bodyPr wrap="square" lIns="0" rIns="0" tIns="0" bIns="0">
            <a:spAutoFit/>
          </a:bodyPr>
          <a:lstStyle/>
          <a:p>
            <a:pPr algn="r" rtl="1">
              <a:lnSpc>
                <a:spcPct val="118000"/>
              </a:lnSpc>
              <a:spcAft>
                <a:spcPts val="500"/>
              </a:spcAft>
            </a:pPr>
            <a:r>
              <a:rPr sz="1739" b="1" lang="he-IL">
                <a:solidFill>
                  <a:srgbClr val="167E76"/>
                </a:solidFill>
                <a:latin typeface="Arial"/>
              </a:rPr>
              <a:t>לפני ההצטרפות</a:t>
            </a:r>
          </a:p>
        </p:txBody>
      </p:sp>
      <p:sp>
        <p:nvSpPr>
          <p:cNvPr id="12" name="TextBox 11"/>
          <p:cNvSpPr txBox="1"/>
          <p:nvPr/>
        </p:nvSpPr>
        <p:spPr>
          <a:xfrm>
            <a:off x="8260080" y="3299460"/>
            <a:ext cx="3139440" cy="701040"/>
          </a:xfrm>
          <a:prstGeom prst="rect">
            <a:avLst/>
          </a:prstGeom>
          <a:noFill/>
        </p:spPr>
        <p:txBody>
          <a:bodyPr wrap="square" lIns="0" rIns="0" tIns="0" bIns="0">
            <a:spAutoFit/>
          </a:bodyPr>
          <a:lstStyle/>
          <a:p>
            <a:pPr algn="r" rtl="1">
              <a:lnSpc>
                <a:spcPct val="118000"/>
              </a:lnSpc>
              <a:spcAft>
                <a:spcPts val="500"/>
              </a:spcAft>
            </a:pPr>
            <a:r>
              <a:rPr sz="2220" b="1" lang="he-IL">
                <a:solidFill>
                  <a:srgbClr val="242139"/>
                </a:solidFill>
                <a:latin typeface="Arial"/>
              </a:rPr>
              <a:t>אמון ובהירות</a:t>
            </a:r>
          </a:p>
        </p:txBody>
      </p:sp>
      <p:sp>
        <p:nvSpPr>
          <p:cNvPr id="13" name="TextBox 12"/>
          <p:cNvSpPr txBox="1"/>
          <p:nvPr/>
        </p:nvSpPr>
        <p:spPr>
          <a:xfrm>
            <a:off x="8260080" y="4099560"/>
            <a:ext cx="3139440" cy="131064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נשאף לשתף את בתי הספר באימות וברישום הילדים, לצד הסכמת הורים והסבר לילד על פרטיות וגבולות השירות.</a:t>
            </a:r>
          </a:p>
        </p:txBody>
      </p:sp>
      <p:sp>
        <p:nvSpPr>
          <p:cNvPr id="14" name="Rounded Rectangle 13"/>
          <p:cNvSpPr/>
          <p:nvPr/>
        </p:nvSpPr>
        <p:spPr>
          <a:xfrm>
            <a:off x="4343400" y="2667000"/>
            <a:ext cx="3505200" cy="28346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2842260"/>
            <a:ext cx="3139440" cy="320040"/>
          </a:xfrm>
          <a:prstGeom prst="rect">
            <a:avLst/>
          </a:prstGeom>
          <a:noFill/>
        </p:spPr>
        <p:txBody>
          <a:bodyPr wrap="square" lIns="0" rIns="0" tIns="0" bIns="0">
            <a:spAutoFit/>
          </a:bodyPr>
          <a:lstStyle/>
          <a:p>
            <a:pPr algn="r" rtl="1">
              <a:lnSpc>
                <a:spcPct val="118000"/>
              </a:lnSpc>
              <a:spcAft>
                <a:spcPts val="500"/>
              </a:spcAft>
            </a:pPr>
            <a:r>
              <a:rPr sz="1739" b="1" lang="he-IL">
                <a:solidFill>
                  <a:srgbClr val="167E76"/>
                </a:solidFill>
                <a:latin typeface="Arial"/>
              </a:rPr>
              <a:t>במהלך השימוש</a:t>
            </a:r>
          </a:p>
        </p:txBody>
      </p:sp>
      <p:sp>
        <p:nvSpPr>
          <p:cNvPr id="16" name="TextBox 15"/>
          <p:cNvSpPr txBox="1"/>
          <p:nvPr/>
        </p:nvSpPr>
        <p:spPr>
          <a:xfrm>
            <a:off x="4526280" y="3299460"/>
            <a:ext cx="3139440" cy="701040"/>
          </a:xfrm>
          <a:prstGeom prst="rect">
            <a:avLst/>
          </a:prstGeom>
          <a:noFill/>
        </p:spPr>
        <p:txBody>
          <a:bodyPr wrap="square" lIns="0" rIns="0" tIns="0" bIns="0">
            <a:spAutoFit/>
          </a:bodyPr>
          <a:lstStyle/>
          <a:p>
            <a:pPr algn="r" rtl="1">
              <a:lnSpc>
                <a:spcPct val="118000"/>
              </a:lnSpc>
              <a:spcAft>
                <a:spcPts val="500"/>
              </a:spcAft>
            </a:pPr>
            <a:r>
              <a:rPr sz="2220" b="1" lang="he-IL">
                <a:solidFill>
                  <a:srgbClr val="242139"/>
                </a:solidFill>
                <a:latin typeface="Arial"/>
              </a:rPr>
              <a:t>דרך ברורה לבקש עזרה</a:t>
            </a:r>
          </a:p>
        </p:txBody>
      </p:sp>
      <p:sp>
        <p:nvSpPr>
          <p:cNvPr id="17" name="TextBox 16"/>
          <p:cNvSpPr txBox="1"/>
          <p:nvPr/>
        </p:nvSpPr>
        <p:spPr>
          <a:xfrm>
            <a:off x="4526280" y="4099560"/>
            <a:ext cx="3139440" cy="131064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דיווח על תוכן לצוות האפליקציה, ולצדו מסך עזרה עם מוקדים מתאימים ועידוד לפנייה למבוגר בטוח.</a:t>
            </a:r>
          </a:p>
        </p:txBody>
      </p:sp>
      <p:sp>
        <p:nvSpPr>
          <p:cNvPr id="18" name="Rounded Rectangle 17"/>
          <p:cNvSpPr/>
          <p:nvPr/>
        </p:nvSpPr>
        <p:spPr>
          <a:xfrm>
            <a:off x="609600" y="2667000"/>
            <a:ext cx="3505200" cy="28346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2480" y="2842260"/>
            <a:ext cx="3139440" cy="320040"/>
          </a:xfrm>
          <a:prstGeom prst="rect">
            <a:avLst/>
          </a:prstGeom>
          <a:noFill/>
        </p:spPr>
        <p:txBody>
          <a:bodyPr wrap="square" lIns="0" rIns="0" tIns="0" bIns="0">
            <a:spAutoFit/>
          </a:bodyPr>
          <a:lstStyle/>
          <a:p>
            <a:pPr algn="r" rtl="1">
              <a:lnSpc>
                <a:spcPct val="118000"/>
              </a:lnSpc>
              <a:spcAft>
                <a:spcPts val="500"/>
              </a:spcAft>
            </a:pPr>
            <a:r>
              <a:rPr sz="1739" b="1" lang="he-IL">
                <a:solidFill>
                  <a:srgbClr val="167E76"/>
                </a:solidFill>
                <a:latin typeface="Arial"/>
              </a:rPr>
              <a:t>מאחורי הקלעים</a:t>
            </a:r>
          </a:p>
        </p:txBody>
      </p:sp>
      <p:sp>
        <p:nvSpPr>
          <p:cNvPr id="20" name="TextBox 19"/>
          <p:cNvSpPr txBox="1"/>
          <p:nvPr/>
        </p:nvSpPr>
        <p:spPr>
          <a:xfrm>
            <a:off x="792480" y="3299460"/>
            <a:ext cx="3139440" cy="701040"/>
          </a:xfrm>
          <a:prstGeom prst="rect">
            <a:avLst/>
          </a:prstGeom>
          <a:noFill/>
        </p:spPr>
        <p:txBody>
          <a:bodyPr wrap="square" lIns="0" rIns="0" tIns="0" bIns="0">
            <a:spAutoFit/>
          </a:bodyPr>
          <a:lstStyle/>
          <a:p>
            <a:pPr algn="r" rtl="1">
              <a:lnSpc>
                <a:spcPct val="118000"/>
              </a:lnSpc>
              <a:spcAft>
                <a:spcPts val="500"/>
              </a:spcAft>
            </a:pPr>
            <a:r>
              <a:rPr sz="2220" b="1" lang="he-IL">
                <a:solidFill>
                  <a:srgbClr val="242139"/>
                </a:solidFill>
                <a:latin typeface="Arial"/>
              </a:rPr>
              <a:t>אחריות למענה</a:t>
            </a:r>
          </a:p>
        </p:txBody>
      </p:sp>
      <p:sp>
        <p:nvSpPr>
          <p:cNvPr id="21" name="TextBox 20"/>
          <p:cNvSpPr txBox="1"/>
          <p:nvPr/>
        </p:nvSpPr>
        <p:spPr>
          <a:xfrm>
            <a:off x="792480" y="4099560"/>
            <a:ext cx="3139440" cy="1310640"/>
          </a:xfrm>
          <a:prstGeom prst="rect">
            <a:avLst/>
          </a:prstGeom>
          <a:noFill/>
        </p:spPr>
        <p:txBody>
          <a:bodyPr wrap="square" lIns="0" rIns="0" tIns="0" bIns="0">
            <a:spAutoFit/>
          </a:bodyPr>
          <a:lstStyle/>
          <a:p>
            <a:pPr algn="r" rtl="1">
              <a:lnSpc>
                <a:spcPct val="118000"/>
              </a:lnSpc>
              <a:spcAft>
                <a:spcPts val="500"/>
              </a:spcAft>
            </a:pPr>
            <a:r>
              <a:rPr sz="1739" b="0" lang="he-IL">
                <a:solidFill>
                  <a:srgbClr val="6B6879"/>
                </a:solidFill>
                <a:latin typeface="Arial"/>
              </a:rPr>
              <a:t>נסכם מי בודק, באילו שעות, תוך כמה זמן ומה עושים כשעולה חשש למצוקה או לפגיעה.</a:t>
            </a:r>
          </a:p>
        </p:txBody>
      </p:sp>
      <p:sp>
        <p:nvSpPr>
          <p:cNvPr id="22" name="Rounded Rectangle 21"/>
          <p:cNvSpPr/>
          <p:nvPr/>
        </p:nvSpPr>
        <p:spPr>
          <a:xfrm>
            <a:off x="609600" y="5707380"/>
            <a:ext cx="10972800" cy="464820"/>
          </a:xfrm>
          <a:prstGeom prst="roundRect">
            <a:avLst>
              <a:gd name="adj" fmla="val 12000"/>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2480" y="5806440"/>
            <a:ext cx="10607040" cy="304800"/>
          </a:xfrm>
          <a:prstGeom prst="rect">
            <a:avLst/>
          </a:prstGeom>
          <a:noFill/>
        </p:spPr>
        <p:txBody>
          <a:bodyPr wrap="square" lIns="0" rIns="0" tIns="0" bIns="0">
            <a:spAutoFit/>
          </a:bodyPr>
          <a:lstStyle/>
          <a:p>
            <a:pPr algn="r" rtl="1">
              <a:lnSpc>
                <a:spcPct val="118000"/>
              </a:lnSpc>
              <a:spcAft>
                <a:spcPts val="500"/>
              </a:spcAft>
            </a:pPr>
            <a:r>
              <a:rPr sz="1620" b="1" lang="he-IL">
                <a:solidFill>
                  <a:srgbClr val="167E76"/>
                </a:solidFill>
                <a:latin typeface="Arial"/>
              </a:rPr>
              <a:t>נציג לילדים ולהורים את זמינות המענה בפועל; האפליקציה אינה מוצגת כשירות חירום או כתחליף לטיפול.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ounded Rectangle 1"/>
          <p:cNvSpPr/>
          <p:nvPr/>
        </p:nvSpPr>
        <p:spPr>
          <a:xfrm>
            <a:off x="11567160" y="472440"/>
            <a:ext cx="76200" cy="350520"/>
          </a:xfrm>
          <a:prstGeom prst="roundRect">
            <a:avLst>
              <a:gd name="adj" fmla="val 12000"/>
            </a:avLst>
          </a:prstGeom>
          <a:solidFill>
            <a:srgbClr val="7650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62600" y="502920"/>
            <a:ext cx="5753100" cy="274320"/>
          </a:xfrm>
          <a:prstGeom prst="rect">
            <a:avLst/>
          </a:prstGeom>
          <a:noFill/>
        </p:spPr>
        <p:txBody>
          <a:bodyPr wrap="square" lIns="0" rIns="0" tIns="0" bIns="0">
            <a:spAutoFit/>
          </a:bodyPr>
          <a:lstStyle/>
          <a:p>
            <a:pPr algn="r" rtl="1">
              <a:lnSpc>
                <a:spcPct val="118000"/>
              </a:lnSpc>
              <a:spcAft>
                <a:spcPts val="500"/>
              </a:spcAft>
            </a:pPr>
            <a:r>
              <a:rPr sz="1439" b="1" lang="he-IL">
                <a:solidFill>
                  <a:srgbClr val="167E76"/>
                </a:solidFill>
                <a:latin typeface="Arial"/>
              </a:rPr>
              <a:t>מכאן — יחד</a:t>
            </a:r>
          </a:p>
        </p:txBody>
      </p:sp>
      <p:sp>
        <p:nvSpPr>
          <p:cNvPr id="4" name="TextBox 3"/>
          <p:cNvSpPr txBox="1"/>
          <p:nvPr/>
        </p:nvSpPr>
        <p:spPr>
          <a:xfrm>
            <a:off x="548640" y="472440"/>
            <a:ext cx="1524000" cy="342900"/>
          </a:xfrm>
          <a:prstGeom prst="rect">
            <a:avLst/>
          </a:prstGeom>
          <a:noFill/>
        </p:spPr>
        <p:txBody>
          <a:bodyPr wrap="square" lIns="0" rIns="0" tIns="0" bIns="0">
            <a:spAutoFit/>
          </a:bodyPr>
          <a:lstStyle/>
          <a:p>
            <a:pPr algn="l" rtl="1">
              <a:lnSpc>
                <a:spcPct val="118000"/>
              </a:lnSpc>
              <a:spcAft>
                <a:spcPts val="500"/>
              </a:spcAft>
            </a:pPr>
            <a:r>
              <a:rPr sz="1920" b="1" lang="he-IL">
                <a:solidFill>
                  <a:srgbClr val="7650D5"/>
                </a:solidFill>
                <a:latin typeface="Arial"/>
              </a:rPr>
              <a:t>FeelIt</a:t>
            </a:r>
          </a:p>
        </p:txBody>
      </p:sp>
      <p:sp>
        <p:nvSpPr>
          <p:cNvPr id="5" name="TextBox 4"/>
          <p:cNvSpPr txBox="1"/>
          <p:nvPr/>
        </p:nvSpPr>
        <p:spPr>
          <a:xfrm>
            <a:off x="548640" y="1043940"/>
            <a:ext cx="11094720" cy="716280"/>
          </a:xfrm>
          <a:prstGeom prst="rect">
            <a:avLst/>
          </a:prstGeom>
          <a:noFill/>
        </p:spPr>
        <p:txBody>
          <a:bodyPr wrap="square" lIns="0" rIns="0" tIns="0" bIns="0">
            <a:spAutoFit/>
          </a:bodyPr>
          <a:lstStyle/>
          <a:p>
            <a:pPr algn="r" rtl="1">
              <a:lnSpc>
                <a:spcPct val="118000"/>
              </a:lnSpc>
              <a:spcAft>
                <a:spcPts val="500"/>
              </a:spcAft>
            </a:pPr>
            <a:r>
              <a:rPr sz="3660" b="1" lang="he-IL">
                <a:solidFill>
                  <a:srgbClr val="242139"/>
                </a:solidFill>
                <a:latin typeface="Arial"/>
              </a:rPr>
              <a:t>לתת לילדים עוד מקום להיות בו הם עצמם</a:t>
            </a:r>
          </a:p>
        </p:txBody>
      </p:sp>
      <p:sp>
        <p:nvSpPr>
          <p:cNvPr id="6" name="TextBox 5"/>
          <p:cNvSpPr txBox="1"/>
          <p:nvPr/>
        </p:nvSpPr>
        <p:spPr>
          <a:xfrm>
            <a:off x="609600" y="1844040"/>
            <a:ext cx="10972800" cy="647700"/>
          </a:xfrm>
          <a:prstGeom prst="rect">
            <a:avLst/>
          </a:prstGeom>
          <a:noFill/>
        </p:spPr>
        <p:txBody>
          <a:bodyPr wrap="square" lIns="0" rIns="0" tIns="0" bIns="0">
            <a:spAutoFit/>
          </a:bodyPr>
          <a:lstStyle/>
          <a:p>
            <a:pPr algn="r" rtl="1">
              <a:lnSpc>
                <a:spcPct val="118000"/>
              </a:lnSpc>
              <a:spcAft>
                <a:spcPts val="500"/>
              </a:spcAft>
            </a:pPr>
            <a:r>
              <a:rPr sz="1800" b="0" lang="he-IL">
                <a:solidFill>
                  <a:srgbClr val="6B6879"/>
                </a:solidFill>
                <a:latin typeface="Arial"/>
              </a:rPr>
              <a:t>הידע של העמותה על הילדים, יחד עם תכנון מוצר קשוב ומדויק</a:t>
            </a:r>
          </a:p>
        </p:txBody>
      </p:sp>
      <p:sp>
        <p:nvSpPr>
          <p:cNvPr id="7" name="Rectangle 6"/>
          <p:cNvSpPr/>
          <p:nvPr/>
        </p:nvSpPr>
        <p:spPr>
          <a:xfrm>
            <a:off x="548640" y="6332220"/>
            <a:ext cx="11094720" cy="15240"/>
          </a:xfrm>
          <a:prstGeom prst="rect">
            <a:avLst/>
          </a:prstGeom>
          <a:solidFill>
            <a:srgbClr val="E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15000" y="6492240"/>
            <a:ext cx="5905500" cy="198120"/>
          </a:xfrm>
          <a:prstGeom prst="rect">
            <a:avLst/>
          </a:prstGeom>
          <a:noFill/>
        </p:spPr>
        <p:txBody>
          <a:bodyPr wrap="square" lIns="0" rIns="0" tIns="0" bIns="0">
            <a:spAutoFit/>
          </a:bodyPr>
          <a:lstStyle/>
          <a:p>
            <a:pPr algn="r" rtl="1">
              <a:lnSpc>
                <a:spcPct val="118000"/>
              </a:lnSpc>
              <a:spcAft>
                <a:spcPts val="500"/>
              </a:spcAft>
            </a:pPr>
            <a:r>
              <a:rPr sz="1140" b="0" lang="he-IL">
                <a:solidFill>
                  <a:srgbClr val="6B6879"/>
                </a:solidFill>
                <a:latin typeface="Arial"/>
              </a:rPr>
              <a:t>הצעת מוצר לשיחה עם העמותה  ·  אוקטובר 2026</a:t>
            </a:r>
          </a:p>
        </p:txBody>
      </p:sp>
      <p:sp>
        <p:nvSpPr>
          <p:cNvPr id="9" name="TextBox 8"/>
          <p:cNvSpPr txBox="1"/>
          <p:nvPr/>
        </p:nvSpPr>
        <p:spPr>
          <a:xfrm>
            <a:off x="571500" y="6469380"/>
            <a:ext cx="571500" cy="228600"/>
          </a:xfrm>
          <a:prstGeom prst="rect">
            <a:avLst/>
          </a:prstGeom>
          <a:noFill/>
        </p:spPr>
        <p:txBody>
          <a:bodyPr wrap="square" lIns="0" rIns="0" tIns="0" bIns="0">
            <a:spAutoFit/>
          </a:bodyPr>
          <a:lstStyle/>
          <a:p>
            <a:pPr algn="l" rtl="1">
              <a:lnSpc>
                <a:spcPct val="118000"/>
              </a:lnSpc>
              <a:spcAft>
                <a:spcPts val="500"/>
              </a:spcAft>
            </a:pPr>
            <a:r>
              <a:rPr sz="1320" b="1" lang="he-IL">
                <a:solidFill>
                  <a:srgbClr val="7650D5"/>
                </a:solidFill>
                <a:latin typeface="Arial"/>
              </a:rPr>
              <a:t>17</a:t>
            </a:r>
          </a:p>
        </p:txBody>
      </p:sp>
      <p:sp>
        <p:nvSpPr>
          <p:cNvPr id="10" name="TextBox 9"/>
          <p:cNvSpPr txBox="1"/>
          <p:nvPr/>
        </p:nvSpPr>
        <p:spPr>
          <a:xfrm>
            <a:off x="4800600" y="2720340"/>
            <a:ext cx="6477000" cy="1897380"/>
          </a:xfrm>
          <a:prstGeom prst="rect">
            <a:avLst/>
          </a:prstGeom>
          <a:noFill/>
        </p:spPr>
        <p:txBody>
          <a:bodyPr wrap="square" lIns="0" rIns="0" tIns="0" bIns="0">
            <a:spAutoFit/>
          </a:bodyPr>
          <a:lstStyle/>
          <a:p>
            <a:pPr algn="r" rtl="1">
              <a:lnSpc>
                <a:spcPct val="118000"/>
              </a:lnSpc>
              <a:spcAft>
                <a:spcPts val="500"/>
              </a:spcAft>
            </a:pPr>
            <a:r>
              <a:rPr sz="4019" b="1" lang="he-IL">
                <a:solidFill>
                  <a:srgbClr val="242139"/>
                </a:solidFill>
                <a:latin typeface="Arial"/>
              </a:rPr>
              <a:t>מקום להשתתף.</a:t>
            </a:r>
          </a:p>
          <a:p>
            <a:pPr algn="r" rtl="1">
              <a:lnSpc>
                <a:spcPct val="118000"/>
              </a:lnSpc>
              <a:spcAft>
                <a:spcPts val="500"/>
              </a:spcAft>
            </a:pPr>
            <a:r>
              <a:rPr sz="4019" b="1" lang="he-IL">
                <a:solidFill>
                  <a:srgbClr val="242139"/>
                </a:solidFill>
                <a:latin typeface="Arial"/>
              </a:rPr>
              <a:t>ילדים שנותנים זה לזה.</a:t>
            </a:r>
          </a:p>
          <a:p>
            <a:pPr algn="r" rtl="1">
              <a:lnSpc>
                <a:spcPct val="118000"/>
              </a:lnSpc>
              <a:spcAft>
                <a:spcPts val="500"/>
              </a:spcAft>
            </a:pPr>
            <a:r>
              <a:rPr sz="4019" b="1" lang="he-IL">
                <a:solidFill>
                  <a:srgbClr val="242139"/>
                </a:solidFill>
                <a:latin typeface="Arial"/>
              </a:rPr>
              <a:t>תחושה שיש לי מקום.</a:t>
            </a:r>
          </a:p>
        </p:txBody>
      </p:sp>
      <p:sp>
        <p:nvSpPr>
          <p:cNvPr id="11" name="Rounded Rectangle 10"/>
          <p:cNvSpPr/>
          <p:nvPr/>
        </p:nvSpPr>
        <p:spPr>
          <a:xfrm>
            <a:off x="685800" y="2781300"/>
            <a:ext cx="3543300" cy="2667000"/>
          </a:xfrm>
          <a:prstGeom prst="roundRect">
            <a:avLst>
              <a:gd name="adj" fmla="val 12000"/>
            </a:avLst>
          </a:prstGeom>
          <a:solidFill>
            <a:srgbClr val="EDE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055620"/>
            <a:ext cx="3086100" cy="419100"/>
          </a:xfrm>
          <a:prstGeom prst="rect">
            <a:avLst/>
          </a:prstGeom>
          <a:noFill/>
        </p:spPr>
        <p:txBody>
          <a:bodyPr wrap="square" lIns="0" rIns="0" tIns="0" bIns="0">
            <a:spAutoFit/>
          </a:bodyPr>
          <a:lstStyle/>
          <a:p>
            <a:pPr algn="r" rtl="1">
              <a:lnSpc>
                <a:spcPct val="118000"/>
              </a:lnSpc>
              <a:spcAft>
                <a:spcPts val="500"/>
              </a:spcAft>
            </a:pPr>
            <a:r>
              <a:rPr sz="2100" b="1" lang="he-IL">
                <a:solidFill>
                  <a:srgbClr val="7650D5"/>
                </a:solidFill>
                <a:latin typeface="Arial"/>
              </a:rPr>
              <a:t>הצעד הבא המוצע</a:t>
            </a:r>
          </a:p>
        </p:txBody>
      </p:sp>
      <p:sp>
        <p:nvSpPr>
          <p:cNvPr id="13" name="TextBox 12"/>
          <p:cNvSpPr txBox="1"/>
          <p:nvPr/>
        </p:nvSpPr>
        <p:spPr>
          <a:xfrm>
            <a:off x="929640" y="3688080"/>
            <a:ext cx="3055620" cy="1447800"/>
          </a:xfrm>
          <a:prstGeom prst="rect">
            <a:avLst/>
          </a:prstGeom>
          <a:noFill/>
        </p:spPr>
        <p:txBody>
          <a:bodyPr wrap="square" lIns="0" rIns="0" tIns="0" bIns="0">
            <a:spAutoFit/>
          </a:bodyPr>
          <a:lstStyle/>
          <a:p>
            <a:pPr algn="r" rtl="1">
              <a:lnSpc>
                <a:spcPct val="118000"/>
              </a:lnSpc>
              <a:spcAft>
                <a:spcPts val="500"/>
              </a:spcAft>
            </a:pPr>
            <a:r>
              <a:rPr sz="2039" b="0" lang="he-IL">
                <a:solidFill>
                  <a:srgbClr val="242139"/>
                </a:solidFill>
                <a:latin typeface="Arial"/>
              </a:rPr>
              <a:t>מפגש עבודה משותף</a:t>
            </a:r>
          </a:p>
          <a:p>
            <a:pPr algn="r" rtl="1">
              <a:lnSpc>
                <a:spcPct val="118000"/>
              </a:lnSpc>
              <a:spcAft>
                <a:spcPts val="500"/>
              </a:spcAft>
            </a:pPr>
            <a:r>
              <a:rPr sz="2039" b="0" lang="he-IL">
                <a:solidFill>
                  <a:srgbClr val="242139"/>
                </a:solidFill>
                <a:latin typeface="Arial"/>
              </a:rPr>
              <a:t>לדיוק קהל היעד,</a:t>
            </a:r>
          </a:p>
          <a:p>
            <a:pPr algn="r" rtl="1">
              <a:lnSpc>
                <a:spcPct val="118000"/>
              </a:lnSpc>
              <a:spcAft>
                <a:spcPts val="500"/>
              </a:spcAft>
            </a:pPr>
            <a:r>
              <a:rPr sz="2039" b="0" lang="he-IL">
                <a:solidFill>
                  <a:srgbClr val="242139"/>
                </a:solidFill>
                <a:latin typeface="Arial"/>
              </a:rPr>
              <a:t>חוויית הליבה</a:t>
            </a:r>
          </a:p>
          <a:p>
            <a:pPr algn="r" rtl="1">
              <a:lnSpc>
                <a:spcPct val="118000"/>
              </a:lnSpc>
              <a:spcAft>
                <a:spcPts val="500"/>
              </a:spcAft>
            </a:pPr>
            <a:r>
              <a:rPr sz="2039" b="0" lang="he-IL">
                <a:solidFill>
                  <a:srgbClr val="242139"/>
                </a:solidFill>
                <a:latin typeface="Arial"/>
              </a:rPr>
              <a:t>ומעטפת האחריות.</a:t>
            </a:r>
          </a:p>
        </p:txBody>
      </p:sp>
      <p:sp>
        <p:nvSpPr>
          <p:cNvPr id="14" name="TextBox 13"/>
          <p:cNvSpPr txBox="1"/>
          <p:nvPr/>
        </p:nvSpPr>
        <p:spPr>
          <a:xfrm>
            <a:off x="4114800" y="5669280"/>
            <a:ext cx="7162800" cy="480060"/>
          </a:xfrm>
          <a:prstGeom prst="rect">
            <a:avLst/>
          </a:prstGeom>
          <a:noFill/>
        </p:spPr>
        <p:txBody>
          <a:bodyPr wrap="square" lIns="0" rIns="0" tIns="0" bIns="0">
            <a:spAutoFit/>
          </a:bodyPr>
          <a:lstStyle/>
          <a:p>
            <a:pPr algn="r" rtl="1">
              <a:lnSpc>
                <a:spcPct val="118000"/>
              </a:lnSpc>
              <a:spcAft>
                <a:spcPts val="500"/>
              </a:spcAft>
            </a:pPr>
            <a:r>
              <a:rPr sz="2039" b="1" lang="he-IL">
                <a:solidFill>
                  <a:srgbClr val="167E76"/>
                </a:solidFill>
                <a:latin typeface="Arial"/>
              </a:rPr>
              <a:t>FeelIt  ·  מרחב חברתי מוגן לילדים</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FeelIt — חזון וחוויית מוצר</dc:title>
  <dc:subject>מצגת לפגישה עם העמותה</dc:subject>
  <dc:creator>FeelIt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