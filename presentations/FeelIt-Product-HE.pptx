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פתיחה מוצעת: ביקשתם כלי שיעזור לילדים שחוו פגיעה חברתית. בלב FeelIt נמצאים ילדים שפועלים זה כלפי זה: משתתפים בשאלות, שולחים מחוות ומקבלים אכפתיות מילדים אחרים. הביטוי הרגשי והצמח האישי מחברים את הילד לחוויה החברתית הזו. מרחב חברתי מוגן הוא יעד התכנון; אין זו הבטחה להיעדר סיכון. זו הצעת מוצר, והמוקאפים אינם עדות למוצר פעיל או ליעילות מוכחת. תזמון מוצע לכל המצגת: 28 דקות הצגה ועוד עד 10 דקות דיון.</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הדגישו את הפעולה בין שני צדדים: ילד בוחר שאלה מתוך תוכן מאושר וילדים אחרים מצביעים; ילד שולח מחווה וילד אחר מקבל אותה. זהו הערך החברתי המרכזי. התבניות והבקרה מגדירות איך האינטראקציה מתרחשת. אין כאן הבטחה לחברויות מתמשכות, קשר אישי מזוהה או מענה של עמית לכל פעולה. אישור מהמערכת ומחווה מילד אחר חייבים להיות מובחנים. הפירות הם פריטים דיגיטליים ייחודיים; כללי הצמיחה והחלוקה עדיין לדיון.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זהו מבט על ארבעת תחומי המוצר, ולא רצף של שלבי פתיחה. הפרופיל מבוסס הצמח נותן מקום אישי והמשכיות; הצ׳ק־אין מאפשר שיתוף רגשות יומי; הסקרים והמחוות מאפשרים בניית קהילה ואינטראקציה בטוחה; שיתוף האירועים האנונימי מאפשר לספר ולקבל תמיכה. חיבוקים ומתנות זמינים בכמה מסכים. שיתוף סיפורים ותגובות כפוף למעטפת התוכן והבקרה שתוגדר עם העמותה.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חמשת המחוונים מופיעים במקור. אין להציגם כשאלון מתוקף. במיוחד יש לדייק את קוטבי מחוון הגוף ולבחון התאמה לרמת הקריאה.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זהו הפער המהותי במודל הנוכחי: הצעת סוף לסיפור של ילד עלולה להיות טקסט שמכוון אליו. ההצעה למצגת שומרת על הרעיון אך מציגה מסלול מוגבל כהמלצה בלבד. אפשר להציע לבחון את שם המסך, למשל מקום לתקווה.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כפתורי הדיווח מוצגים בכל סקר ובכל סיפור ותגובה. נדרש אותו מנגנון בכל משטח עתידי עם תוכן משתמשים. הגנת זהות המדווח היא דרישת מוצר שיש לממש. אישור קבלה אינו אישור שהתוכן הוסר או שהאירוע טופל.</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מספרים נבדקו ב-1 באוקטובר 2026: 100 משטרה, 105 הגנה על ילדים ברשת, 118 מוקד הרווחה, 1201 ער״ן. מקורות: https://www.gov.il/he/Departments/Units/105_call_center ; https://www.gov.il/he/pages/molsa-domestic-violence-protection?chapterIndex=1 ; https://www.eran.org.il/services/ . אין בכך הצהרה על שותפות עם המוקדים. כפתור העזרה מופיע בכל ששת מסכי התוכן ובגרסאות ההערות המעודכנות.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מקורות: https://github.com/zalmen/backendFeelIt/blob/main/README.md</a:t>
            </a:r>
          </a:p>
          <a:p>
            <a:r>
              <a:t>https://github.com/zalmen/backendFeelIt/blob/main/OPEN-QUESTIONS.md</a:t>
            </a:r>
          </a:p>
          <a:p>
            <a:r>
              <a:t>https://github.com/zalmen/backendFeelIt/tree/main/mocks</a:t>
            </a:r>
          </a:p>
          <a:p>
            <a:r>
              <a:t>Base source revision: cf70ef5ca8a0a93ba9dc3c976acc5fee96f07dee</a:t>
            </a:r>
          </a:p>
          <a:p>
            <a:r>
              <a:t>עדכון מוצר: מסך ״אתה לא לבד״ הוא מסך סיום הצ׳ק־אין, ללא כפתור ״המשך״ וללא מעבר אוטומטי. המוקאפ ותיאור הזרימה עודכנו בהתאם להחלטה זו.</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חזון המוצר</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מקום להרגיש שייכים. מרחב להיות בו יחד.</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מרחב חברתי מוגן לילדים שחוו בריונות ופגיעה חברתית</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01</a:t>
            </a:r>
          </a:p>
        </p:txBody>
      </p:sp>
      <p:sp>
        <p:nvSpPr>
          <p:cNvPr id="10" name="TextBox 9"/>
          <p:cNvSpPr txBox="1"/>
          <p:nvPr/>
        </p:nvSpPr>
        <p:spPr>
          <a:xfrm>
            <a:off x="5486400" y="2819400"/>
            <a:ext cx="5791200" cy="1790700"/>
          </a:xfrm>
          <a:prstGeom prst="rect">
            <a:avLst/>
          </a:prstGeom>
          <a:noFill/>
        </p:spPr>
        <p:txBody>
          <a:bodyPr wrap="square" lIns="0" rIns="0" tIns="0" bIns="0">
            <a:spAutoFit/>
          </a:bodyPr>
          <a:lstStyle/>
          <a:p>
            <a:pPr algn="r" rtl="1">
              <a:lnSpc>
                <a:spcPct val="118000"/>
              </a:lnSpc>
              <a:spcAft>
                <a:spcPts val="500"/>
              </a:spcAft>
            </a:pPr>
            <a:r>
              <a:rPr sz="3900" b="1" lang="he-IL">
                <a:solidFill>
                  <a:srgbClr val="242139"/>
                </a:solidFill>
                <a:latin typeface="Arial"/>
              </a:rPr>
              <a:t>להשתתף עם אחרים.</a:t>
            </a:r>
          </a:p>
          <a:p>
            <a:pPr algn="r" rtl="1">
              <a:lnSpc>
                <a:spcPct val="118000"/>
              </a:lnSpc>
              <a:spcAft>
                <a:spcPts val="500"/>
              </a:spcAft>
            </a:pPr>
            <a:r>
              <a:rPr sz="3900" b="1" lang="he-IL">
                <a:solidFill>
                  <a:srgbClr val="242139"/>
                </a:solidFill>
                <a:latin typeface="Arial"/>
              </a:rPr>
              <a:t>לתת ולקבל אכפתיות.</a:t>
            </a:r>
          </a:p>
          <a:p>
            <a:pPr algn="r" rtl="1">
              <a:lnSpc>
                <a:spcPct val="118000"/>
              </a:lnSpc>
              <a:spcAft>
                <a:spcPts val="500"/>
              </a:spcAft>
            </a:pPr>
            <a:r>
              <a:rPr sz="3900" b="1" lang="he-IL">
                <a:solidFill>
                  <a:srgbClr val="242139"/>
                </a:solidFill>
                <a:latin typeface="Arial"/>
              </a:rPr>
              <a:t>לצמוח בקצב שלי.</a:t>
            </a:r>
          </a:p>
        </p:txBody>
      </p:sp>
      <p:sp>
        <p:nvSpPr>
          <p:cNvPr id="11" name="Rounded Rectangle 10"/>
          <p:cNvSpPr/>
          <p:nvPr/>
        </p:nvSpPr>
        <p:spPr>
          <a:xfrm>
            <a:off x="876300" y="2667000"/>
            <a:ext cx="3695700" cy="2971800"/>
          </a:xfrm>
          <a:prstGeom prst="roundRect">
            <a:avLst>
              <a:gd name="adj" fmla="val 12000"/>
            </a:avLst>
          </a:prstGeom>
          <a:solidFill>
            <a:srgbClr val="EDE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19200" y="3086100"/>
            <a:ext cx="3009900" cy="838200"/>
          </a:xfrm>
          <a:prstGeom prst="rect">
            <a:avLst/>
          </a:prstGeom>
          <a:noFill/>
        </p:spPr>
        <p:txBody>
          <a:bodyPr wrap="square" lIns="0" rIns="0" tIns="0" bIns="0">
            <a:spAutoFit/>
          </a:bodyPr>
          <a:lstStyle/>
          <a:p>
            <a:pPr algn="ctr" rtl="1">
              <a:lnSpc>
                <a:spcPct val="118000"/>
              </a:lnSpc>
              <a:spcAft>
                <a:spcPts val="500"/>
              </a:spcAft>
            </a:pPr>
            <a:r>
              <a:rPr sz="5340" b="1" lang="he-IL">
                <a:solidFill>
                  <a:srgbClr val="7650D5"/>
                </a:solidFill>
                <a:latin typeface="Arial"/>
              </a:rPr>
              <a:t>FeelIt</a:t>
            </a:r>
          </a:p>
        </p:txBody>
      </p:sp>
      <p:sp>
        <p:nvSpPr>
          <p:cNvPr id="13" name="TextBox 12"/>
          <p:cNvSpPr txBox="1"/>
          <p:nvPr/>
        </p:nvSpPr>
        <p:spPr>
          <a:xfrm>
            <a:off x="1104900" y="4160520"/>
            <a:ext cx="3238500" cy="655320"/>
          </a:xfrm>
          <a:prstGeom prst="rect">
            <a:avLst/>
          </a:prstGeom>
          <a:noFill/>
        </p:spPr>
        <p:txBody>
          <a:bodyPr wrap="square" lIns="0" rIns="0" tIns="0" bIns="0">
            <a:spAutoFit/>
          </a:bodyPr>
          <a:lstStyle/>
          <a:p>
            <a:pPr algn="ctr" rtl="1">
              <a:lnSpc>
                <a:spcPct val="118000"/>
              </a:lnSpc>
              <a:spcAft>
                <a:spcPts val="500"/>
              </a:spcAft>
            </a:pPr>
            <a:r>
              <a:rPr sz="1800" b="1" lang="he-IL">
                <a:solidFill>
                  <a:srgbClr val="167E76"/>
                </a:solidFill>
                <a:latin typeface="Arial"/>
              </a:rPr>
              <a:t>מבטאים  ·  מתחברים  ·  צומחים</a:t>
            </a:r>
          </a:p>
        </p:txBody>
      </p:sp>
      <p:sp>
        <p:nvSpPr>
          <p:cNvPr id="14" name="TextBox 13"/>
          <p:cNvSpPr txBox="1"/>
          <p:nvPr/>
        </p:nvSpPr>
        <p:spPr>
          <a:xfrm>
            <a:off x="5600700" y="5212080"/>
            <a:ext cx="5676900" cy="6858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חזון וחוויית מוצר</a:t>
            </a:r>
          </a:p>
          <a:p>
            <a:pPr algn="r" rtl="1">
              <a:lnSpc>
                <a:spcPct val="118000"/>
              </a:lnSpc>
              <a:spcAft>
                <a:spcPts val="500"/>
              </a:spcAft>
            </a:pPr>
            <a:r>
              <a:rPr sz="1800" b="0" lang="he-IL">
                <a:solidFill>
                  <a:srgbClr val="6B6879"/>
                </a:solidFill>
                <a:latin typeface="Arial"/>
              </a:rPr>
              <a:t>בסיס לתכנון משותף עם העמותה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ההזדמנות</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אחרי יום קשה, גם רגע של חיבור יכול להיות משמעותי</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02</a:t>
            </a:r>
          </a:p>
        </p:txBody>
      </p:sp>
      <p:sp>
        <p:nvSpPr>
          <p:cNvPr id="9" name="Rounded Rectangle 8"/>
          <p:cNvSpPr/>
          <p:nvPr/>
        </p:nvSpPr>
        <p:spPr>
          <a:xfrm>
            <a:off x="8077200" y="2667000"/>
            <a:ext cx="3505200" cy="2514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00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01</a:t>
            </a:r>
          </a:p>
        </p:txBody>
      </p:sp>
      <p:sp>
        <p:nvSpPr>
          <p:cNvPr id="11" name="TextBox 10"/>
          <p:cNvSpPr txBox="1"/>
          <p:nvPr/>
        </p:nvSpPr>
        <p:spPr>
          <a:xfrm>
            <a:off x="82600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קשה להסביר</a:t>
            </a:r>
          </a:p>
        </p:txBody>
      </p:sp>
      <p:sp>
        <p:nvSpPr>
          <p:cNvPr id="12" name="TextBox 11"/>
          <p:cNvSpPr txBox="1"/>
          <p:nvPr/>
        </p:nvSpPr>
        <p:spPr>
          <a:xfrm>
            <a:off x="8260080" y="4099560"/>
            <a:ext cx="3139440" cy="990599"/>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 חוזר מבית הספר עם תחושה קשה, ולא תמיד מוצא את המילים.</a:t>
            </a:r>
          </a:p>
        </p:txBody>
      </p:sp>
      <p:sp>
        <p:nvSpPr>
          <p:cNvPr id="13" name="Rounded Rectangle 12"/>
          <p:cNvSpPr/>
          <p:nvPr/>
        </p:nvSpPr>
        <p:spPr>
          <a:xfrm>
            <a:off x="4343400" y="2667000"/>
            <a:ext cx="3505200" cy="2514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02</a:t>
            </a:r>
          </a:p>
        </p:txBody>
      </p:sp>
      <p:sp>
        <p:nvSpPr>
          <p:cNvPr id="15" name="TextBox 14"/>
          <p:cNvSpPr txBox="1"/>
          <p:nvPr/>
        </p:nvSpPr>
        <p:spPr>
          <a:xfrm>
            <a:off x="45262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רוצה מקום בין ילדים</a:t>
            </a:r>
          </a:p>
        </p:txBody>
      </p:sp>
      <p:sp>
        <p:nvSpPr>
          <p:cNvPr id="16" name="TextBox 15"/>
          <p:cNvSpPr txBox="1"/>
          <p:nvPr/>
        </p:nvSpPr>
        <p:spPr>
          <a:xfrm>
            <a:off x="4526280" y="4099560"/>
            <a:ext cx="3139440" cy="990599"/>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הוא רוצה להשתתף, להביע דעה ולפגוש ילדים עם תחושות ותחומי עניין משותפים.</a:t>
            </a:r>
          </a:p>
        </p:txBody>
      </p:sp>
      <p:sp>
        <p:nvSpPr>
          <p:cNvPr id="17" name="Rounded Rectangle 16"/>
          <p:cNvSpPr/>
          <p:nvPr/>
        </p:nvSpPr>
        <p:spPr>
          <a:xfrm>
            <a:off x="609600" y="2667000"/>
            <a:ext cx="3505200" cy="2514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03</a:t>
            </a:r>
          </a:p>
        </p:txBody>
      </p:sp>
      <p:sp>
        <p:nvSpPr>
          <p:cNvPr id="19" name="TextBox 18"/>
          <p:cNvSpPr txBox="1"/>
          <p:nvPr/>
        </p:nvSpPr>
        <p:spPr>
          <a:xfrm>
            <a:off x="7924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לתת וגם לקבל</a:t>
            </a:r>
          </a:p>
        </p:txBody>
      </p:sp>
      <p:sp>
        <p:nvSpPr>
          <p:cNvPr id="20" name="TextBox 19"/>
          <p:cNvSpPr txBox="1"/>
          <p:nvPr/>
        </p:nvSpPr>
        <p:spPr>
          <a:xfrm>
            <a:off x="792480" y="4099560"/>
            <a:ext cx="3139440" cy="990599"/>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השתתפות ותגובה לתוכן של ילדים אחרים מאפשרות לו להביע אכפתיות — וגם לקבל אותה.</a:t>
            </a:r>
          </a:p>
        </p:txBody>
      </p:sp>
      <p:sp>
        <p:nvSpPr>
          <p:cNvPr id="21" name="Rounded Rectangle 20"/>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ההזדמנות: לאפשר חוויות חברתיות חיוביות בין ילדים, עם גבולות שמגנים על ההשתתפות.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למי אנחנו מתכננים</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הילד במרכז. העמותה שותפה לתכנון.</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קהל הליבה: תלמידות ותלמידי בית ספר יסודי שחוו בריונות, דחייה או פגיעה חברתית</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03</a:t>
            </a:r>
          </a:p>
        </p:txBody>
      </p:sp>
      <p:sp>
        <p:nvSpPr>
          <p:cNvPr id="10" name="Rounded Rectangle 9"/>
          <p:cNvSpPr/>
          <p:nvPr/>
        </p:nvSpPr>
        <p:spPr>
          <a:xfrm>
            <a:off x="8001000" y="2667000"/>
            <a:ext cx="35814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2842260"/>
            <a:ext cx="32156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המשתמשים</a:t>
            </a:r>
          </a:p>
        </p:txBody>
      </p:sp>
      <p:sp>
        <p:nvSpPr>
          <p:cNvPr id="12" name="TextBox 11"/>
          <p:cNvSpPr txBox="1"/>
          <p:nvPr/>
        </p:nvSpPr>
        <p:spPr>
          <a:xfrm>
            <a:off x="8183879" y="3299460"/>
            <a:ext cx="32156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ילדי בית הספר היסודי</a:t>
            </a:r>
          </a:p>
        </p:txBody>
      </p:sp>
      <p:sp>
        <p:nvSpPr>
          <p:cNvPr id="13" name="TextBox 12"/>
          <p:cNvSpPr txBox="1"/>
          <p:nvPr/>
        </p:nvSpPr>
        <p:spPr>
          <a:xfrm>
            <a:off x="8183879" y="4099560"/>
            <a:ext cx="32156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ילדים שרוצים מקום להשתתף ולהרגיש שייכים. שפה חזותית בעברית מאפשרת חיבור גם בלי כתיבה או חשיפה אישית.</a:t>
            </a:r>
          </a:p>
        </p:txBody>
      </p:sp>
      <p:sp>
        <p:nvSpPr>
          <p:cNvPr id="14" name="Rounded Rectangle 13"/>
          <p:cNvSpPr/>
          <p:nvPr/>
        </p:nvSpPr>
        <p:spPr>
          <a:xfrm>
            <a:off x="4305300" y="2667000"/>
            <a:ext cx="34671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8180" y="2842260"/>
            <a:ext cx="31013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הסביבה התומכת</a:t>
            </a:r>
          </a:p>
        </p:txBody>
      </p:sp>
      <p:sp>
        <p:nvSpPr>
          <p:cNvPr id="16" name="TextBox 15"/>
          <p:cNvSpPr txBox="1"/>
          <p:nvPr/>
        </p:nvSpPr>
        <p:spPr>
          <a:xfrm>
            <a:off x="4488180" y="3299460"/>
            <a:ext cx="31013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הורים ואפוטרופוסים</a:t>
            </a:r>
          </a:p>
        </p:txBody>
      </p:sp>
      <p:sp>
        <p:nvSpPr>
          <p:cNvPr id="17" name="TextBox 16"/>
          <p:cNvSpPr txBox="1"/>
          <p:nvPr/>
        </p:nvSpPr>
        <p:spPr>
          <a:xfrm>
            <a:off x="4488180" y="4099560"/>
            <a:ext cx="31013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הצטרפות מובנת ואמון בשימוש. את היקף ההסכמה והנראות נגדיר יחד.</a:t>
            </a:r>
          </a:p>
        </p:txBody>
      </p:sp>
      <p:sp>
        <p:nvSpPr>
          <p:cNvPr id="18" name="Rounded Rectangle 17"/>
          <p:cNvSpPr/>
          <p:nvPr/>
        </p:nvSpPr>
        <p:spPr>
          <a:xfrm>
            <a:off x="609600" y="2667000"/>
            <a:ext cx="34671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480" y="2842260"/>
            <a:ext cx="31013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שותפת התכנון</a:t>
            </a:r>
          </a:p>
        </p:txBody>
      </p:sp>
      <p:sp>
        <p:nvSpPr>
          <p:cNvPr id="20" name="TextBox 19"/>
          <p:cNvSpPr txBox="1"/>
          <p:nvPr/>
        </p:nvSpPr>
        <p:spPr>
          <a:xfrm>
            <a:off x="792480" y="3299460"/>
            <a:ext cx="31013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העמותה ואנשי המקצוע</a:t>
            </a:r>
          </a:p>
        </p:txBody>
      </p:sp>
      <p:sp>
        <p:nvSpPr>
          <p:cNvPr id="21" name="TextBox 20"/>
          <p:cNvSpPr txBox="1"/>
          <p:nvPr/>
        </p:nvSpPr>
        <p:spPr>
          <a:xfrm>
            <a:off x="792480" y="4099560"/>
            <a:ext cx="31013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היכרות עם הילדים, התאמת התוכן והגדרת מעטפת המענה והבקרה.</a:t>
            </a:r>
          </a:p>
        </p:txBody>
      </p:sp>
      <p:sp>
        <p:nvSpPr>
          <p:cNvPr id="22" name="Rounded Rectangle 21"/>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לדיוק משותף: שכבות הגיל הראשונות, רמת הקריאה והצרכים של הילדים שהעמותה מלווה.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עקרונות מנחים</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חמש הבטחות שמכוונות כל החלטת מוצר</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04</a:t>
            </a:r>
          </a:p>
        </p:txBody>
      </p:sp>
      <p:sp>
        <p:nvSpPr>
          <p:cNvPr id="9" name="Rounded Rectangle 8"/>
          <p:cNvSpPr/>
          <p:nvPr/>
        </p:nvSpPr>
        <p:spPr>
          <a:xfrm>
            <a:off x="609600" y="212598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820400" y="2308860"/>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01</a:t>
            </a:r>
          </a:p>
        </p:txBody>
      </p:sp>
      <p:sp>
        <p:nvSpPr>
          <p:cNvPr id="11" name="TextBox 10"/>
          <p:cNvSpPr txBox="1"/>
          <p:nvPr/>
        </p:nvSpPr>
        <p:spPr>
          <a:xfrm>
            <a:off x="7162800" y="230124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לתת מקום לכל רגש</a:t>
            </a:r>
          </a:p>
        </p:txBody>
      </p:sp>
      <p:sp>
        <p:nvSpPr>
          <p:cNvPr id="12" name="TextBox 11"/>
          <p:cNvSpPr txBox="1"/>
          <p:nvPr/>
        </p:nvSpPr>
        <p:spPr>
          <a:xfrm>
            <a:off x="830580" y="2324100"/>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אפשר להרגיש עצב, כעס או בדידות. אין תשובה נכונה.</a:t>
            </a:r>
          </a:p>
        </p:txBody>
      </p:sp>
      <p:sp>
        <p:nvSpPr>
          <p:cNvPr id="13" name="Rounded Rectangle 12"/>
          <p:cNvSpPr/>
          <p:nvPr/>
        </p:nvSpPr>
        <p:spPr>
          <a:xfrm>
            <a:off x="609600" y="290322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820400" y="3086100"/>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02</a:t>
            </a:r>
          </a:p>
        </p:txBody>
      </p:sp>
      <p:sp>
        <p:nvSpPr>
          <p:cNvPr id="15" name="TextBox 14"/>
          <p:cNvSpPr txBox="1"/>
          <p:nvPr/>
        </p:nvSpPr>
        <p:spPr>
          <a:xfrm>
            <a:off x="7162800" y="307848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לא להשאיר ילד באוויר</a:t>
            </a:r>
          </a:p>
        </p:txBody>
      </p:sp>
      <p:sp>
        <p:nvSpPr>
          <p:cNvPr id="16" name="TextBox 15"/>
          <p:cNvSpPr txBox="1"/>
          <p:nvPr/>
        </p:nvSpPr>
        <p:spPr>
          <a:xfrm>
            <a:off x="830580" y="3101340"/>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כל פעולה מקבלת אישור ברור ומענה מותאם.</a:t>
            </a:r>
          </a:p>
        </p:txBody>
      </p:sp>
      <p:sp>
        <p:nvSpPr>
          <p:cNvPr id="17" name="Rounded Rectangle 16"/>
          <p:cNvSpPr/>
          <p:nvPr/>
        </p:nvSpPr>
        <p:spPr>
          <a:xfrm>
            <a:off x="609600" y="368046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20400" y="3863339"/>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03</a:t>
            </a:r>
          </a:p>
        </p:txBody>
      </p:sp>
      <p:sp>
        <p:nvSpPr>
          <p:cNvPr id="19" name="TextBox 18"/>
          <p:cNvSpPr txBox="1"/>
          <p:nvPr/>
        </p:nvSpPr>
        <p:spPr>
          <a:xfrm>
            <a:off x="7162800" y="385572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להרגיש חלק מקהילה</a:t>
            </a:r>
          </a:p>
        </p:txBody>
      </p:sp>
      <p:sp>
        <p:nvSpPr>
          <p:cNvPr id="20" name="TextBox 19"/>
          <p:cNvSpPr txBox="1"/>
          <p:nvPr/>
        </p:nvSpPr>
        <p:spPr>
          <a:xfrm>
            <a:off x="830580" y="3878579"/>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לכל ילד יש מקום להשתתף, לתת ולקבל אכפתיות.</a:t>
            </a:r>
          </a:p>
        </p:txBody>
      </p:sp>
      <p:sp>
        <p:nvSpPr>
          <p:cNvPr id="21" name="Rounded Rectangle 20"/>
          <p:cNvSpPr/>
          <p:nvPr/>
        </p:nvSpPr>
        <p:spPr>
          <a:xfrm>
            <a:off x="609600" y="445770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820400" y="4640580"/>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04</a:t>
            </a:r>
          </a:p>
        </p:txBody>
      </p:sp>
      <p:sp>
        <p:nvSpPr>
          <p:cNvPr id="23" name="TextBox 22"/>
          <p:cNvSpPr txBox="1"/>
          <p:nvPr/>
        </p:nvSpPr>
        <p:spPr>
          <a:xfrm>
            <a:off x="7162800" y="463296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לאפשר חיבור בטוח</a:t>
            </a:r>
          </a:p>
        </p:txBody>
      </p:sp>
      <p:sp>
        <p:nvSpPr>
          <p:cNvPr id="24" name="TextBox 23"/>
          <p:cNvSpPr txBox="1"/>
          <p:nvPr/>
        </p:nvSpPr>
        <p:spPr>
          <a:xfrm>
            <a:off x="830580" y="4655820"/>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אינטראקציות מובנות בין ילדים, עם פרטיות וגבולות ברורים.</a:t>
            </a:r>
          </a:p>
        </p:txBody>
      </p:sp>
      <p:sp>
        <p:nvSpPr>
          <p:cNvPr id="25" name="Rounded Rectangle 24"/>
          <p:cNvSpPr/>
          <p:nvPr/>
        </p:nvSpPr>
        <p:spPr>
          <a:xfrm>
            <a:off x="609600" y="5234940"/>
            <a:ext cx="10972800" cy="670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820400" y="5417820"/>
            <a:ext cx="533400" cy="327660"/>
          </a:xfrm>
          <a:prstGeom prst="rect">
            <a:avLst/>
          </a:prstGeom>
          <a:noFill/>
        </p:spPr>
        <p:txBody>
          <a:bodyPr wrap="square" lIns="0" rIns="0" tIns="0" bIns="0">
            <a:spAutoFit/>
          </a:bodyPr>
          <a:lstStyle/>
          <a:p>
            <a:pPr algn="r" rtl="1">
              <a:lnSpc>
                <a:spcPct val="118000"/>
              </a:lnSpc>
              <a:spcAft>
                <a:spcPts val="500"/>
              </a:spcAft>
            </a:pPr>
            <a:r>
              <a:rPr sz="1800" b="1" lang="he-IL">
                <a:solidFill>
                  <a:srgbClr val="167E76"/>
                </a:solidFill>
                <a:latin typeface="Arial"/>
              </a:rPr>
              <a:t>05</a:t>
            </a:r>
          </a:p>
        </p:txBody>
      </p:sp>
      <p:sp>
        <p:nvSpPr>
          <p:cNvPr id="27" name="TextBox 26"/>
          <p:cNvSpPr txBox="1"/>
          <p:nvPr/>
        </p:nvSpPr>
        <p:spPr>
          <a:xfrm>
            <a:off x="7162800" y="5410200"/>
            <a:ext cx="3390900" cy="35814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לתת תקווה וקצב אישי</a:t>
            </a:r>
          </a:p>
        </p:txBody>
      </p:sp>
      <p:sp>
        <p:nvSpPr>
          <p:cNvPr id="28" name="TextBox 27"/>
          <p:cNvSpPr txBox="1"/>
          <p:nvPr/>
        </p:nvSpPr>
        <p:spPr>
          <a:xfrm>
            <a:off x="830580" y="5433060"/>
            <a:ext cx="6088380" cy="3733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צמיחה עדינה, בלי לחץ לחשוף יותר ובלי חובה להרגיש טוב.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מודל המוצר</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הקשר בין הילדים הוא לב החוויה</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ילדים משתתפים, מגיבים במחוות ומשפיעים זה על החוויה של זה — בתוך מסגרת מוגדרת</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05</a:t>
            </a:r>
          </a:p>
        </p:txBody>
      </p:sp>
      <p:sp>
        <p:nvSpPr>
          <p:cNvPr id="10" name="Rounded Rectangle 9"/>
          <p:cNvSpPr/>
          <p:nvPr/>
        </p:nvSpPr>
        <p:spPr>
          <a:xfrm>
            <a:off x="8877300" y="2705100"/>
            <a:ext cx="2590800" cy="26289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60180" y="2880360"/>
            <a:ext cx="22250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01</a:t>
            </a:r>
          </a:p>
        </p:txBody>
      </p:sp>
      <p:sp>
        <p:nvSpPr>
          <p:cNvPr id="12" name="TextBox 11"/>
          <p:cNvSpPr txBox="1"/>
          <p:nvPr/>
        </p:nvSpPr>
        <p:spPr>
          <a:xfrm>
            <a:off x="9060180" y="3337560"/>
            <a:ext cx="22250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מוצאים משותף</a:t>
            </a:r>
          </a:p>
        </p:txBody>
      </p:sp>
      <p:sp>
        <p:nvSpPr>
          <p:cNvPr id="13" name="TextBox 12"/>
          <p:cNvSpPr txBox="1"/>
          <p:nvPr/>
        </p:nvSpPr>
        <p:spPr>
          <a:xfrm>
            <a:off x="9060180" y="4137660"/>
            <a:ext cx="2225040" cy="11049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תחושות דומות</a:t>
            </a:r>
          </a:p>
          <a:p>
            <a:pPr algn="r" rtl="1">
              <a:lnSpc>
                <a:spcPct val="118000"/>
              </a:lnSpc>
              <a:spcAft>
                <a:spcPts val="500"/>
              </a:spcAft>
            </a:pPr>
            <a:r>
              <a:rPr sz="1739" b="0" lang="he-IL">
                <a:solidFill>
                  <a:srgbClr val="6B6879"/>
                </a:solidFill>
                <a:latin typeface="Arial"/>
              </a:rPr>
              <a:t>ותחומי עניין</a:t>
            </a:r>
          </a:p>
        </p:txBody>
      </p:sp>
      <p:sp>
        <p:nvSpPr>
          <p:cNvPr id="14" name="Rounded Rectangle 13"/>
          <p:cNvSpPr/>
          <p:nvPr/>
        </p:nvSpPr>
        <p:spPr>
          <a:xfrm>
            <a:off x="6096000" y="2705100"/>
            <a:ext cx="2590800" cy="26289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880" y="2880360"/>
            <a:ext cx="22250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02</a:t>
            </a:r>
          </a:p>
        </p:txBody>
      </p:sp>
      <p:sp>
        <p:nvSpPr>
          <p:cNvPr id="16" name="TextBox 15"/>
          <p:cNvSpPr txBox="1"/>
          <p:nvPr/>
        </p:nvSpPr>
        <p:spPr>
          <a:xfrm>
            <a:off x="6278880" y="3337560"/>
            <a:ext cx="22250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משתתפים</a:t>
            </a:r>
          </a:p>
        </p:txBody>
      </p:sp>
      <p:sp>
        <p:nvSpPr>
          <p:cNvPr id="17" name="TextBox 16"/>
          <p:cNvSpPr txBox="1"/>
          <p:nvPr/>
        </p:nvSpPr>
        <p:spPr>
          <a:xfrm>
            <a:off x="6278880" y="4137660"/>
            <a:ext cx="2225040" cy="11049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 שואל בסקר</a:t>
            </a:r>
          </a:p>
          <a:p>
            <a:pPr algn="r" rtl="1">
              <a:lnSpc>
                <a:spcPct val="118000"/>
              </a:lnSpc>
              <a:spcAft>
                <a:spcPts val="500"/>
              </a:spcAft>
            </a:pPr>
            <a:r>
              <a:rPr sz="1739" b="0" lang="he-IL">
                <a:solidFill>
                  <a:srgbClr val="6B6879"/>
                </a:solidFill>
                <a:latin typeface="Arial"/>
              </a:rPr>
              <a:t>וילדים אחרים בוחרים</a:t>
            </a:r>
          </a:p>
        </p:txBody>
      </p:sp>
      <p:sp>
        <p:nvSpPr>
          <p:cNvPr id="18" name="Rounded Rectangle 17"/>
          <p:cNvSpPr/>
          <p:nvPr/>
        </p:nvSpPr>
        <p:spPr>
          <a:xfrm>
            <a:off x="3314700" y="2705100"/>
            <a:ext cx="2590800" cy="26289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7580" y="2880360"/>
            <a:ext cx="22250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03</a:t>
            </a:r>
          </a:p>
        </p:txBody>
      </p:sp>
      <p:sp>
        <p:nvSpPr>
          <p:cNvPr id="20" name="TextBox 19"/>
          <p:cNvSpPr txBox="1"/>
          <p:nvPr/>
        </p:nvSpPr>
        <p:spPr>
          <a:xfrm>
            <a:off x="3497580" y="3337560"/>
            <a:ext cx="22250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נותנים ומקבלים</a:t>
            </a:r>
          </a:p>
        </p:txBody>
      </p:sp>
      <p:sp>
        <p:nvSpPr>
          <p:cNvPr id="21" name="TextBox 20"/>
          <p:cNvSpPr txBox="1"/>
          <p:nvPr/>
        </p:nvSpPr>
        <p:spPr>
          <a:xfrm>
            <a:off x="3497580" y="4137660"/>
            <a:ext cx="2225040" cy="11049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חיבוק או מתנה</a:t>
            </a:r>
          </a:p>
          <a:p>
            <a:pPr algn="r" rtl="1">
              <a:lnSpc>
                <a:spcPct val="118000"/>
              </a:lnSpc>
              <a:spcAft>
                <a:spcPts val="500"/>
              </a:spcAft>
            </a:pPr>
            <a:r>
              <a:rPr sz="1739" b="0" lang="he-IL">
                <a:solidFill>
                  <a:srgbClr val="6B6879"/>
                </a:solidFill>
                <a:latin typeface="Arial"/>
              </a:rPr>
              <a:t>מילד לילד, בעילום שם</a:t>
            </a:r>
          </a:p>
        </p:txBody>
      </p:sp>
      <p:sp>
        <p:nvSpPr>
          <p:cNvPr id="22" name="Rounded Rectangle 21"/>
          <p:cNvSpPr/>
          <p:nvPr/>
        </p:nvSpPr>
        <p:spPr>
          <a:xfrm>
            <a:off x="533400" y="2705100"/>
            <a:ext cx="2590800" cy="2628900"/>
          </a:xfrm>
          <a:prstGeom prst="roundRect">
            <a:avLst>
              <a:gd name="adj" fmla="val 12000"/>
            </a:avLst>
          </a:prstGeom>
          <a:solidFill>
            <a:srgbClr val="EDE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6280" y="2880360"/>
            <a:ext cx="22250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04</a:t>
            </a:r>
          </a:p>
        </p:txBody>
      </p:sp>
      <p:sp>
        <p:nvSpPr>
          <p:cNvPr id="24" name="TextBox 23"/>
          <p:cNvSpPr txBox="1"/>
          <p:nvPr/>
        </p:nvSpPr>
        <p:spPr>
          <a:xfrm>
            <a:off x="716280" y="3337560"/>
            <a:ext cx="22250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צומחים</a:t>
            </a:r>
          </a:p>
        </p:txBody>
      </p:sp>
      <p:sp>
        <p:nvSpPr>
          <p:cNvPr id="25" name="TextBox 24"/>
          <p:cNvSpPr txBox="1"/>
          <p:nvPr/>
        </p:nvSpPr>
        <p:spPr>
          <a:xfrm>
            <a:off x="716280" y="4137660"/>
            <a:ext cx="2225040" cy="11049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הצמח האישי מניב</a:t>
            </a:r>
          </a:p>
          <a:p>
            <a:pPr algn="r" rtl="1">
              <a:lnSpc>
                <a:spcPct val="118000"/>
              </a:lnSpc>
              <a:spcAft>
                <a:spcPts val="500"/>
              </a:spcAft>
            </a:pPr>
            <a:r>
              <a:rPr sz="1739" b="0" lang="he-IL">
                <a:solidFill>
                  <a:srgbClr val="6B6879"/>
                </a:solidFill>
                <a:latin typeface="Arial"/>
              </a:rPr>
              <a:t>פירות שאפשר לתת</a:t>
            </a:r>
          </a:p>
        </p:txBody>
      </p:sp>
      <p:sp>
        <p:nvSpPr>
          <p:cNvPr id="26" name="Rounded Rectangle 25"/>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לכל אינטראקציה יש צורה מוגדרת: בחירה בסקר, חיבוק או מתנה — בלי לפתוח ערוץ לפגיעה ישירה.</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מפת האפליקציה</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ארבעה עולמות, מרחב משותף אחד</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מקום אישי לצמוח, לבטא רגשות, להשתתף עם אחרים ולשתף במה שעבר עליי</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06</a:t>
            </a:r>
          </a:p>
        </p:txBody>
      </p:sp>
      <p:sp>
        <p:nvSpPr>
          <p:cNvPr id="10" name="Rounded Rectangle 9"/>
          <p:cNvSpPr/>
          <p:nvPr/>
        </p:nvSpPr>
        <p:spPr>
          <a:xfrm>
            <a:off x="6210300" y="2567940"/>
            <a:ext cx="5372100" cy="1600200"/>
          </a:xfrm>
          <a:prstGeom prst="roundRect">
            <a:avLst>
              <a:gd name="adj" fmla="val 12000"/>
            </a:avLst>
          </a:prstGeom>
          <a:solidFill>
            <a:srgbClr val="EDE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3660" y="2720340"/>
            <a:ext cx="4945380" cy="25908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הצמח שלי</a:t>
            </a:r>
          </a:p>
        </p:txBody>
      </p:sp>
      <p:sp>
        <p:nvSpPr>
          <p:cNvPr id="12" name="TextBox 11"/>
          <p:cNvSpPr txBox="1"/>
          <p:nvPr/>
        </p:nvSpPr>
        <p:spPr>
          <a:xfrm>
            <a:off x="6423660" y="3070860"/>
            <a:ext cx="4945380" cy="41148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פרופיל אישי שצומח איתי</a:t>
            </a:r>
          </a:p>
        </p:txBody>
      </p:sp>
      <p:sp>
        <p:nvSpPr>
          <p:cNvPr id="13" name="TextBox 12"/>
          <p:cNvSpPr txBox="1"/>
          <p:nvPr/>
        </p:nvSpPr>
        <p:spPr>
          <a:xfrm>
            <a:off x="6423660" y="3566160"/>
            <a:ext cx="4945380" cy="5638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צמח שמייצג אותי, מדבקות שמבטאות מה אני אוהב</a:t>
            </a:r>
          </a:p>
          <a:p>
            <a:pPr algn="r" rtl="1">
              <a:lnSpc>
                <a:spcPct val="118000"/>
              </a:lnSpc>
              <a:spcAft>
                <a:spcPts val="500"/>
              </a:spcAft>
            </a:pPr>
            <a:r>
              <a:rPr sz="1620" b="0" lang="he-IL">
                <a:solidFill>
                  <a:srgbClr val="6B6879"/>
                </a:solidFill>
                <a:latin typeface="Arial"/>
              </a:rPr>
              <a:t>ופירות שאפשר לתת לילדים אחרים.</a:t>
            </a:r>
          </a:p>
        </p:txBody>
      </p:sp>
      <p:sp>
        <p:nvSpPr>
          <p:cNvPr id="14" name="Rounded Rectangle 13"/>
          <p:cNvSpPr/>
          <p:nvPr/>
        </p:nvSpPr>
        <p:spPr>
          <a:xfrm>
            <a:off x="609600" y="2567940"/>
            <a:ext cx="5372100" cy="160020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720340"/>
            <a:ext cx="4945380" cy="25908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פתיחה</a:t>
            </a:r>
          </a:p>
        </p:txBody>
      </p:sp>
      <p:sp>
        <p:nvSpPr>
          <p:cNvPr id="16" name="TextBox 15"/>
          <p:cNvSpPr txBox="1"/>
          <p:nvPr/>
        </p:nvSpPr>
        <p:spPr>
          <a:xfrm>
            <a:off x="822960" y="3070860"/>
            <a:ext cx="4945380" cy="41148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שיתוף רגשות יומי</a:t>
            </a:r>
          </a:p>
        </p:txBody>
      </p:sp>
      <p:sp>
        <p:nvSpPr>
          <p:cNvPr id="17" name="TextBox 16"/>
          <p:cNvSpPr txBox="1"/>
          <p:nvPr/>
        </p:nvSpPr>
        <p:spPr>
          <a:xfrm>
            <a:off x="822960" y="3566160"/>
            <a:ext cx="4945380" cy="5638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מבטאים איך מרגישים, מגלים שיש עוד ילדים</a:t>
            </a:r>
          </a:p>
          <a:p>
            <a:pPr algn="r" rtl="1">
              <a:lnSpc>
                <a:spcPct val="118000"/>
              </a:lnSpc>
              <a:spcAft>
                <a:spcPts val="500"/>
              </a:spcAft>
            </a:pPr>
            <a:r>
              <a:rPr sz="1620" b="0" lang="he-IL">
                <a:solidFill>
                  <a:srgbClr val="6B6879"/>
                </a:solidFill>
                <a:latin typeface="Arial"/>
              </a:rPr>
              <a:t>עם תחושות דומות ונותנים מקום למה שעובר עליי.</a:t>
            </a:r>
          </a:p>
        </p:txBody>
      </p:sp>
      <p:sp>
        <p:nvSpPr>
          <p:cNvPr id="18" name="Rounded Rectangle 17"/>
          <p:cNvSpPr/>
          <p:nvPr/>
        </p:nvSpPr>
        <p:spPr>
          <a:xfrm>
            <a:off x="6210300" y="4343400"/>
            <a:ext cx="5372100" cy="1600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3660" y="4495800"/>
            <a:ext cx="4945380" cy="25908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מה אומרים? · חיבוקים ומתנות</a:t>
            </a:r>
          </a:p>
        </p:txBody>
      </p:sp>
      <p:sp>
        <p:nvSpPr>
          <p:cNvPr id="20" name="TextBox 19"/>
          <p:cNvSpPr txBox="1"/>
          <p:nvPr/>
        </p:nvSpPr>
        <p:spPr>
          <a:xfrm>
            <a:off x="6423660" y="4846320"/>
            <a:ext cx="4945380" cy="41148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קהילה ואינטראקציות בטוחות</a:t>
            </a:r>
          </a:p>
        </p:txBody>
      </p:sp>
      <p:sp>
        <p:nvSpPr>
          <p:cNvPr id="21" name="TextBox 20"/>
          <p:cNvSpPr txBox="1"/>
          <p:nvPr/>
        </p:nvSpPr>
        <p:spPr>
          <a:xfrm>
            <a:off x="6423660" y="5341620"/>
            <a:ext cx="4945380" cy="5638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סקרים שמזמינים השתתפות, גילוי תחומי עניין משותפים</a:t>
            </a:r>
          </a:p>
          <a:p>
            <a:pPr algn="r" rtl="1">
              <a:lnSpc>
                <a:spcPct val="118000"/>
              </a:lnSpc>
              <a:spcAft>
                <a:spcPts val="500"/>
              </a:spcAft>
            </a:pPr>
            <a:r>
              <a:rPr sz="1620" b="0" lang="he-IL">
                <a:solidFill>
                  <a:srgbClr val="6B6879"/>
                </a:solidFill>
                <a:latin typeface="Arial"/>
              </a:rPr>
              <a:t>ונתינה וקבלה של מחוות אכפתיות בין ילדים.</a:t>
            </a:r>
          </a:p>
        </p:txBody>
      </p:sp>
      <p:sp>
        <p:nvSpPr>
          <p:cNvPr id="22" name="Rounded Rectangle 21"/>
          <p:cNvSpPr/>
          <p:nvPr/>
        </p:nvSpPr>
        <p:spPr>
          <a:xfrm>
            <a:off x="609600" y="4343400"/>
            <a:ext cx="5372100" cy="1600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495800"/>
            <a:ext cx="4945380" cy="25908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סוף שמח</a:t>
            </a:r>
          </a:p>
        </p:txBody>
      </p:sp>
      <p:sp>
        <p:nvSpPr>
          <p:cNvPr id="24" name="TextBox 23"/>
          <p:cNvSpPr txBox="1"/>
          <p:nvPr/>
        </p:nvSpPr>
        <p:spPr>
          <a:xfrm>
            <a:off x="822960" y="4846320"/>
            <a:ext cx="4945380" cy="41148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שיתוף אנונימי של אירועים</a:t>
            </a:r>
          </a:p>
        </p:txBody>
      </p:sp>
      <p:sp>
        <p:nvSpPr>
          <p:cNvPr id="25" name="TextBox 24"/>
          <p:cNvSpPr txBox="1"/>
          <p:nvPr/>
        </p:nvSpPr>
        <p:spPr>
          <a:xfrm>
            <a:off x="822960" y="5341620"/>
            <a:ext cx="4945380" cy="563880"/>
          </a:xfrm>
          <a:prstGeom prst="rect">
            <a:avLst/>
          </a:prstGeom>
          <a:noFill/>
        </p:spPr>
        <p:txBody>
          <a:bodyPr wrap="square" lIns="0" rIns="0" tIns="0" bIns="0">
            <a:spAutoFit/>
          </a:bodyPr>
          <a:lstStyle/>
          <a:p>
            <a:pPr algn="r" rtl="1">
              <a:lnSpc>
                <a:spcPct val="118000"/>
              </a:lnSpc>
              <a:spcAft>
                <a:spcPts val="500"/>
              </a:spcAft>
            </a:pPr>
            <a:r>
              <a:rPr sz="1620" b="0" lang="he-IL">
                <a:solidFill>
                  <a:srgbClr val="6B6879"/>
                </a:solidFill>
                <a:latin typeface="Arial"/>
              </a:rPr>
              <a:t>משתפים במה שקרה, מקבלים חיבוק והמשך מלא תקווה</a:t>
            </a:r>
          </a:p>
          <a:p>
            <a:pPr algn="r" rtl="1">
              <a:lnSpc>
                <a:spcPct val="118000"/>
              </a:lnSpc>
              <a:spcAft>
                <a:spcPts val="500"/>
              </a:spcAft>
            </a:pPr>
            <a:r>
              <a:rPr sz="1620" b="0" lang="he-IL">
                <a:solidFill>
                  <a:srgbClr val="6B6879"/>
                </a:solidFill>
                <a:latin typeface="Arial"/>
              </a:rPr>
              <a:t>מילדים אחרים, במסגרת כללי תוכן ובקרה.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01  /  רגע לעצמי</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אפשר להתחיל גם בלי למצוא מילים</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07</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elcome-screen.png"/>
          <p:cNvPicPr>
            <a:picLocks noChangeAspect="1"/>
          </p:cNvPicPr>
          <p:nvPr/>
        </p:nvPicPr>
        <p:blipFill>
          <a:blip r:embed="rId3"/>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״ככה אני מרגיש היום״</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מחוונים חזותיים</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תחושות לגבי עצמי, בית הספר, שייכות, הגוף ותקווה.</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כניסה שאינה דורשת סיפור</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אפשר לבטא רגש בלי להסביר מה קרה ובלי לכתוב.</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דיוק עם הילדים ועם העמותה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נבחן את מספר המחוונים, הניסוח והבנת הסמלים.</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מוקאפ קיים · המחוונים הם כלי ביטוי; לא מוצגים ככלי אבחון.</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02  /  תחושת שייכות</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מגלים משותף — ועושים צעד לקראת אחרים</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08</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elcome-not-alone.png"/>
          <p:cNvPicPr>
            <a:picLocks noChangeAspect="1"/>
          </p:cNvPicPr>
          <p:nvPr/>
        </p:nvPicPr>
        <p:blipFill>
          <a:blip r:embed="rId2"/>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״יש כאן ילדים שמרגישים כמוני״</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נקודת מוצא לחיבור</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תחושות דומות ומדבקות של תחומי עניין עוזרות למצוא מכנה משותף.</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מגילוי למחווה</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אפשר לשלוח חיבוק לקבוצה או מתנה לילד אקראי, בלי לחשוף זהות.</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אמינות גם בקהילה קטנה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הצעה: כשאין מספיק נתונים, מציגים מסר תמיכה ללא ספירה.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מסך סיום הצ׳ק־אין · ללא כפתור ״המשך״; מעבר בין תחומים דרך הניווט התחתון. המספרים להמחשה.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03  /  נתינה</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גם אני יכול לעשות למישהו קצת טוב</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09</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elcome-gift.png"/>
          <p:cNvPicPr>
            <a:picLocks noChangeAspect="1"/>
          </p:cNvPicPr>
          <p:nvPr/>
        </p:nvPicPr>
        <p:blipFill>
          <a:blip r:embed="rId2"/>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״מישהו יקבל ממני סימן של אכפתיות״</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ילד שולח — ילדים אחרים מקבלים</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חיבוק קבוצתי הופך את הרצון לתמוך למחווה שמגיעה לאחרים.</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מתנה עם משמעות אישית</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פרי שגידלתי עובר לילד אקראי; הוא יודע שמישהו חשב עליו.</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אכפתיות שעוברת הלאה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גם מקבל המתנה יכול להעביר אותה לילד אחר. זהות השולח נשארת חסויה.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מוקאפ קיים · הצעה: אפשר לדלג; מענה רגשי אינו תלוי ביתרת חיבוקים או מתנות.</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04  /  השתתפות עם אחרים</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אני שואל. ילדים אחרים משתתפים.</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10</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hat-do-they-say.png"/>
          <p:cNvPicPr>
            <a:picLocks noChangeAspect="1"/>
          </p:cNvPicPr>
          <p:nvPr/>
        </p:nvPicPr>
        <p:blipFill>
          <a:blip r:embed="rId2"/>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״מעניין אותי מה אתם חושבים״</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אינטראקציה סביב תחומי עניין</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 מפרסם סקר חזותי, אחרים בוחרים, והוא רואה את ההצבעות.</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מקום לקול של כל ילד</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כל בחירה מצטרפת לתמונה משותפת; אפשר לגלות העדפות דומות.</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הצעה לגרסה הראשונה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ילדים בוחרים שאלות ותמונות מספרייה מאושרת; כתיבה חופשית דורשת בדיקה.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דיווח זמין בכל סקר, על השאלה והתמונות; כפתור העזרה האדום נגיש בראש המסך.</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05  /  מקום לתקווה</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אפשר לדמיין גם המשך אחר</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11</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appy-ending.png"/>
          <p:cNvPicPr>
            <a:picLocks noChangeAspect="1"/>
          </p:cNvPicPr>
          <p:nvPr/>
        </p:nvPicPr>
        <p:blipFill>
          <a:blip r:embed="rId3"/>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״מה שקרה לי הוא לא כל הסיפור שלי״</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ילדים נותנים תקווה זה לזה</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 משתף סיפור בעילום שם; אחרים תורמים המשך תומך או חיבוק.</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הצעה למסלול מוגן</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ילדים בוחרים סיפורים ותגובות מתוכן מאושר; תוכן חופשי נבדק לפני פרסום.</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לתת תקווה בלי לבטל כאב</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אין חובה למצוא סוף שמח. נגדיר יחד שפה שמכבדת את מה שקרה.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מוקאפ קיים · כתיבה חופשית אינה זרימה מאושרת. הפעלתה תלויה במעטפת בדיקה ומענה.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06  /  הצמח שלי</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משהו טוב צומח איתי</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12</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y-plant.png"/>
          <p:cNvPicPr>
            <a:picLocks noChangeAspect="1"/>
          </p:cNvPicPr>
          <p:nvPr/>
        </p:nvPicPr>
        <p:blipFill>
          <a:blip r:embed="rId2"/>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״זה המקום שלי, בקצב שלי״</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פרופיל חי ואישי</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צמח, מדבקות ותחומי עניין יוצרים תחושת בעלות והמשכיות.</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פירות שאפשר לתת</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מבחינים בין פירות שגידלתי למתנות שקיבלתי; אפשר להעביר הלאה.</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הצעה: צמיחה ללא תחרות</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נבסס צמיחה על השתתפות אישית, ללא קמילה בגלל היעדרות.</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מוקאפ קיים · נבחן מחדש את מונה החיבוקים ואת מדבקת העיר כדי לצמצם השוואה וחשיפה.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תכנון אחראי</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מתכננים את הגבולות כדי לאפשר את החיבור</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אינטראקציות חיוביות בין ילדים, לצד פרטיות ובקרה — עקרונות לתכנון המרחב החברתי</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13</a:t>
            </a:r>
          </a:p>
        </p:txBody>
      </p:sp>
      <p:sp>
        <p:nvSpPr>
          <p:cNvPr id="10" name="Rounded Rectangle 9"/>
          <p:cNvSpPr/>
          <p:nvPr/>
        </p:nvSpPr>
        <p:spPr>
          <a:xfrm>
            <a:off x="8001000" y="2659380"/>
            <a:ext cx="35814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2834640"/>
            <a:ext cx="32156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קשר בין ילדים</a:t>
            </a:r>
          </a:p>
        </p:txBody>
      </p:sp>
      <p:sp>
        <p:nvSpPr>
          <p:cNvPr id="12" name="TextBox 11"/>
          <p:cNvSpPr txBox="1"/>
          <p:nvPr/>
        </p:nvSpPr>
        <p:spPr>
          <a:xfrm>
            <a:off x="8183879" y="3291840"/>
            <a:ext cx="32156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גבולות ברורים</a:t>
            </a:r>
          </a:p>
        </p:txBody>
      </p:sp>
      <p:sp>
        <p:nvSpPr>
          <p:cNvPr id="13" name="TextBox 12"/>
          <p:cNvSpPr txBox="1"/>
          <p:nvPr/>
        </p:nvSpPr>
        <p:spPr>
          <a:xfrm>
            <a:off x="8183879" y="4091939"/>
            <a:ext cx="32156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ללא הודעות פרטיות. מחוות מובנות ואנונימיות. הצעה: בלי בחירת נמען מזוהה ובלי פרופיל ציבורי לחיפוש.</a:t>
            </a:r>
          </a:p>
        </p:txBody>
      </p:sp>
      <p:sp>
        <p:nvSpPr>
          <p:cNvPr id="14" name="Rounded Rectangle 13"/>
          <p:cNvSpPr/>
          <p:nvPr/>
        </p:nvSpPr>
        <p:spPr>
          <a:xfrm>
            <a:off x="4305300" y="2659380"/>
            <a:ext cx="34671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8180" y="2834640"/>
            <a:ext cx="31013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פרטיות</a:t>
            </a:r>
          </a:p>
        </p:txBody>
      </p:sp>
      <p:sp>
        <p:nvSpPr>
          <p:cNvPr id="16" name="TextBox 15"/>
          <p:cNvSpPr txBox="1"/>
          <p:nvPr/>
        </p:nvSpPr>
        <p:spPr>
          <a:xfrm>
            <a:off x="4488180" y="3291840"/>
            <a:ext cx="31013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אוספים רק מה שנחוץ</a:t>
            </a:r>
          </a:p>
        </p:txBody>
      </p:sp>
      <p:sp>
        <p:nvSpPr>
          <p:cNvPr id="17" name="TextBox 16"/>
          <p:cNvSpPr txBox="1"/>
          <p:nvPr/>
        </p:nvSpPr>
        <p:spPr>
          <a:xfrm>
            <a:off x="4488180" y="4091939"/>
            <a:ext cx="31013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נבחן צורך בשם, עיר, גיל ומגדר; נגדיר מי רואה מה, כמה זמן נשמר מידע ואיך מוחקים אותו.</a:t>
            </a:r>
          </a:p>
        </p:txBody>
      </p:sp>
      <p:sp>
        <p:nvSpPr>
          <p:cNvPr id="18" name="Rounded Rectangle 17"/>
          <p:cNvSpPr/>
          <p:nvPr/>
        </p:nvSpPr>
        <p:spPr>
          <a:xfrm>
            <a:off x="609600" y="2659380"/>
            <a:ext cx="34671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480" y="2834640"/>
            <a:ext cx="31013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תוכן וקהילה</a:t>
            </a:r>
          </a:p>
        </p:txBody>
      </p:sp>
      <p:sp>
        <p:nvSpPr>
          <p:cNvPr id="20" name="TextBox 19"/>
          <p:cNvSpPr txBox="1"/>
          <p:nvPr/>
        </p:nvSpPr>
        <p:spPr>
          <a:xfrm>
            <a:off x="792480" y="3291840"/>
            <a:ext cx="31013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בקרה לפני חשיפה</a:t>
            </a:r>
          </a:p>
        </p:txBody>
      </p:sp>
      <p:sp>
        <p:nvSpPr>
          <p:cNvPr id="21" name="TextBox 20"/>
          <p:cNvSpPr txBox="1"/>
          <p:nvPr/>
        </p:nvSpPr>
        <p:spPr>
          <a:xfrm>
            <a:off x="792480" y="4091939"/>
            <a:ext cx="3101340" cy="137160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ספריית תוכן מאושרת, בדיקה לפני פרסום תוכן חופשי, דיווח נגיש וכללים נגד הצפה ושימוש פוגעני.</a:t>
            </a:r>
          </a:p>
        </p:txBody>
      </p:sp>
      <p:sp>
        <p:nvSpPr>
          <p:cNvPr id="22" name="Rounded Rectangle 21"/>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ההגנה היא גם תפעולית: צריך בעל תפקיד מוגדר ותהליך פעולה ברור, מעבר לעיצוב המסכים.</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דיווח על תוכן</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משהו לא בסדר? יש דרך פשוטה לדווח</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14</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ort-content.png"/>
          <p:cNvPicPr>
            <a:picLocks noChangeAspect="1"/>
          </p:cNvPicPr>
          <p:nvPr/>
        </p:nvPicPr>
        <p:blipFill>
          <a:blip r:embed="rId3"/>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״אפשר לספר לנו שמשהו מפריע״</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דיווח ליד כל תוכן שילדים מפרסמים</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סקר ותמונותיו, סיפור וכל תגובה אליו — כל פריט ניתן לדיווח.</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בחירה קצרה, בלי צורך לכתוב</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בוחרים סיבה ושולחים לצוות הבדיקה. מפרסם התוכן לא רואה מי דיווח.</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מענה ברור אחרי השליחה</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אישור קבלה רק כשהדיווח נשלח בהצלחה; במקרה של תקלה אפשר לנסות שוב.</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תכנון מוצר · יש להגדיר צוות בדיקה, זמני מענה והרשאות לפני הפעלה.</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עזרה מעבר לאפליקציה</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לא צריך להתמודד לבד</a:t>
            </a:r>
          </a:p>
        </p:txBody>
      </p:sp>
      <p:sp>
        <p:nvSpPr>
          <p:cNvPr id="6" name="Rectangle 5"/>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8" name="TextBox 7"/>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15</a:t>
            </a:r>
          </a:p>
        </p:txBody>
      </p:sp>
      <p:sp>
        <p:nvSpPr>
          <p:cNvPr id="9" name="Rounded Rectangle 8"/>
          <p:cNvSpPr/>
          <p:nvPr/>
        </p:nvSpPr>
        <p:spPr>
          <a:xfrm>
            <a:off x="701040" y="1805940"/>
            <a:ext cx="2788920" cy="4381500"/>
          </a:xfrm>
          <a:prstGeom prst="roundRect">
            <a:avLst>
              <a:gd name="adj" fmla="val 12000"/>
            </a:avLst>
          </a:prstGeom>
          <a:solidFill>
            <a:srgbClr val="EAE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et-help.png"/>
          <p:cNvPicPr>
            <a:picLocks noChangeAspect="1"/>
          </p:cNvPicPr>
          <p:nvPr/>
        </p:nvPicPr>
        <p:blipFill>
          <a:blip r:embed="rId3"/>
          <a:stretch>
            <a:fillRect/>
          </a:stretch>
        </p:blipFill>
        <p:spPr>
          <a:xfrm>
            <a:off x="883920" y="1897380"/>
            <a:ext cx="2430780" cy="4320540"/>
          </a:xfrm>
          <a:prstGeom prst="rect">
            <a:avLst/>
          </a:prstGeom>
        </p:spPr>
      </p:pic>
      <p:sp>
        <p:nvSpPr>
          <p:cNvPr id="11" name="TextBox 10"/>
          <p:cNvSpPr txBox="1"/>
          <p:nvPr/>
        </p:nvSpPr>
        <p:spPr>
          <a:xfrm>
            <a:off x="4038600" y="1988819"/>
            <a:ext cx="7269480" cy="762000"/>
          </a:xfrm>
          <a:prstGeom prst="rect">
            <a:avLst/>
          </a:prstGeom>
          <a:noFill/>
        </p:spPr>
        <p:txBody>
          <a:bodyPr wrap="square" lIns="0" rIns="0" tIns="0" bIns="0">
            <a:spAutoFit/>
          </a:bodyPr>
          <a:lstStyle/>
          <a:p>
            <a:pPr algn="r" rtl="1">
              <a:lnSpc>
                <a:spcPct val="118000"/>
              </a:lnSpc>
              <a:spcAft>
                <a:spcPts val="500"/>
              </a:spcAft>
            </a:pPr>
            <a:r>
              <a:rPr sz="2640" b="1" lang="he-IL">
                <a:solidFill>
                  <a:srgbClr val="7650D5"/>
                </a:solidFill>
                <a:latin typeface="Arial"/>
              </a:rPr>
              <a:t>״אני צריך עזרה״ — גישה למי שיכול לעזור</a:t>
            </a:r>
          </a:p>
        </p:txBody>
      </p:sp>
      <p:sp>
        <p:nvSpPr>
          <p:cNvPr id="12" name="TextBox 11"/>
          <p:cNvSpPr txBox="1"/>
          <p:nvPr/>
        </p:nvSpPr>
        <p:spPr>
          <a:xfrm>
            <a:off x="4038600" y="297180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כניסה זמינה וברורה</a:t>
            </a:r>
          </a:p>
        </p:txBody>
      </p:sp>
      <p:sp>
        <p:nvSpPr>
          <p:cNvPr id="13" name="TextBox 12"/>
          <p:cNvSpPr txBox="1"/>
          <p:nvPr/>
        </p:nvSpPr>
        <p:spPr>
          <a:xfrm>
            <a:off x="4038600" y="333756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כפתור עזרה עם גלגל הצלה אדום מופיע בכל מסכי התוכן.</a:t>
            </a:r>
          </a:p>
        </p:txBody>
      </p:sp>
      <p:sp>
        <p:nvSpPr>
          <p:cNvPr id="14" name="TextBox 13"/>
          <p:cNvSpPr txBox="1"/>
          <p:nvPr/>
        </p:nvSpPr>
        <p:spPr>
          <a:xfrm>
            <a:off x="4038600" y="390144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בוחרים את סוג העזרה</a:t>
            </a:r>
          </a:p>
        </p:txBody>
      </p:sp>
      <p:sp>
        <p:nvSpPr>
          <p:cNvPr id="15" name="TextBox 14"/>
          <p:cNvSpPr txBox="1"/>
          <p:nvPr/>
        </p:nvSpPr>
        <p:spPr>
          <a:xfrm>
            <a:off x="4038600" y="426720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סכנה מיידית, פגיעה ברשת, צורך בהגנה או רצון לדבר עם מישהו.</a:t>
            </a:r>
          </a:p>
        </p:txBody>
      </p:sp>
      <p:sp>
        <p:nvSpPr>
          <p:cNvPr id="16" name="TextBox 15"/>
          <p:cNvSpPr txBox="1"/>
          <p:nvPr/>
        </p:nvSpPr>
        <p:spPr>
          <a:xfrm>
            <a:off x="4038600" y="4831080"/>
            <a:ext cx="7239000" cy="335280"/>
          </a:xfrm>
          <a:prstGeom prst="rect">
            <a:avLst/>
          </a:prstGeom>
          <a:noFill/>
        </p:spPr>
        <p:txBody>
          <a:bodyPr wrap="square" lIns="0" rIns="0" tIns="0" bIns="0">
            <a:spAutoFit/>
          </a:bodyPr>
          <a:lstStyle/>
          <a:p>
            <a:pPr algn="r" rtl="1">
              <a:lnSpc>
                <a:spcPct val="118000"/>
              </a:lnSpc>
              <a:spcAft>
                <a:spcPts val="500"/>
              </a:spcAft>
            </a:pPr>
            <a:r>
              <a:rPr sz="1920" b="1" lang="he-IL">
                <a:solidFill>
                  <a:srgbClr val="242139"/>
                </a:solidFill>
                <a:latin typeface="Arial"/>
              </a:rPr>
              <a:t>הילד מחליט אם להתקשר</a:t>
            </a:r>
          </a:p>
        </p:txBody>
      </p:sp>
      <p:sp>
        <p:nvSpPr>
          <p:cNvPr id="17" name="TextBox 16"/>
          <p:cNvSpPr txBox="1"/>
          <p:nvPr/>
        </p:nvSpPr>
        <p:spPr>
          <a:xfrm>
            <a:off x="4038600" y="5196840"/>
            <a:ext cx="7239000" cy="57912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הכפתור פותח חייגן עם המספר. אין שיחה אוטומטית או דיווח לרשויות מהאפליקציה.</a:t>
            </a:r>
          </a:p>
        </p:txBody>
      </p:sp>
      <p:sp>
        <p:nvSpPr>
          <p:cNvPr id="18" name="TextBox 17"/>
          <p:cNvSpPr txBox="1"/>
          <p:nvPr/>
        </p:nvSpPr>
        <p:spPr>
          <a:xfrm>
            <a:off x="4038600" y="5844540"/>
            <a:ext cx="7239000" cy="358140"/>
          </a:xfrm>
          <a:prstGeom prst="rect">
            <a:avLst/>
          </a:prstGeom>
          <a:noFill/>
        </p:spPr>
        <p:txBody>
          <a:bodyPr wrap="square" lIns="0" rIns="0" tIns="0" bIns="0">
            <a:spAutoFit/>
          </a:bodyPr>
          <a:lstStyle/>
          <a:p>
            <a:pPr algn="r" rtl="1">
              <a:lnSpc>
                <a:spcPct val="118000"/>
              </a:lnSpc>
              <a:spcAft>
                <a:spcPts val="500"/>
              </a:spcAft>
            </a:pPr>
            <a:r>
              <a:rPr sz="1380" b="0" lang="he-IL">
                <a:solidFill>
                  <a:srgbClr val="167E76"/>
                </a:solidFill>
                <a:latin typeface="Arial"/>
              </a:rPr>
              <a:t>מוקדים בישראל · אפשר לפנות גם למבוגר שסומכים עליו; אין צורך לכתוב מה קרה.</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מעטפת אנושית</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מגדירים מראש מי נמצא שם כשצריך</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הצעה לתכנון משותף עם העמותה ואנשי המקצוע שלה</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16</a:t>
            </a:r>
          </a:p>
        </p:txBody>
      </p:sp>
      <p:sp>
        <p:nvSpPr>
          <p:cNvPr id="10" name="Rounded Rectangle 9"/>
          <p:cNvSpPr/>
          <p:nvPr/>
        </p:nvSpPr>
        <p:spPr>
          <a:xfrm>
            <a:off x="8077200" y="2667000"/>
            <a:ext cx="3505200" cy="2834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00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לפני ההצטרפות</a:t>
            </a:r>
          </a:p>
        </p:txBody>
      </p:sp>
      <p:sp>
        <p:nvSpPr>
          <p:cNvPr id="12" name="TextBox 11"/>
          <p:cNvSpPr txBox="1"/>
          <p:nvPr/>
        </p:nvSpPr>
        <p:spPr>
          <a:xfrm>
            <a:off x="82600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אמון ובהירות</a:t>
            </a:r>
          </a:p>
        </p:txBody>
      </p:sp>
      <p:sp>
        <p:nvSpPr>
          <p:cNvPr id="13" name="TextBox 12"/>
          <p:cNvSpPr txBox="1"/>
          <p:nvPr/>
        </p:nvSpPr>
        <p:spPr>
          <a:xfrm>
            <a:off x="8260080" y="4099560"/>
            <a:ext cx="3139440" cy="131064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נשאף לשתף את בתי הספר באימות וברישום הילדים, לצד הסכמת הורים והסבר לילד על פרטיות וגבולות השירות.</a:t>
            </a:r>
          </a:p>
        </p:txBody>
      </p:sp>
      <p:sp>
        <p:nvSpPr>
          <p:cNvPr id="14" name="Rounded Rectangle 13"/>
          <p:cNvSpPr/>
          <p:nvPr/>
        </p:nvSpPr>
        <p:spPr>
          <a:xfrm>
            <a:off x="4343400" y="2667000"/>
            <a:ext cx="3505200" cy="2834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במהלך השימוש</a:t>
            </a:r>
          </a:p>
        </p:txBody>
      </p:sp>
      <p:sp>
        <p:nvSpPr>
          <p:cNvPr id="16" name="TextBox 15"/>
          <p:cNvSpPr txBox="1"/>
          <p:nvPr/>
        </p:nvSpPr>
        <p:spPr>
          <a:xfrm>
            <a:off x="45262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דרך ברורה לבקש עזרה</a:t>
            </a:r>
          </a:p>
        </p:txBody>
      </p:sp>
      <p:sp>
        <p:nvSpPr>
          <p:cNvPr id="17" name="TextBox 16"/>
          <p:cNvSpPr txBox="1"/>
          <p:nvPr/>
        </p:nvSpPr>
        <p:spPr>
          <a:xfrm>
            <a:off x="4526280" y="4099560"/>
            <a:ext cx="3139440" cy="131064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דיווח על תוכן לצוות האפליקציה, ולצדו מסך עזרה עם מוקדים מתאימים ועידוד לפנייה למבוגר בטוח.</a:t>
            </a:r>
          </a:p>
        </p:txBody>
      </p:sp>
      <p:sp>
        <p:nvSpPr>
          <p:cNvPr id="18" name="Rounded Rectangle 17"/>
          <p:cNvSpPr/>
          <p:nvPr/>
        </p:nvSpPr>
        <p:spPr>
          <a:xfrm>
            <a:off x="609600" y="2667000"/>
            <a:ext cx="3505200" cy="2834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480" y="2842260"/>
            <a:ext cx="3139440" cy="320040"/>
          </a:xfrm>
          <a:prstGeom prst="rect">
            <a:avLst/>
          </a:prstGeom>
          <a:noFill/>
        </p:spPr>
        <p:txBody>
          <a:bodyPr wrap="square" lIns="0" rIns="0" tIns="0" bIns="0">
            <a:spAutoFit/>
          </a:bodyPr>
          <a:lstStyle/>
          <a:p>
            <a:pPr algn="r" rtl="1">
              <a:lnSpc>
                <a:spcPct val="118000"/>
              </a:lnSpc>
              <a:spcAft>
                <a:spcPts val="500"/>
              </a:spcAft>
            </a:pPr>
            <a:r>
              <a:rPr sz="1739" b="1" lang="he-IL">
                <a:solidFill>
                  <a:srgbClr val="167E76"/>
                </a:solidFill>
                <a:latin typeface="Arial"/>
              </a:rPr>
              <a:t>מאחורי הקלעים</a:t>
            </a:r>
          </a:p>
        </p:txBody>
      </p:sp>
      <p:sp>
        <p:nvSpPr>
          <p:cNvPr id="20" name="TextBox 19"/>
          <p:cNvSpPr txBox="1"/>
          <p:nvPr/>
        </p:nvSpPr>
        <p:spPr>
          <a:xfrm>
            <a:off x="792480" y="3299460"/>
            <a:ext cx="3139440" cy="701040"/>
          </a:xfrm>
          <a:prstGeom prst="rect">
            <a:avLst/>
          </a:prstGeom>
          <a:noFill/>
        </p:spPr>
        <p:txBody>
          <a:bodyPr wrap="square" lIns="0" rIns="0" tIns="0" bIns="0">
            <a:spAutoFit/>
          </a:bodyPr>
          <a:lstStyle/>
          <a:p>
            <a:pPr algn="r" rtl="1">
              <a:lnSpc>
                <a:spcPct val="118000"/>
              </a:lnSpc>
              <a:spcAft>
                <a:spcPts val="500"/>
              </a:spcAft>
            </a:pPr>
            <a:r>
              <a:rPr sz="2220" b="1" lang="he-IL">
                <a:solidFill>
                  <a:srgbClr val="242139"/>
                </a:solidFill>
                <a:latin typeface="Arial"/>
              </a:rPr>
              <a:t>אחריות למענה</a:t>
            </a:r>
          </a:p>
        </p:txBody>
      </p:sp>
      <p:sp>
        <p:nvSpPr>
          <p:cNvPr id="21" name="TextBox 20"/>
          <p:cNvSpPr txBox="1"/>
          <p:nvPr/>
        </p:nvSpPr>
        <p:spPr>
          <a:xfrm>
            <a:off x="792480" y="4099560"/>
            <a:ext cx="3139440" cy="1310640"/>
          </a:xfrm>
          <a:prstGeom prst="rect">
            <a:avLst/>
          </a:prstGeom>
          <a:noFill/>
        </p:spPr>
        <p:txBody>
          <a:bodyPr wrap="square" lIns="0" rIns="0" tIns="0" bIns="0">
            <a:spAutoFit/>
          </a:bodyPr>
          <a:lstStyle/>
          <a:p>
            <a:pPr algn="r" rtl="1">
              <a:lnSpc>
                <a:spcPct val="118000"/>
              </a:lnSpc>
              <a:spcAft>
                <a:spcPts val="500"/>
              </a:spcAft>
            </a:pPr>
            <a:r>
              <a:rPr sz="1739" b="0" lang="he-IL">
                <a:solidFill>
                  <a:srgbClr val="6B6879"/>
                </a:solidFill>
                <a:latin typeface="Arial"/>
              </a:rPr>
              <a:t>נסכם מי בודק, באילו שעות, תוך כמה זמן ומה עושים כשעולה חשש למצוקה או לפגיעה.</a:t>
            </a:r>
          </a:p>
        </p:txBody>
      </p:sp>
      <p:sp>
        <p:nvSpPr>
          <p:cNvPr id="22" name="Rounded Rectangle 21"/>
          <p:cNvSpPr/>
          <p:nvPr/>
        </p:nvSpPr>
        <p:spPr>
          <a:xfrm>
            <a:off x="609600" y="5707380"/>
            <a:ext cx="10972800" cy="464820"/>
          </a:xfrm>
          <a:prstGeom prst="roundRect">
            <a:avLst>
              <a:gd name="adj" fmla="val 12000"/>
            </a:avLst>
          </a:prstGeom>
          <a:solidFill>
            <a:srgbClr val="E9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2480" y="5806440"/>
            <a:ext cx="10607040" cy="304800"/>
          </a:xfrm>
          <a:prstGeom prst="rect">
            <a:avLst/>
          </a:prstGeom>
          <a:noFill/>
        </p:spPr>
        <p:txBody>
          <a:bodyPr wrap="square" lIns="0" rIns="0" tIns="0" bIns="0">
            <a:spAutoFit/>
          </a:bodyPr>
          <a:lstStyle/>
          <a:p>
            <a:pPr algn="r" rtl="1">
              <a:lnSpc>
                <a:spcPct val="118000"/>
              </a:lnSpc>
              <a:spcAft>
                <a:spcPts val="500"/>
              </a:spcAft>
            </a:pPr>
            <a:r>
              <a:rPr sz="1620" b="1" lang="he-IL">
                <a:solidFill>
                  <a:srgbClr val="167E76"/>
                </a:solidFill>
                <a:latin typeface="Arial"/>
              </a:rPr>
              <a:t>נציג לילדים ולהורים את זמינות המענה בפועל; האפליקציה אינה מוצגת כשירות חירום או כתחליף לטיפול.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ounded Rectangle 1"/>
          <p:cNvSpPr/>
          <p:nvPr/>
        </p:nvSpPr>
        <p:spPr>
          <a:xfrm>
            <a:off x="11567160" y="472440"/>
            <a:ext cx="76200" cy="350520"/>
          </a:xfrm>
          <a:prstGeom prst="roundRect">
            <a:avLst>
              <a:gd name="adj" fmla="val 12000"/>
            </a:avLst>
          </a:prstGeom>
          <a:solidFill>
            <a:srgbClr val="765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62600" y="502920"/>
            <a:ext cx="5753100" cy="274320"/>
          </a:xfrm>
          <a:prstGeom prst="rect">
            <a:avLst/>
          </a:prstGeom>
          <a:noFill/>
        </p:spPr>
        <p:txBody>
          <a:bodyPr wrap="square" lIns="0" rIns="0" tIns="0" bIns="0">
            <a:spAutoFit/>
          </a:bodyPr>
          <a:lstStyle/>
          <a:p>
            <a:pPr algn="r" rtl="1">
              <a:lnSpc>
                <a:spcPct val="118000"/>
              </a:lnSpc>
              <a:spcAft>
                <a:spcPts val="500"/>
              </a:spcAft>
            </a:pPr>
            <a:r>
              <a:rPr sz="1439" b="1" lang="he-IL">
                <a:solidFill>
                  <a:srgbClr val="167E76"/>
                </a:solidFill>
                <a:latin typeface="Arial"/>
              </a:rPr>
              <a:t>מכאן — יחד</a:t>
            </a:r>
          </a:p>
        </p:txBody>
      </p:sp>
      <p:sp>
        <p:nvSpPr>
          <p:cNvPr id="4" name="TextBox 3"/>
          <p:cNvSpPr txBox="1"/>
          <p:nvPr/>
        </p:nvSpPr>
        <p:spPr>
          <a:xfrm>
            <a:off x="548640" y="472440"/>
            <a:ext cx="1524000" cy="342900"/>
          </a:xfrm>
          <a:prstGeom prst="rect">
            <a:avLst/>
          </a:prstGeom>
          <a:noFill/>
        </p:spPr>
        <p:txBody>
          <a:bodyPr wrap="square" lIns="0" rIns="0" tIns="0" bIns="0">
            <a:spAutoFit/>
          </a:bodyPr>
          <a:lstStyle/>
          <a:p>
            <a:pPr algn="l" rtl="1">
              <a:lnSpc>
                <a:spcPct val="118000"/>
              </a:lnSpc>
              <a:spcAft>
                <a:spcPts val="500"/>
              </a:spcAft>
            </a:pPr>
            <a:r>
              <a:rPr sz="1920" b="1" lang="he-IL">
                <a:solidFill>
                  <a:srgbClr val="7650D5"/>
                </a:solidFill>
                <a:latin typeface="Arial"/>
              </a:rPr>
              <a:t>FeelIt</a:t>
            </a:r>
          </a:p>
        </p:txBody>
      </p:sp>
      <p:sp>
        <p:nvSpPr>
          <p:cNvPr id="5" name="TextBox 4"/>
          <p:cNvSpPr txBox="1"/>
          <p:nvPr/>
        </p:nvSpPr>
        <p:spPr>
          <a:xfrm>
            <a:off x="548640" y="1043940"/>
            <a:ext cx="11094720" cy="716280"/>
          </a:xfrm>
          <a:prstGeom prst="rect">
            <a:avLst/>
          </a:prstGeom>
          <a:noFill/>
        </p:spPr>
        <p:txBody>
          <a:bodyPr wrap="square" lIns="0" rIns="0" tIns="0" bIns="0">
            <a:spAutoFit/>
          </a:bodyPr>
          <a:lstStyle/>
          <a:p>
            <a:pPr algn="r" rtl="1">
              <a:lnSpc>
                <a:spcPct val="118000"/>
              </a:lnSpc>
              <a:spcAft>
                <a:spcPts val="500"/>
              </a:spcAft>
            </a:pPr>
            <a:r>
              <a:rPr sz="3660" b="1" lang="he-IL">
                <a:solidFill>
                  <a:srgbClr val="242139"/>
                </a:solidFill>
                <a:latin typeface="Arial"/>
              </a:rPr>
              <a:t>לתת לילדים עוד מקום להיות בו הם עצמם</a:t>
            </a:r>
          </a:p>
        </p:txBody>
      </p:sp>
      <p:sp>
        <p:nvSpPr>
          <p:cNvPr id="6" name="TextBox 5"/>
          <p:cNvSpPr txBox="1"/>
          <p:nvPr/>
        </p:nvSpPr>
        <p:spPr>
          <a:xfrm>
            <a:off x="609600" y="1844040"/>
            <a:ext cx="10972800" cy="647700"/>
          </a:xfrm>
          <a:prstGeom prst="rect">
            <a:avLst/>
          </a:prstGeom>
          <a:noFill/>
        </p:spPr>
        <p:txBody>
          <a:bodyPr wrap="square" lIns="0" rIns="0" tIns="0" bIns="0">
            <a:spAutoFit/>
          </a:bodyPr>
          <a:lstStyle/>
          <a:p>
            <a:pPr algn="r" rtl="1">
              <a:lnSpc>
                <a:spcPct val="118000"/>
              </a:lnSpc>
              <a:spcAft>
                <a:spcPts val="500"/>
              </a:spcAft>
            </a:pPr>
            <a:r>
              <a:rPr sz="1800" b="0" lang="he-IL">
                <a:solidFill>
                  <a:srgbClr val="6B6879"/>
                </a:solidFill>
                <a:latin typeface="Arial"/>
              </a:rPr>
              <a:t>הידע של העמותה על הילדים, יחד עם תכנון מוצר קשוב ומדויק</a:t>
            </a:r>
          </a:p>
        </p:txBody>
      </p:sp>
      <p:sp>
        <p:nvSpPr>
          <p:cNvPr id="7" name="Rectangle 6"/>
          <p:cNvSpPr/>
          <p:nvPr/>
        </p:nvSpPr>
        <p:spPr>
          <a:xfrm>
            <a:off x="548640" y="6332220"/>
            <a:ext cx="11094720" cy="15240"/>
          </a:xfrm>
          <a:prstGeom prst="rect">
            <a:avLst/>
          </a:prstGeom>
          <a:solidFill>
            <a:srgbClr val="E4DF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15000" y="6492240"/>
            <a:ext cx="5905500" cy="198120"/>
          </a:xfrm>
          <a:prstGeom prst="rect">
            <a:avLst/>
          </a:prstGeom>
          <a:noFill/>
        </p:spPr>
        <p:txBody>
          <a:bodyPr wrap="square" lIns="0" rIns="0" tIns="0" bIns="0">
            <a:spAutoFit/>
          </a:bodyPr>
          <a:lstStyle/>
          <a:p>
            <a:pPr algn="r" rtl="1">
              <a:lnSpc>
                <a:spcPct val="118000"/>
              </a:lnSpc>
              <a:spcAft>
                <a:spcPts val="500"/>
              </a:spcAft>
            </a:pPr>
            <a:r>
              <a:rPr sz="1140" b="0" lang="he-IL">
                <a:solidFill>
                  <a:srgbClr val="6B6879"/>
                </a:solidFill>
                <a:latin typeface="Arial"/>
              </a:rPr>
              <a:t>הצעת מוצר לשיחה עם העמותה  ·  אוקטובר 2026</a:t>
            </a:r>
          </a:p>
        </p:txBody>
      </p:sp>
      <p:sp>
        <p:nvSpPr>
          <p:cNvPr id="9" name="TextBox 8"/>
          <p:cNvSpPr txBox="1"/>
          <p:nvPr/>
        </p:nvSpPr>
        <p:spPr>
          <a:xfrm>
            <a:off x="571500" y="6469380"/>
            <a:ext cx="571500" cy="228600"/>
          </a:xfrm>
          <a:prstGeom prst="rect">
            <a:avLst/>
          </a:prstGeom>
          <a:noFill/>
        </p:spPr>
        <p:txBody>
          <a:bodyPr wrap="square" lIns="0" rIns="0" tIns="0" bIns="0">
            <a:spAutoFit/>
          </a:bodyPr>
          <a:lstStyle/>
          <a:p>
            <a:pPr algn="l" rtl="1">
              <a:lnSpc>
                <a:spcPct val="118000"/>
              </a:lnSpc>
              <a:spcAft>
                <a:spcPts val="500"/>
              </a:spcAft>
            </a:pPr>
            <a:r>
              <a:rPr sz="1320" b="1" lang="he-IL">
                <a:solidFill>
                  <a:srgbClr val="7650D5"/>
                </a:solidFill>
                <a:latin typeface="Arial"/>
              </a:rPr>
              <a:t>17</a:t>
            </a:r>
          </a:p>
        </p:txBody>
      </p:sp>
      <p:sp>
        <p:nvSpPr>
          <p:cNvPr id="10" name="TextBox 9"/>
          <p:cNvSpPr txBox="1"/>
          <p:nvPr/>
        </p:nvSpPr>
        <p:spPr>
          <a:xfrm>
            <a:off x="4800600" y="2720340"/>
            <a:ext cx="6477000" cy="1897380"/>
          </a:xfrm>
          <a:prstGeom prst="rect">
            <a:avLst/>
          </a:prstGeom>
          <a:noFill/>
        </p:spPr>
        <p:txBody>
          <a:bodyPr wrap="square" lIns="0" rIns="0" tIns="0" bIns="0">
            <a:spAutoFit/>
          </a:bodyPr>
          <a:lstStyle/>
          <a:p>
            <a:pPr algn="r" rtl="1">
              <a:lnSpc>
                <a:spcPct val="118000"/>
              </a:lnSpc>
              <a:spcAft>
                <a:spcPts val="500"/>
              </a:spcAft>
            </a:pPr>
            <a:r>
              <a:rPr sz="4019" b="1" lang="he-IL">
                <a:solidFill>
                  <a:srgbClr val="242139"/>
                </a:solidFill>
                <a:latin typeface="Arial"/>
              </a:rPr>
              <a:t>מקום להשתתף.</a:t>
            </a:r>
          </a:p>
          <a:p>
            <a:pPr algn="r" rtl="1">
              <a:lnSpc>
                <a:spcPct val="118000"/>
              </a:lnSpc>
              <a:spcAft>
                <a:spcPts val="500"/>
              </a:spcAft>
            </a:pPr>
            <a:r>
              <a:rPr sz="4019" b="1" lang="he-IL">
                <a:solidFill>
                  <a:srgbClr val="242139"/>
                </a:solidFill>
                <a:latin typeface="Arial"/>
              </a:rPr>
              <a:t>ילדים שנותנים זה לזה.</a:t>
            </a:r>
          </a:p>
          <a:p>
            <a:pPr algn="r" rtl="1">
              <a:lnSpc>
                <a:spcPct val="118000"/>
              </a:lnSpc>
              <a:spcAft>
                <a:spcPts val="500"/>
              </a:spcAft>
            </a:pPr>
            <a:r>
              <a:rPr sz="4019" b="1" lang="he-IL">
                <a:solidFill>
                  <a:srgbClr val="242139"/>
                </a:solidFill>
                <a:latin typeface="Arial"/>
              </a:rPr>
              <a:t>תחושה שיש לי מקום.</a:t>
            </a:r>
          </a:p>
        </p:txBody>
      </p:sp>
      <p:sp>
        <p:nvSpPr>
          <p:cNvPr id="11" name="Rounded Rectangle 10"/>
          <p:cNvSpPr/>
          <p:nvPr/>
        </p:nvSpPr>
        <p:spPr>
          <a:xfrm>
            <a:off x="685800" y="2781300"/>
            <a:ext cx="3543300" cy="2667000"/>
          </a:xfrm>
          <a:prstGeom prst="roundRect">
            <a:avLst>
              <a:gd name="adj" fmla="val 12000"/>
            </a:avLst>
          </a:prstGeom>
          <a:solidFill>
            <a:srgbClr val="EDE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55620"/>
            <a:ext cx="3086100" cy="419100"/>
          </a:xfrm>
          <a:prstGeom prst="rect">
            <a:avLst/>
          </a:prstGeom>
          <a:noFill/>
        </p:spPr>
        <p:txBody>
          <a:bodyPr wrap="square" lIns="0" rIns="0" tIns="0" bIns="0">
            <a:spAutoFit/>
          </a:bodyPr>
          <a:lstStyle/>
          <a:p>
            <a:pPr algn="r" rtl="1">
              <a:lnSpc>
                <a:spcPct val="118000"/>
              </a:lnSpc>
              <a:spcAft>
                <a:spcPts val="500"/>
              </a:spcAft>
            </a:pPr>
            <a:r>
              <a:rPr sz="2100" b="1" lang="he-IL">
                <a:solidFill>
                  <a:srgbClr val="7650D5"/>
                </a:solidFill>
                <a:latin typeface="Arial"/>
              </a:rPr>
              <a:t>הצעד הבא המוצע</a:t>
            </a:r>
          </a:p>
        </p:txBody>
      </p:sp>
      <p:sp>
        <p:nvSpPr>
          <p:cNvPr id="13" name="TextBox 12"/>
          <p:cNvSpPr txBox="1"/>
          <p:nvPr/>
        </p:nvSpPr>
        <p:spPr>
          <a:xfrm>
            <a:off x="929640" y="3688080"/>
            <a:ext cx="3055620" cy="1447800"/>
          </a:xfrm>
          <a:prstGeom prst="rect">
            <a:avLst/>
          </a:prstGeom>
          <a:noFill/>
        </p:spPr>
        <p:txBody>
          <a:bodyPr wrap="square" lIns="0" rIns="0" tIns="0" bIns="0">
            <a:spAutoFit/>
          </a:bodyPr>
          <a:lstStyle/>
          <a:p>
            <a:pPr algn="r" rtl="1">
              <a:lnSpc>
                <a:spcPct val="118000"/>
              </a:lnSpc>
              <a:spcAft>
                <a:spcPts val="500"/>
              </a:spcAft>
            </a:pPr>
            <a:r>
              <a:rPr sz="2039" b="0" lang="he-IL">
                <a:solidFill>
                  <a:srgbClr val="242139"/>
                </a:solidFill>
                <a:latin typeface="Arial"/>
              </a:rPr>
              <a:t>מפגש עבודה משותף</a:t>
            </a:r>
          </a:p>
          <a:p>
            <a:pPr algn="r" rtl="1">
              <a:lnSpc>
                <a:spcPct val="118000"/>
              </a:lnSpc>
              <a:spcAft>
                <a:spcPts val="500"/>
              </a:spcAft>
            </a:pPr>
            <a:r>
              <a:rPr sz="2039" b="0" lang="he-IL">
                <a:solidFill>
                  <a:srgbClr val="242139"/>
                </a:solidFill>
                <a:latin typeface="Arial"/>
              </a:rPr>
              <a:t>לדיוק קהל היעד,</a:t>
            </a:r>
          </a:p>
          <a:p>
            <a:pPr algn="r" rtl="1">
              <a:lnSpc>
                <a:spcPct val="118000"/>
              </a:lnSpc>
              <a:spcAft>
                <a:spcPts val="500"/>
              </a:spcAft>
            </a:pPr>
            <a:r>
              <a:rPr sz="2039" b="0" lang="he-IL">
                <a:solidFill>
                  <a:srgbClr val="242139"/>
                </a:solidFill>
                <a:latin typeface="Arial"/>
              </a:rPr>
              <a:t>חוויית הליבה</a:t>
            </a:r>
          </a:p>
          <a:p>
            <a:pPr algn="r" rtl="1">
              <a:lnSpc>
                <a:spcPct val="118000"/>
              </a:lnSpc>
              <a:spcAft>
                <a:spcPts val="500"/>
              </a:spcAft>
            </a:pPr>
            <a:r>
              <a:rPr sz="2039" b="0" lang="he-IL">
                <a:solidFill>
                  <a:srgbClr val="242139"/>
                </a:solidFill>
                <a:latin typeface="Arial"/>
              </a:rPr>
              <a:t>ומעטפת האחריות.</a:t>
            </a:r>
          </a:p>
        </p:txBody>
      </p:sp>
      <p:sp>
        <p:nvSpPr>
          <p:cNvPr id="14" name="TextBox 13"/>
          <p:cNvSpPr txBox="1"/>
          <p:nvPr/>
        </p:nvSpPr>
        <p:spPr>
          <a:xfrm>
            <a:off x="4114800" y="5669280"/>
            <a:ext cx="7162800" cy="480060"/>
          </a:xfrm>
          <a:prstGeom prst="rect">
            <a:avLst/>
          </a:prstGeom>
          <a:noFill/>
        </p:spPr>
        <p:txBody>
          <a:bodyPr wrap="square" lIns="0" rIns="0" tIns="0" bIns="0">
            <a:spAutoFit/>
          </a:bodyPr>
          <a:lstStyle/>
          <a:p>
            <a:pPr algn="r" rtl="1">
              <a:lnSpc>
                <a:spcPct val="118000"/>
              </a:lnSpc>
              <a:spcAft>
                <a:spcPts val="500"/>
              </a:spcAft>
            </a:pPr>
            <a:r>
              <a:rPr sz="2039" b="1" lang="he-IL">
                <a:solidFill>
                  <a:srgbClr val="167E76"/>
                </a:solidFill>
                <a:latin typeface="Arial"/>
              </a:rPr>
              <a:t>FeelIt  ·  מרחב חברתי מוגן לילדים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FeelIt — חזון וחוויית מוצר</dc:title>
  <dc:subject>מצגת לפגישה עם העמותה</dc:subject>
  <dc:creator>FeelIt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